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Google Sans"/>
      <p:regular r:id="rId30"/>
      <p:bold r:id="rId31"/>
      <p:italic r:id="rId32"/>
      <p:boldItalic r:id="rId33"/>
    </p:embeddedFont>
    <p:embeddedFont>
      <p:font typeface="Google Sans Medium"/>
      <p:regular r:id="rId34"/>
      <p:bold r:id="rId35"/>
      <p:italic r:id="rId36"/>
      <p:boldItalic r:id="rId37"/>
    </p:embeddedFont>
    <p:embeddedFont>
      <p:font typeface="Open Sans SemiBold"/>
      <p:regular r:id="rId38"/>
      <p:bold r:id="rId39"/>
      <p:italic r:id="rId40"/>
      <p:boldItalic r:id="rId41"/>
    </p:embeddedFont>
    <p:embeddedFont>
      <p:font typeface="Quicksand"/>
      <p:regular r:id="rId42"/>
      <p:bold r:id="rId43"/>
    </p:embeddedFont>
    <p:embeddedFont>
      <p:font typeface="Roboto Light"/>
      <p:regular r:id="rId44"/>
      <p:bold r:id="rId45"/>
      <p:italic r:id="rId46"/>
      <p:boldItalic r:id="rId47"/>
    </p:embeddedFont>
    <p:embeddedFont>
      <p:font typeface="Helvetica Neue Light"/>
      <p:regular r:id="rId48"/>
      <p:bold r:id="rId49"/>
      <p:italic r:id="rId50"/>
      <p:boldItalic r:id="rId51"/>
    </p:embeddedFont>
    <p:embeddedFont>
      <p:font typeface="Open Sans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E7607B-8E88-452B-8DA0-4DBCB9460987}">
  <a:tblStyle styleId="{D6E7607B-8E88-452B-8DA0-4DBCB9460987}" styleName="Table_0">
    <a:wholeTbl>
      <a:tcTxStyle b="off" i="off">
        <a:font>
          <a:latin typeface="Lato Light"/>
          <a:ea typeface="Lato Light"/>
          <a:cs typeface="Lato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Lato Light"/>
          <a:ea typeface="Lato Light"/>
          <a:cs typeface="Lato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Lato Light"/>
          <a:ea typeface="Lato Light"/>
          <a:cs typeface="Lato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1A40A965-9C34-4A53-9420-7DB08B696BD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SemiBold-italic.fntdata"/><Relationship Id="rId42" Type="http://schemas.openxmlformats.org/officeDocument/2006/relationships/font" Target="fonts/Quicksand-regular.fntdata"/><Relationship Id="rId41" Type="http://schemas.openxmlformats.org/officeDocument/2006/relationships/font" Target="fonts/OpenSansSemiBold-boldItalic.fntdata"/><Relationship Id="rId44" Type="http://schemas.openxmlformats.org/officeDocument/2006/relationships/font" Target="fonts/RobotoLight-regular.fntdata"/><Relationship Id="rId43" Type="http://schemas.openxmlformats.org/officeDocument/2006/relationships/font" Target="fonts/Quicksand-bold.fntdata"/><Relationship Id="rId46" Type="http://schemas.openxmlformats.org/officeDocument/2006/relationships/font" Target="fonts/RobotoLight-italic.fntdata"/><Relationship Id="rId45" Type="http://schemas.openxmlformats.org/officeDocument/2006/relationships/font" Target="fonts/RobotoLigh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HelveticaNeueLight-regular.fntdata"/><Relationship Id="rId47" Type="http://schemas.openxmlformats.org/officeDocument/2006/relationships/font" Target="fonts/RobotoLight-boldItalic.fntdata"/><Relationship Id="rId49" Type="http://schemas.openxmlformats.org/officeDocument/2006/relationships/font" Target="fonts/HelveticaNeue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oogleSans-bold.fntdata"/><Relationship Id="rId30" Type="http://schemas.openxmlformats.org/officeDocument/2006/relationships/font" Target="fonts/GoogleSans-regular.fntdata"/><Relationship Id="rId33" Type="http://schemas.openxmlformats.org/officeDocument/2006/relationships/font" Target="fonts/GoogleSans-boldItalic.fntdata"/><Relationship Id="rId32" Type="http://schemas.openxmlformats.org/officeDocument/2006/relationships/font" Target="fonts/GoogleSans-italic.fntdata"/><Relationship Id="rId35" Type="http://schemas.openxmlformats.org/officeDocument/2006/relationships/font" Target="fonts/GoogleSansMedium-bold.fntdata"/><Relationship Id="rId34" Type="http://schemas.openxmlformats.org/officeDocument/2006/relationships/font" Target="fonts/GoogleSansMedium-regular.fntdata"/><Relationship Id="rId37" Type="http://schemas.openxmlformats.org/officeDocument/2006/relationships/font" Target="fonts/GoogleSansMedium-boldItalic.fntdata"/><Relationship Id="rId36" Type="http://schemas.openxmlformats.org/officeDocument/2006/relationships/font" Target="fonts/GoogleSansMedium-italic.fntdata"/><Relationship Id="rId39" Type="http://schemas.openxmlformats.org/officeDocument/2006/relationships/font" Target="fonts/OpenSansSemiBold-bold.fntdata"/><Relationship Id="rId38" Type="http://schemas.openxmlformats.org/officeDocument/2006/relationships/font" Target="fonts/OpenSansSemiBold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font" Target="fonts/Roboto-regular.fntdata"/><Relationship Id="rId25" Type="http://schemas.openxmlformats.org/officeDocument/2006/relationships/slide" Target="slides/slide20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29" Type="http://schemas.openxmlformats.org/officeDocument/2006/relationships/font" Target="fonts/Roboto-boldItalic.fntdata"/><Relationship Id="rId51" Type="http://schemas.openxmlformats.org/officeDocument/2006/relationships/font" Target="fonts/HelveticaNeueLight-boldItalic.fntdata"/><Relationship Id="rId50" Type="http://schemas.openxmlformats.org/officeDocument/2006/relationships/font" Target="fonts/HelveticaNeueLight-italic.fntdata"/><Relationship Id="rId53" Type="http://schemas.openxmlformats.org/officeDocument/2006/relationships/font" Target="fonts/OpenSans-bold.fntdata"/><Relationship Id="rId52" Type="http://schemas.openxmlformats.org/officeDocument/2006/relationships/font" Target="fonts/OpenSans-regular.fntdata"/><Relationship Id="rId11" Type="http://schemas.openxmlformats.org/officeDocument/2006/relationships/slide" Target="slides/slide6.xml"/><Relationship Id="rId55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54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ccbf6ac24_6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ccbf6ac24_6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6340c725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6340c725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640eaf783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Comment here: -looking into the future -- can say oh hey burger king your goal was 150 million? With 95% accuracy, i can see that you are going to be $50 mm short of that if you keep things the same now.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Points here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-basic output: blue box. Doing this with really high accuracy.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-segments, top 20%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-really high accuracy- about 90% accurate or higher.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-looking into the future - help with customer goal, use movies anywhere as an example</a:t>
            </a:r>
            <a:endParaRPr/>
          </a:p>
        </p:txBody>
      </p:sp>
      <p:sp>
        <p:nvSpPr>
          <p:cNvPr id="467" name="Google Shape;467;g640eaf783b_0_8:notes"/>
          <p:cNvSpPr/>
          <p:nvPr>
            <p:ph idx="2" type="sldImg"/>
          </p:nvPr>
        </p:nvSpPr>
        <p:spPr>
          <a:xfrm>
            <a:off x="380206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640eaf783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I'm calling out that you can use LTV to figure out the chance of churn. This will leave you room to segway into reegnagement</a:t>
            </a: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Point here: alot of ppeople think that LTV is just an acquisition play, but its also a retention play</a:t>
            </a: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g640eaf783b_0_15:notes"/>
          <p:cNvSpPr/>
          <p:nvPr>
            <p:ph idx="2" type="sldImg"/>
          </p:nvPr>
        </p:nvSpPr>
        <p:spPr>
          <a:xfrm>
            <a:off x="380206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640eaf783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Maybe also, only focusing on the top 20% of customers.</a:t>
            </a:r>
            <a:endParaRPr/>
          </a:p>
        </p:txBody>
      </p:sp>
      <p:sp>
        <p:nvSpPr>
          <p:cNvPr id="484" name="Google Shape;484;g640eaf783b_0_21:notes"/>
          <p:cNvSpPr/>
          <p:nvPr>
            <p:ph idx="2" type="sldImg"/>
          </p:nvPr>
        </p:nvSpPr>
        <p:spPr>
          <a:xfrm>
            <a:off x="380206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640eaf783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will comment here: how many of you know if an app or a web user is more valuable to your client? Now you know.</a:t>
            </a:r>
            <a:endParaRPr/>
          </a:p>
        </p:txBody>
      </p:sp>
      <p:sp>
        <p:nvSpPr>
          <p:cNvPr id="492" name="Google Shape;492;g640eaf783b_0_27:notes"/>
          <p:cNvSpPr/>
          <p:nvPr>
            <p:ph idx="2" type="sldImg"/>
          </p:nvPr>
        </p:nvSpPr>
        <p:spPr>
          <a:xfrm>
            <a:off x="380206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640eaf783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Movies anywhere is the example here</a:t>
            </a: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call out here is that we could also look at just app users, in addition to just looking at top 20% of customers.</a:t>
            </a: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Font typeface="Roboto"/>
              <a:buChar char="-"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Can see which types of movies bring in your best customers</a:t>
            </a: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g640eaf783b_0_36:notes"/>
          <p:cNvSpPr/>
          <p:nvPr>
            <p:ph idx="2" type="sldImg"/>
          </p:nvPr>
        </p:nvSpPr>
        <p:spPr>
          <a:xfrm>
            <a:off x="380206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640eaf783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Chance of churn= 1-p-alve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P-alive is their chance of coming </a:t>
            </a:r>
            <a:r>
              <a:rPr lang="en"/>
              <a:t>back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call out here is that LTV can predict the chance of someone churning. Therefore we know who to retarget</a:t>
            </a: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Font typeface="Roboto"/>
              <a:buChar char="-"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Chance of churn</a:t>
            </a: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g640eaf783b_0_43:notes"/>
          <p:cNvSpPr/>
          <p:nvPr>
            <p:ph idx="2" type="sldImg"/>
          </p:nvPr>
        </p:nvSpPr>
        <p:spPr>
          <a:xfrm>
            <a:off x="380206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640eaf783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Now let’s look at most often purchased</a:t>
            </a:r>
            <a:endParaRPr/>
          </a:p>
        </p:txBody>
      </p:sp>
      <p:sp>
        <p:nvSpPr>
          <p:cNvPr id="518" name="Google Shape;518;g640eaf783b_0_50:notes"/>
          <p:cNvSpPr/>
          <p:nvPr>
            <p:ph idx="2" type="sldImg"/>
          </p:nvPr>
        </p:nvSpPr>
        <p:spPr>
          <a:xfrm>
            <a:off x="380206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640eaf783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640eaf783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Key take away: segment!!   A lot of people think that LTV is an acquisition play, but it also a retention play.</a:t>
            </a:r>
            <a:endParaRPr b="1" sz="12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Marketing! What can you actually do when you know the LTV of customers? Here’s an example:</a:t>
            </a:r>
            <a:endParaRPr sz="12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Let’s say you looked at your customer base, the value it drives for your business, you measured CLV of all your users, and you identified a few (4) ‘types’ of people:</a:t>
            </a:r>
            <a:r>
              <a:rPr b="1"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buckets or segments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. It could look something like this + you could adjust how you treat these users through marketing efforts or inside the game (game play / monetization).</a:t>
            </a:r>
            <a:endParaRPr sz="12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640eaf783b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640eaf783b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call out here is FS. Bc often if LTV isn't actionable it's bc what we need is FS!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stats and machine learning are built in!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if LTV isn't actionable, it's usually bc what they actually need is feature selection</a:t>
            </a: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Will comment that we do not own these models</a:t>
            </a: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640eaf783b_0_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640eaf783b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6340c7254a_0_1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6340c7254a_0_1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6340c7254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6340c7254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6340c7254a_0_1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6340c7254a_0_1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6340c7254a_0_1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6340c7254a_0_1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6340c7254a_0_1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6340c7254a_0_1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6340c7254a_0_1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6340c7254a_0_1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640eaf783b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640eaf783b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640eaf783b_0_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640eaf783b_0_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nal Slide">
  <p:cSld name="Blank - Title_1_1_3_1_1_1">
    <p:bg>
      <p:bgPr>
        <a:solidFill>
          <a:srgbClr val="FBBC04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522600"/>
          </a:xfrm>
          <a:prstGeom prst="rect">
            <a:avLst/>
          </a:prstGeom>
          <a:solidFill>
            <a:srgbClr val="B314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    THIS SLIDE IS </a:t>
            </a:r>
            <a:r>
              <a:rPr b="0" i="0" lang="en" sz="1400" u="none" cap="none" strike="noStrik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INTERNAL ONLY</a:t>
            </a:r>
            <a:endParaRPr b="0" i="0" sz="1400" u="none" cap="none" strike="noStrik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1" name="Google Shape;11;p2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3099100" y="149286"/>
            <a:ext cx="236400" cy="207300"/>
          </a:xfrm>
          <a:custGeom>
            <a:rect b="b" l="l" r="r" t="t"/>
            <a:pathLst>
              <a:path extrusionOk="0" h="120000" w="120000">
                <a:moveTo>
                  <a:pt x="0" y="119999"/>
                </a:moveTo>
                <a:lnTo>
                  <a:pt x="120000" y="119999"/>
                </a:lnTo>
                <a:lnTo>
                  <a:pt x="60000" y="0"/>
                </a:lnTo>
                <a:lnTo>
                  <a:pt x="0" y="119999"/>
                </a:lnTo>
                <a:close/>
                <a:moveTo>
                  <a:pt x="65480" y="100931"/>
                </a:moveTo>
                <a:lnTo>
                  <a:pt x="54519" y="100931"/>
                </a:lnTo>
                <a:lnTo>
                  <a:pt x="54519" y="88438"/>
                </a:lnTo>
                <a:lnTo>
                  <a:pt x="65480" y="88438"/>
                </a:lnTo>
                <a:lnTo>
                  <a:pt x="65480" y="100931"/>
                </a:lnTo>
                <a:close/>
                <a:moveTo>
                  <a:pt x="65480" y="75616"/>
                </a:moveTo>
                <a:lnTo>
                  <a:pt x="54519" y="75616"/>
                </a:lnTo>
                <a:lnTo>
                  <a:pt x="54519" y="50630"/>
                </a:lnTo>
                <a:lnTo>
                  <a:pt x="65480" y="50630"/>
                </a:lnTo>
                <a:lnTo>
                  <a:pt x="65480" y="7561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35075" y="1128675"/>
            <a:ext cx="7782600" cy="3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5750" lvl="1" marL="914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395700" y="640549"/>
            <a:ext cx="78771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2400"/>
              <a:buFont typeface="Google Sans"/>
              <a:buNone/>
              <a:defRPr b="0" i="0" sz="2400" u="none" cap="none" strike="noStrik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16" name="Google Shape;16;p2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344501" y="2643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2400" u="none" cap="none" strike="noStrik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cxnSp>
        <p:nvCxnSpPr>
          <p:cNvPr id="24" name="Google Shape;24;p3"/>
          <p:cNvCxnSpPr/>
          <p:nvPr/>
        </p:nvCxnSpPr>
        <p:spPr>
          <a:xfrm rot="10800000">
            <a:off x="559254" y="1427358"/>
            <a:ext cx="0" cy="186990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</p:cxnSp>
      <p:grpSp>
        <p:nvGrpSpPr>
          <p:cNvPr id="25" name="Google Shape;25;p3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" name="Google Shape;32;p3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Core Blue">
  <p:cSld name="CUSTOM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50" y="0"/>
            <a:ext cx="9144000" cy="4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35" name="Google Shape;35;p4"/>
          <p:cNvCxnSpPr/>
          <p:nvPr/>
        </p:nvCxnSpPr>
        <p:spPr>
          <a:xfrm rot="10800000">
            <a:off x="426304" y="1476158"/>
            <a:ext cx="0" cy="186990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36" name="Google Shape;36;p4"/>
          <p:cNvSpPr txBox="1"/>
          <p:nvPr>
            <p:ph type="title"/>
          </p:nvPr>
        </p:nvSpPr>
        <p:spPr>
          <a:xfrm>
            <a:off x="962188" y="2048788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oogle Sans"/>
              <a:buNone/>
              <a:defRPr b="0" i="0" sz="3600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37" name="Google Shape;37;p4"/>
          <p:cNvSpPr txBox="1"/>
          <p:nvPr/>
        </p:nvSpPr>
        <p:spPr>
          <a:xfrm>
            <a:off x="7933350" y="214236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" name="Google Shape;3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65703" y="4799509"/>
            <a:ext cx="438912" cy="143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ogle Cover Slide">
  <p:cSld name="CUSTOM_2_1"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5"/>
          <p:cNvPicPr preferRelativeResize="0"/>
          <p:nvPr/>
        </p:nvPicPr>
        <p:blipFill rotWithShape="1">
          <a:blip r:embed="rId2">
            <a:alphaModFix/>
          </a:blip>
          <a:srcRect b="0" l="0" r="-4482" t="0"/>
          <a:stretch/>
        </p:blipFill>
        <p:spPr>
          <a:xfrm>
            <a:off x="522575" y="319550"/>
            <a:ext cx="772876" cy="23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Slide - Blue">
  <p:cSld name="TITLE_2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>
            <a:off x="426300" y="4929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3" name="Google Shape;43;p6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45" name="Google Shape;45;p6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46" name="Google Shape;46;p6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6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6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6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6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Slide - Basic Text - Blue">
  <p:cSld name="TITLE_2_3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idx="1" type="body"/>
          </p:nvPr>
        </p:nvSpPr>
        <p:spPr>
          <a:xfrm>
            <a:off x="344500" y="1957700"/>
            <a:ext cx="39462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575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4" name="Google Shape;54;p7"/>
          <p:cNvSpPr/>
          <p:nvPr/>
        </p:nvSpPr>
        <p:spPr>
          <a:xfrm>
            <a:off x="426300" y="4929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7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57" name="Google Shape;57;p7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58" name="Google Shape;58;p7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7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7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7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7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7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" name="Google Shape;64;p7"/>
          <p:cNvSpPr txBox="1"/>
          <p:nvPr>
            <p:ph type="title"/>
          </p:nvPr>
        </p:nvSpPr>
        <p:spPr>
          <a:xfrm>
            <a:off x="344501" y="2643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2400" u="none" cap="none" strike="noStrik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Slide - Bulleted List - Blue">
  <p:cSld name="TITLE_2_3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/>
          <p:nvPr>
            <p:ph idx="1" type="body"/>
          </p:nvPr>
        </p:nvSpPr>
        <p:spPr>
          <a:xfrm>
            <a:off x="837575" y="1716000"/>
            <a:ext cx="4697400" cy="20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5750" lvl="1" marL="9144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" name="Google Shape;67;p8"/>
          <p:cNvSpPr/>
          <p:nvPr/>
        </p:nvSpPr>
        <p:spPr>
          <a:xfrm>
            <a:off x="297376" y="40612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" name="Google Shape;68;p8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0" name="Google Shape;70;p8"/>
          <p:cNvSpPr txBox="1"/>
          <p:nvPr>
            <p:ph type="title"/>
          </p:nvPr>
        </p:nvSpPr>
        <p:spPr>
          <a:xfrm>
            <a:off x="344501" y="2643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2400" u="none" cap="none" strike="noStrik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grpSp>
        <p:nvGrpSpPr>
          <p:cNvPr id="71" name="Google Shape;71;p8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72" name="Google Shape;72;p8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8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8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8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8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8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9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80" name="Google Shape;80;p9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9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9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9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9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9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Core Yellow">
  <p:cSld name="CUSTOM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/>
          <p:nvPr/>
        </p:nvSpPr>
        <p:spPr>
          <a:xfrm>
            <a:off x="50" y="0"/>
            <a:ext cx="9144000" cy="45240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962188" y="2048788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oogle Sans"/>
              <a:buNone/>
              <a:defRPr b="0" i="0" sz="3600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89" name="Google Shape;89;p10"/>
          <p:cNvSpPr txBox="1"/>
          <p:nvPr/>
        </p:nvSpPr>
        <p:spPr>
          <a:xfrm>
            <a:off x="7933350" y="214236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" name="Google Shape;90;p10"/>
          <p:cNvCxnSpPr/>
          <p:nvPr/>
        </p:nvCxnSpPr>
        <p:spPr>
          <a:xfrm rot="10800000">
            <a:off x="426304" y="1476158"/>
            <a:ext cx="0" cy="186990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id="91" name="Google Shape;9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65703" y="4799509"/>
            <a:ext cx="438912" cy="143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Slide - Yellow">
  <p:cSld name="TITLE_2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/>
          <p:nvPr/>
        </p:nvSpPr>
        <p:spPr>
          <a:xfrm>
            <a:off x="426300" y="4929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4" name="Google Shape;94;p11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1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96" name="Google Shape;96;p11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97" name="Google Shape;97;p11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1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1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1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1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1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Color Grey - Core Yellow">
  <p:cSld name="TITLE_2_1_2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2"/>
          <p:cNvSpPr/>
          <p:nvPr/>
        </p:nvSpPr>
        <p:spPr>
          <a:xfrm>
            <a:off x="4554300" y="0"/>
            <a:ext cx="4589700" cy="51435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BDC1C6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BDC1C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2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7" name="Google Shape;107;p12"/>
          <p:cNvSpPr txBox="1"/>
          <p:nvPr>
            <p:ph idx="1" type="body"/>
          </p:nvPr>
        </p:nvSpPr>
        <p:spPr>
          <a:xfrm>
            <a:off x="344501" y="2175900"/>
            <a:ext cx="2976600" cy="20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5750" lvl="1" marL="9144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8" name="Google Shape;108;p12"/>
          <p:cNvSpPr txBox="1"/>
          <p:nvPr>
            <p:ph type="title"/>
          </p:nvPr>
        </p:nvSpPr>
        <p:spPr>
          <a:xfrm>
            <a:off x="344501" y="1365900"/>
            <a:ext cx="38646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2400" u="none" cap="none" strike="noStrik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09" name="Google Shape;109;p12"/>
          <p:cNvSpPr txBox="1"/>
          <p:nvPr>
            <p:ph idx="2" type="body"/>
          </p:nvPr>
        </p:nvSpPr>
        <p:spPr>
          <a:xfrm>
            <a:off x="344501" y="4743625"/>
            <a:ext cx="43458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110" name="Google Shape;110;p12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111" name="Google Shape;111;p12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2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2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2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2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Core Green">
  <p:cSld name="CUSTOM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/>
          <p:nvPr/>
        </p:nvSpPr>
        <p:spPr>
          <a:xfrm>
            <a:off x="50" y="0"/>
            <a:ext cx="9144000" cy="4524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9" name="Google Shape;119;p13"/>
          <p:cNvSpPr txBox="1"/>
          <p:nvPr>
            <p:ph type="title"/>
          </p:nvPr>
        </p:nvSpPr>
        <p:spPr>
          <a:xfrm>
            <a:off x="962188" y="2048788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oogle Sans"/>
              <a:buNone/>
              <a:defRPr b="0" i="0" sz="3600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20" name="Google Shape;120;p13"/>
          <p:cNvSpPr txBox="1"/>
          <p:nvPr/>
        </p:nvSpPr>
        <p:spPr>
          <a:xfrm>
            <a:off x="7933350" y="214236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" name="Google Shape;121;p13"/>
          <p:cNvCxnSpPr/>
          <p:nvPr/>
        </p:nvCxnSpPr>
        <p:spPr>
          <a:xfrm rot="10800000">
            <a:off x="426304" y="1476158"/>
            <a:ext cx="0" cy="186990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id="122" name="Google Shape;12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65703" y="4799509"/>
            <a:ext cx="438912" cy="143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Slide - Green">
  <p:cSld name="TITLE_2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/>
          <p:nvPr/>
        </p:nvSpPr>
        <p:spPr>
          <a:xfrm>
            <a:off x="426300" y="4929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127" name="Google Shape;127;p14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Core Red">
  <p:cSld name="CUSTOM_1_1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/>
          <p:nvPr/>
        </p:nvSpPr>
        <p:spPr>
          <a:xfrm>
            <a:off x="50" y="0"/>
            <a:ext cx="9144000" cy="4524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6" name="Google Shape;136;p15"/>
          <p:cNvSpPr txBox="1"/>
          <p:nvPr>
            <p:ph type="title"/>
          </p:nvPr>
        </p:nvSpPr>
        <p:spPr>
          <a:xfrm>
            <a:off x="962188" y="2048788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oogle Sans"/>
              <a:buNone/>
              <a:defRPr b="0" i="0" sz="3600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37" name="Google Shape;137;p15"/>
          <p:cNvSpPr txBox="1"/>
          <p:nvPr/>
        </p:nvSpPr>
        <p:spPr>
          <a:xfrm>
            <a:off x="7933350" y="214236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" name="Google Shape;138;p15"/>
          <p:cNvCxnSpPr/>
          <p:nvPr/>
        </p:nvCxnSpPr>
        <p:spPr>
          <a:xfrm rot="10800000">
            <a:off x="426304" y="1476158"/>
            <a:ext cx="0" cy="186990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id="139" name="Google Shape;13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65703" y="4799509"/>
            <a:ext cx="438912" cy="143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Slide - Red">
  <p:cSld name="TITLE_2_1_1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/>
          <p:nvPr/>
        </p:nvSpPr>
        <p:spPr>
          <a:xfrm>
            <a:off x="426300" y="4929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144" name="Google Shape;144;p16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145" name="Google Shape;145;p16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Color Grey - Core Blue">
  <p:cSld name="TITLE_2_2_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idx="1" type="body"/>
          </p:nvPr>
        </p:nvSpPr>
        <p:spPr>
          <a:xfrm>
            <a:off x="344501" y="2175900"/>
            <a:ext cx="2976600" cy="20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575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3" name="Google Shape;153;p17"/>
          <p:cNvSpPr txBox="1"/>
          <p:nvPr>
            <p:ph type="title"/>
          </p:nvPr>
        </p:nvSpPr>
        <p:spPr>
          <a:xfrm>
            <a:off x="344501" y="1365900"/>
            <a:ext cx="38646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2400" u="none" cap="none" strike="noStrik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54" name="Google Shape;154;p17"/>
          <p:cNvSpPr/>
          <p:nvPr/>
        </p:nvSpPr>
        <p:spPr>
          <a:xfrm>
            <a:off x="4554300" y="0"/>
            <a:ext cx="4589700" cy="51435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BDC1C6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BDC1C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7" name="Google Shape;157;p17"/>
          <p:cNvSpPr txBox="1"/>
          <p:nvPr>
            <p:ph idx="2" type="body"/>
          </p:nvPr>
        </p:nvSpPr>
        <p:spPr>
          <a:xfrm>
            <a:off x="344501" y="4743625"/>
            <a:ext cx="43458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158" name="Google Shape;158;p17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159" name="Google Shape;159;p17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Color Grey - Core Green">
  <p:cSld name="TITLE_2_1_1_2_1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/>
          <p:nvPr/>
        </p:nvSpPr>
        <p:spPr>
          <a:xfrm>
            <a:off x="4554300" y="0"/>
            <a:ext cx="4589700" cy="51435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BDC1C6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BDC1C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69" name="Google Shape;169;p18"/>
          <p:cNvSpPr txBox="1"/>
          <p:nvPr>
            <p:ph idx="1" type="body"/>
          </p:nvPr>
        </p:nvSpPr>
        <p:spPr>
          <a:xfrm>
            <a:off x="344501" y="2175900"/>
            <a:ext cx="2976600" cy="20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5750" lvl="1" marL="9144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0" name="Google Shape;170;p18"/>
          <p:cNvSpPr txBox="1"/>
          <p:nvPr>
            <p:ph type="title"/>
          </p:nvPr>
        </p:nvSpPr>
        <p:spPr>
          <a:xfrm>
            <a:off x="344501" y="1365900"/>
            <a:ext cx="38646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2400" u="none" cap="none" strike="noStrik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71" name="Google Shape;171;p18"/>
          <p:cNvSpPr txBox="1"/>
          <p:nvPr>
            <p:ph idx="2" type="body"/>
          </p:nvPr>
        </p:nvSpPr>
        <p:spPr>
          <a:xfrm>
            <a:off x="344501" y="4743625"/>
            <a:ext cx="43458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172" name="Google Shape;172;p18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173" name="Google Shape;173;p18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8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8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Color Grey - Core Red">
  <p:cSld name="TITLE_2_1_1_1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/>
          <p:nvPr/>
        </p:nvSpPr>
        <p:spPr>
          <a:xfrm>
            <a:off x="4554300" y="0"/>
            <a:ext cx="4589700" cy="51435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83" name="Google Shape;183;p19"/>
          <p:cNvSpPr txBox="1"/>
          <p:nvPr>
            <p:ph idx="1" type="body"/>
          </p:nvPr>
        </p:nvSpPr>
        <p:spPr>
          <a:xfrm>
            <a:off x="344501" y="2175900"/>
            <a:ext cx="2976600" cy="20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5750" lvl="1" marL="9144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4" name="Google Shape;184;p19"/>
          <p:cNvSpPr txBox="1"/>
          <p:nvPr>
            <p:ph type="title"/>
          </p:nvPr>
        </p:nvSpPr>
        <p:spPr>
          <a:xfrm>
            <a:off x="344501" y="1365900"/>
            <a:ext cx="38646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2400" u="none" cap="none" strike="noStrik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85" name="Google Shape;185;p19"/>
          <p:cNvSpPr txBox="1"/>
          <p:nvPr>
            <p:ph idx="2" type="body"/>
          </p:nvPr>
        </p:nvSpPr>
        <p:spPr>
          <a:xfrm>
            <a:off x="344501" y="4743625"/>
            <a:ext cx="43458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186" name="Google Shape;186;p19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187" name="Google Shape;187;p19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9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9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900">
  <p:cSld name="CUSTOM_1_1_1_1_1_1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/>
          <p:nvPr/>
        </p:nvSpPr>
        <p:spPr>
          <a:xfrm>
            <a:off x="50" y="0"/>
            <a:ext cx="9144000" cy="4524000"/>
          </a:xfrm>
          <a:prstGeom prst="rect">
            <a:avLst/>
          </a:prstGeom>
          <a:solidFill>
            <a:srgbClr val="185ABC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5" name="Google Shape;195;p20"/>
          <p:cNvSpPr txBox="1"/>
          <p:nvPr>
            <p:ph type="title"/>
          </p:nvPr>
        </p:nvSpPr>
        <p:spPr>
          <a:xfrm>
            <a:off x="962188" y="2048788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oogle Sans"/>
              <a:buNone/>
              <a:defRPr b="0" i="0" sz="3600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96" name="Google Shape;196;p20"/>
          <p:cNvSpPr txBox="1"/>
          <p:nvPr/>
        </p:nvSpPr>
        <p:spPr>
          <a:xfrm>
            <a:off x="7933350" y="214236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7" name="Google Shape;197;p20"/>
          <p:cNvCxnSpPr/>
          <p:nvPr/>
        </p:nvCxnSpPr>
        <p:spPr>
          <a:xfrm rot="10800000">
            <a:off x="426304" y="1476158"/>
            <a:ext cx="0" cy="186990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id="198" name="Google Shape;198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65703" y="4799509"/>
            <a:ext cx="438912" cy="143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Yellow 700">
  <p:cSld name="CUSTOM_1_1_1_1_1_1_1_1_1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/>
          <p:nvPr/>
        </p:nvSpPr>
        <p:spPr>
          <a:xfrm>
            <a:off x="50" y="0"/>
            <a:ext cx="9144000" cy="4524000"/>
          </a:xfrm>
          <a:prstGeom prst="rect">
            <a:avLst/>
          </a:prstGeom>
          <a:solidFill>
            <a:srgbClr val="EA8600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01" name="Google Shape;201;p21"/>
          <p:cNvSpPr txBox="1"/>
          <p:nvPr>
            <p:ph type="title"/>
          </p:nvPr>
        </p:nvSpPr>
        <p:spPr>
          <a:xfrm>
            <a:off x="962188" y="2048788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oogle Sans"/>
              <a:buNone/>
              <a:defRPr b="0" i="0" sz="3600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202" name="Google Shape;202;p21"/>
          <p:cNvSpPr txBox="1"/>
          <p:nvPr/>
        </p:nvSpPr>
        <p:spPr>
          <a:xfrm>
            <a:off x="7933350" y="214236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3" name="Google Shape;203;p21"/>
          <p:cNvCxnSpPr/>
          <p:nvPr/>
        </p:nvCxnSpPr>
        <p:spPr>
          <a:xfrm rot="10800000">
            <a:off x="426304" y="1476158"/>
            <a:ext cx="0" cy="186990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id="204" name="Google Shape;20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65703" y="4799509"/>
            <a:ext cx="438912" cy="143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Green 900">
  <p:cSld name="CUSTOM_1_1_1_1_1_1_1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/>
          <p:nvPr/>
        </p:nvSpPr>
        <p:spPr>
          <a:xfrm>
            <a:off x="50" y="0"/>
            <a:ext cx="9144000" cy="4524000"/>
          </a:xfrm>
          <a:prstGeom prst="rect">
            <a:avLst/>
          </a:prstGeom>
          <a:solidFill>
            <a:srgbClr val="137333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07" name="Google Shape;207;p22"/>
          <p:cNvSpPr txBox="1"/>
          <p:nvPr>
            <p:ph type="title"/>
          </p:nvPr>
        </p:nvSpPr>
        <p:spPr>
          <a:xfrm>
            <a:off x="962188" y="2048788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oogle Sans"/>
              <a:buNone/>
              <a:defRPr b="0" i="0" sz="3600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208" name="Google Shape;208;p22"/>
          <p:cNvSpPr txBox="1"/>
          <p:nvPr/>
        </p:nvSpPr>
        <p:spPr>
          <a:xfrm>
            <a:off x="7933350" y="214236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" name="Google Shape;209;p22"/>
          <p:cNvCxnSpPr/>
          <p:nvPr/>
        </p:nvCxnSpPr>
        <p:spPr>
          <a:xfrm rot="10800000">
            <a:off x="426304" y="1476158"/>
            <a:ext cx="0" cy="186990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id="210" name="Google Shape;21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65703" y="4799509"/>
            <a:ext cx="438912" cy="143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Red 800">
  <p:cSld name="CUSTOM_1_1_1_1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/>
          <p:nvPr/>
        </p:nvSpPr>
        <p:spPr>
          <a:xfrm>
            <a:off x="50" y="0"/>
            <a:ext cx="9144000" cy="4524000"/>
          </a:xfrm>
          <a:prstGeom prst="rect">
            <a:avLst/>
          </a:prstGeom>
          <a:solidFill>
            <a:srgbClr val="B31412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13" name="Google Shape;213;p23"/>
          <p:cNvSpPr txBox="1"/>
          <p:nvPr>
            <p:ph type="title"/>
          </p:nvPr>
        </p:nvSpPr>
        <p:spPr>
          <a:xfrm>
            <a:off x="962188" y="2048788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oogle Sans"/>
              <a:buNone/>
              <a:defRPr b="0" i="0" sz="3600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214" name="Google Shape;214;p23"/>
          <p:cNvSpPr txBox="1"/>
          <p:nvPr/>
        </p:nvSpPr>
        <p:spPr>
          <a:xfrm>
            <a:off x="7933350" y="214236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5" name="Google Shape;215;p23"/>
          <p:cNvCxnSpPr/>
          <p:nvPr/>
        </p:nvCxnSpPr>
        <p:spPr>
          <a:xfrm rot="10800000">
            <a:off x="426304" y="1476158"/>
            <a:ext cx="0" cy="186990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id="216" name="Google Shape;21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65703" y="4799509"/>
            <a:ext cx="438912" cy="143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nal Intro/Context Slide">
  <p:cSld name="Blank - Title_1_1_3_1_1">
    <p:bg>
      <p:bgPr>
        <a:solidFill>
          <a:srgbClr val="FBBC04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/>
          <p:nvPr/>
        </p:nvSpPr>
        <p:spPr>
          <a:xfrm>
            <a:off x="0" y="0"/>
            <a:ext cx="9144000" cy="493800"/>
          </a:xfrm>
          <a:prstGeom prst="rect">
            <a:avLst/>
          </a:prstGeom>
          <a:solidFill>
            <a:srgbClr val="B314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    INTERNAL ONLY</a:t>
            </a:r>
            <a:endParaRPr b="0" i="0" sz="1400" u="none" cap="none" strike="noStrik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19" name="Google Shape;219;p24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4"/>
          <p:cNvSpPr/>
          <p:nvPr/>
        </p:nvSpPr>
        <p:spPr>
          <a:xfrm>
            <a:off x="3773600" y="178350"/>
            <a:ext cx="156000" cy="137100"/>
          </a:xfrm>
          <a:custGeom>
            <a:rect b="b" l="l" r="r" t="t"/>
            <a:pathLst>
              <a:path extrusionOk="0" h="120000" w="120000">
                <a:moveTo>
                  <a:pt x="0" y="119999"/>
                </a:moveTo>
                <a:lnTo>
                  <a:pt x="120000" y="119999"/>
                </a:lnTo>
                <a:lnTo>
                  <a:pt x="60000" y="0"/>
                </a:lnTo>
                <a:lnTo>
                  <a:pt x="0" y="119999"/>
                </a:lnTo>
                <a:close/>
                <a:moveTo>
                  <a:pt x="65480" y="100931"/>
                </a:moveTo>
                <a:lnTo>
                  <a:pt x="54519" y="100931"/>
                </a:lnTo>
                <a:lnTo>
                  <a:pt x="54519" y="88438"/>
                </a:lnTo>
                <a:lnTo>
                  <a:pt x="65480" y="88438"/>
                </a:lnTo>
                <a:lnTo>
                  <a:pt x="65480" y="100931"/>
                </a:lnTo>
                <a:close/>
                <a:moveTo>
                  <a:pt x="65480" y="75616"/>
                </a:moveTo>
                <a:lnTo>
                  <a:pt x="54519" y="75616"/>
                </a:lnTo>
                <a:lnTo>
                  <a:pt x="54519" y="50630"/>
                </a:lnTo>
                <a:lnTo>
                  <a:pt x="65480" y="50630"/>
                </a:lnTo>
                <a:lnTo>
                  <a:pt x="65480" y="7561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1" name="Google Shape;221;p24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222" name="Google Shape;222;p24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4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4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4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4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4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p24"/>
          <p:cNvSpPr txBox="1"/>
          <p:nvPr>
            <p:ph idx="1" type="body"/>
          </p:nvPr>
        </p:nvSpPr>
        <p:spPr>
          <a:xfrm>
            <a:off x="340663" y="1128663"/>
            <a:ext cx="7877100" cy="3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5750" lvl="1" marL="914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9" name="Google Shape;229;p24"/>
          <p:cNvSpPr txBox="1"/>
          <p:nvPr>
            <p:ph type="title"/>
          </p:nvPr>
        </p:nvSpPr>
        <p:spPr>
          <a:xfrm>
            <a:off x="395688" y="493663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2400"/>
              <a:buFont typeface="Google Sans"/>
              <a:buNone/>
              <a:defRPr b="0" i="0" sz="2400" u="none" cap="none" strike="noStrik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3C40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3C40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3C40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3C40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3C40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3C40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3C40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3C40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nal header">
  <p:cSld name="Blank - Title_1_1_3_1_1_2">
    <p:bg>
      <p:bgPr>
        <a:noFill/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/>
          <p:nvPr/>
        </p:nvSpPr>
        <p:spPr>
          <a:xfrm>
            <a:off x="0" y="0"/>
            <a:ext cx="9144000" cy="493800"/>
          </a:xfrm>
          <a:prstGeom prst="rect">
            <a:avLst/>
          </a:prstGeom>
          <a:solidFill>
            <a:srgbClr val="B314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    INTERNAL ONLY</a:t>
            </a:r>
            <a:endParaRPr b="0" i="0" sz="1400" u="none" cap="none" strike="noStrik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32" name="Google Shape;232;p25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3773600" y="178350"/>
            <a:ext cx="156000" cy="137100"/>
          </a:xfrm>
          <a:custGeom>
            <a:rect b="b" l="l" r="r" t="t"/>
            <a:pathLst>
              <a:path extrusionOk="0" h="120000" w="120000">
                <a:moveTo>
                  <a:pt x="0" y="119999"/>
                </a:moveTo>
                <a:lnTo>
                  <a:pt x="120000" y="119999"/>
                </a:lnTo>
                <a:lnTo>
                  <a:pt x="60000" y="0"/>
                </a:lnTo>
                <a:lnTo>
                  <a:pt x="0" y="119999"/>
                </a:lnTo>
                <a:close/>
                <a:moveTo>
                  <a:pt x="65480" y="100931"/>
                </a:moveTo>
                <a:lnTo>
                  <a:pt x="54519" y="100931"/>
                </a:lnTo>
                <a:lnTo>
                  <a:pt x="54519" y="88438"/>
                </a:lnTo>
                <a:lnTo>
                  <a:pt x="65480" y="88438"/>
                </a:lnTo>
                <a:lnTo>
                  <a:pt x="65480" y="100931"/>
                </a:lnTo>
                <a:close/>
                <a:moveTo>
                  <a:pt x="65480" y="75616"/>
                </a:moveTo>
                <a:lnTo>
                  <a:pt x="54519" y="75616"/>
                </a:lnTo>
                <a:lnTo>
                  <a:pt x="54519" y="50630"/>
                </a:lnTo>
                <a:lnTo>
                  <a:pt x="65480" y="50630"/>
                </a:lnTo>
                <a:lnTo>
                  <a:pt x="65480" y="7561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4" name="Google Shape;234;p25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235" name="Google Shape;235;p25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5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5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5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5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5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Color Grey - Core Yellow">
  <p:cSld name="TITLE_2_1_2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/>
          <p:nvPr/>
        </p:nvSpPr>
        <p:spPr>
          <a:xfrm>
            <a:off x="4554300" y="0"/>
            <a:ext cx="4589700" cy="51435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6"/>
          <p:cNvSpPr/>
          <p:nvPr/>
        </p:nvSpPr>
        <p:spPr>
          <a:xfrm>
            <a:off x="426300" y="4929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4" name="Google Shape;244;p26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BDC1C6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BDC1C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26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46" name="Google Shape;246;p26"/>
          <p:cNvSpPr txBox="1"/>
          <p:nvPr>
            <p:ph idx="1" type="body"/>
          </p:nvPr>
        </p:nvSpPr>
        <p:spPr>
          <a:xfrm>
            <a:off x="362563" y="2175900"/>
            <a:ext cx="2976600" cy="20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5750" lvl="1" marL="9144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type="title"/>
          </p:nvPr>
        </p:nvSpPr>
        <p:spPr>
          <a:xfrm>
            <a:off x="362563" y="1365900"/>
            <a:ext cx="38646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2400" u="none" cap="none" strike="noStrik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grpSp>
        <p:nvGrpSpPr>
          <p:cNvPr id="248" name="Google Shape;248;p26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249" name="Google Shape;249;p26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6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6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6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Slide - Basic Text - Yellow">
  <p:cSld name="TITLE_2_3_3_1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body"/>
          </p:nvPr>
        </p:nvSpPr>
        <p:spPr>
          <a:xfrm>
            <a:off x="344500" y="1957700"/>
            <a:ext cx="39462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575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7" name="Google Shape;257;p27"/>
          <p:cNvSpPr/>
          <p:nvPr/>
        </p:nvSpPr>
        <p:spPr>
          <a:xfrm>
            <a:off x="344501" y="4167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8" name="Google Shape;258;p27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60" name="Google Shape;260;p27"/>
          <p:cNvSpPr txBox="1"/>
          <p:nvPr>
            <p:ph type="title"/>
          </p:nvPr>
        </p:nvSpPr>
        <p:spPr>
          <a:xfrm>
            <a:off x="344501" y="2643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2400" u="none" cap="none" strike="noStrik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grpSp>
        <p:nvGrpSpPr>
          <p:cNvPr id="261" name="Google Shape;261;p27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262" name="Google Shape;262;p27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7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7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7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Slide - Bulleted List - Yellow">
  <p:cSld name="TITLE_2_3_1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8"/>
          <p:cNvSpPr txBox="1"/>
          <p:nvPr>
            <p:ph idx="1" type="body"/>
          </p:nvPr>
        </p:nvSpPr>
        <p:spPr>
          <a:xfrm>
            <a:off x="837575" y="1716000"/>
            <a:ext cx="4697400" cy="20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5750" lvl="1" marL="9144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70" name="Google Shape;270;p28"/>
          <p:cNvSpPr/>
          <p:nvPr/>
        </p:nvSpPr>
        <p:spPr>
          <a:xfrm>
            <a:off x="297376" y="40612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71" name="Google Shape;271;p28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73" name="Google Shape;273;p28"/>
          <p:cNvSpPr txBox="1"/>
          <p:nvPr>
            <p:ph type="title"/>
          </p:nvPr>
        </p:nvSpPr>
        <p:spPr>
          <a:xfrm>
            <a:off x="344501" y="2643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2400" u="none" cap="none" strike="noStrik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grpSp>
        <p:nvGrpSpPr>
          <p:cNvPr id="274" name="Google Shape;274;p28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275" name="Google Shape;275;p28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8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8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8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8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8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Slide - Basic Text - Green">
  <p:cSld name="TITLE_2_3_3_1_1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"/>
          <p:cNvSpPr txBox="1"/>
          <p:nvPr>
            <p:ph idx="1" type="body"/>
          </p:nvPr>
        </p:nvSpPr>
        <p:spPr>
          <a:xfrm>
            <a:off x="344500" y="1957700"/>
            <a:ext cx="39462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575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3" name="Google Shape;283;p29"/>
          <p:cNvSpPr/>
          <p:nvPr/>
        </p:nvSpPr>
        <p:spPr>
          <a:xfrm>
            <a:off x="344501" y="4167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4" name="Google Shape;284;p29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29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86" name="Google Shape;286;p29"/>
          <p:cNvSpPr txBox="1"/>
          <p:nvPr>
            <p:ph type="title"/>
          </p:nvPr>
        </p:nvSpPr>
        <p:spPr>
          <a:xfrm>
            <a:off x="344501" y="2643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2400" u="none" cap="none" strike="noStrik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grpSp>
        <p:nvGrpSpPr>
          <p:cNvPr id="287" name="Google Shape;287;p29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288" name="Google Shape;288;p29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9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9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9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9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9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Slide - Bulleted List - Green">
  <p:cSld name="TITLE_2_3_1_1_1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/>
          <p:cNvSpPr txBox="1"/>
          <p:nvPr>
            <p:ph idx="1" type="body"/>
          </p:nvPr>
        </p:nvSpPr>
        <p:spPr>
          <a:xfrm>
            <a:off x="364025" y="4743625"/>
            <a:ext cx="43458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6" name="Google Shape;296;p30"/>
          <p:cNvSpPr txBox="1"/>
          <p:nvPr>
            <p:ph idx="2" type="body"/>
          </p:nvPr>
        </p:nvSpPr>
        <p:spPr>
          <a:xfrm>
            <a:off x="837575" y="1716000"/>
            <a:ext cx="4697400" cy="20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5750" lvl="1" marL="9144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7" name="Google Shape;297;p30"/>
          <p:cNvSpPr/>
          <p:nvPr/>
        </p:nvSpPr>
        <p:spPr>
          <a:xfrm>
            <a:off x="297376" y="40612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8" name="Google Shape;298;p30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30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00" name="Google Shape;300;p30"/>
          <p:cNvSpPr txBox="1"/>
          <p:nvPr>
            <p:ph type="title"/>
          </p:nvPr>
        </p:nvSpPr>
        <p:spPr>
          <a:xfrm>
            <a:off x="344501" y="2643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2400" u="none" cap="none" strike="noStrik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grpSp>
        <p:nvGrpSpPr>
          <p:cNvPr id="301" name="Google Shape;301;p30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302" name="Google Shape;302;p30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30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0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Slide - Basic Text - Red">
  <p:cSld name="TITLE_2_3_3_2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1"/>
          <p:cNvSpPr txBox="1"/>
          <p:nvPr>
            <p:ph idx="1" type="body"/>
          </p:nvPr>
        </p:nvSpPr>
        <p:spPr>
          <a:xfrm>
            <a:off x="344500" y="1957700"/>
            <a:ext cx="39462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575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10" name="Google Shape;310;p31"/>
          <p:cNvSpPr/>
          <p:nvPr/>
        </p:nvSpPr>
        <p:spPr>
          <a:xfrm>
            <a:off x="344501" y="4167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1" name="Google Shape;311;p31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31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13" name="Google Shape;313;p31"/>
          <p:cNvSpPr txBox="1"/>
          <p:nvPr>
            <p:ph type="title"/>
          </p:nvPr>
        </p:nvSpPr>
        <p:spPr>
          <a:xfrm>
            <a:off x="344501" y="2643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2400" u="none" cap="none" strike="noStrik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grpSp>
        <p:nvGrpSpPr>
          <p:cNvPr id="314" name="Google Shape;314;p31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315" name="Google Shape;315;p31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31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31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1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1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Slide - Bulleted List - Red">
  <p:cSld name="TITLE_2_3_1_1_1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2"/>
          <p:cNvSpPr txBox="1"/>
          <p:nvPr>
            <p:ph idx="1" type="body"/>
          </p:nvPr>
        </p:nvSpPr>
        <p:spPr>
          <a:xfrm>
            <a:off x="837575" y="1716000"/>
            <a:ext cx="4697400" cy="20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5750" lvl="1" marL="9144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23" name="Google Shape;323;p32"/>
          <p:cNvSpPr/>
          <p:nvPr/>
        </p:nvSpPr>
        <p:spPr>
          <a:xfrm>
            <a:off x="297376" y="40612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4" name="Google Shape;324;p32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32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26" name="Google Shape;326;p32"/>
          <p:cNvSpPr txBox="1"/>
          <p:nvPr>
            <p:ph type="title"/>
          </p:nvPr>
        </p:nvSpPr>
        <p:spPr>
          <a:xfrm>
            <a:off x="344501" y="2643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2400" u="none" cap="none" strike="noStrik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grpSp>
        <p:nvGrpSpPr>
          <p:cNvPr id="327" name="Google Shape;327;p32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328" name="Google Shape;328;p32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2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2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32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32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32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Color Grey - Blank">
  <p:cSld name="Blank_3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3"/>
          <p:cNvSpPr/>
          <p:nvPr/>
        </p:nvSpPr>
        <p:spPr>
          <a:xfrm>
            <a:off x="4554300" y="0"/>
            <a:ext cx="4589700" cy="51435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6" name="Google Shape;336;p33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337" name="Google Shape;337;p33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33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3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33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33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33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ouTube">
  <p:cSld name="Blank_2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34"/>
          <p:cNvGrpSpPr/>
          <p:nvPr/>
        </p:nvGrpSpPr>
        <p:grpSpPr>
          <a:xfrm>
            <a:off x="7742997" y="4803993"/>
            <a:ext cx="420491" cy="137010"/>
            <a:chOff x="0" y="0"/>
            <a:chExt cx="2077525" cy="676925"/>
          </a:xfrm>
        </p:grpSpPr>
        <p:sp>
          <p:nvSpPr>
            <p:cNvPr id="345" name="Google Shape;345;p34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4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4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4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4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4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1" name="Google Shape;351;p34"/>
          <p:cNvGrpSpPr/>
          <p:nvPr/>
        </p:nvGrpSpPr>
        <p:grpSpPr>
          <a:xfrm>
            <a:off x="8327424" y="4803984"/>
            <a:ext cx="562213" cy="125428"/>
            <a:chOff x="238125" y="2060625"/>
            <a:chExt cx="7143750" cy="1593750"/>
          </a:xfrm>
        </p:grpSpPr>
        <p:sp>
          <p:nvSpPr>
            <p:cNvPr id="352" name="Google Shape;352;p34"/>
            <p:cNvSpPr/>
            <p:nvPr/>
          </p:nvSpPr>
          <p:spPr>
            <a:xfrm>
              <a:off x="238125" y="2060625"/>
              <a:ext cx="2278125" cy="1593750"/>
            </a:xfrm>
            <a:custGeom>
              <a:rect b="b" l="l" r="r" t="t"/>
              <a:pathLst>
                <a:path extrusionOk="0" h="63750" w="91125">
                  <a:moveTo>
                    <a:pt x="36563" y="18188"/>
                  </a:moveTo>
                  <a:lnTo>
                    <a:pt x="60188" y="31875"/>
                  </a:lnTo>
                  <a:lnTo>
                    <a:pt x="36563" y="45563"/>
                  </a:lnTo>
                  <a:lnTo>
                    <a:pt x="36563" y="18188"/>
                  </a:lnTo>
                  <a:close/>
                  <a:moveTo>
                    <a:pt x="41063" y="0"/>
                  </a:moveTo>
                  <a:lnTo>
                    <a:pt x="30563" y="188"/>
                  </a:lnTo>
                  <a:lnTo>
                    <a:pt x="24375" y="375"/>
                  </a:lnTo>
                  <a:lnTo>
                    <a:pt x="18563" y="750"/>
                  </a:lnTo>
                  <a:lnTo>
                    <a:pt x="13500" y="1313"/>
                  </a:lnTo>
                  <a:lnTo>
                    <a:pt x="11625" y="1500"/>
                  </a:lnTo>
                  <a:lnTo>
                    <a:pt x="9938" y="1875"/>
                  </a:lnTo>
                  <a:lnTo>
                    <a:pt x="8625" y="2438"/>
                  </a:lnTo>
                  <a:lnTo>
                    <a:pt x="7313" y="3000"/>
                  </a:lnTo>
                  <a:lnTo>
                    <a:pt x="6000" y="3938"/>
                  </a:lnTo>
                  <a:lnTo>
                    <a:pt x="4875" y="4875"/>
                  </a:lnTo>
                  <a:lnTo>
                    <a:pt x="3938" y="6000"/>
                  </a:lnTo>
                  <a:lnTo>
                    <a:pt x="3188" y="7125"/>
                  </a:lnTo>
                  <a:lnTo>
                    <a:pt x="2438" y="8438"/>
                  </a:lnTo>
                  <a:lnTo>
                    <a:pt x="1875" y="9938"/>
                  </a:lnTo>
                  <a:lnTo>
                    <a:pt x="1313" y="12938"/>
                  </a:lnTo>
                  <a:lnTo>
                    <a:pt x="938" y="16313"/>
                  </a:lnTo>
                  <a:lnTo>
                    <a:pt x="563" y="20063"/>
                  </a:lnTo>
                  <a:lnTo>
                    <a:pt x="375" y="23625"/>
                  </a:lnTo>
                  <a:lnTo>
                    <a:pt x="0" y="29438"/>
                  </a:lnTo>
                  <a:lnTo>
                    <a:pt x="0" y="31875"/>
                  </a:lnTo>
                  <a:lnTo>
                    <a:pt x="0" y="34313"/>
                  </a:lnTo>
                  <a:lnTo>
                    <a:pt x="375" y="40125"/>
                  </a:lnTo>
                  <a:lnTo>
                    <a:pt x="563" y="43688"/>
                  </a:lnTo>
                  <a:lnTo>
                    <a:pt x="938" y="47438"/>
                  </a:lnTo>
                  <a:lnTo>
                    <a:pt x="1313" y="50813"/>
                  </a:lnTo>
                  <a:lnTo>
                    <a:pt x="1875" y="53813"/>
                  </a:lnTo>
                  <a:lnTo>
                    <a:pt x="2438" y="55125"/>
                  </a:lnTo>
                  <a:lnTo>
                    <a:pt x="3188" y="56625"/>
                  </a:lnTo>
                  <a:lnTo>
                    <a:pt x="3938" y="57750"/>
                  </a:lnTo>
                  <a:lnTo>
                    <a:pt x="4875" y="58875"/>
                  </a:lnTo>
                  <a:lnTo>
                    <a:pt x="6000" y="59813"/>
                  </a:lnTo>
                  <a:lnTo>
                    <a:pt x="7313" y="60750"/>
                  </a:lnTo>
                  <a:lnTo>
                    <a:pt x="8625" y="61313"/>
                  </a:lnTo>
                  <a:lnTo>
                    <a:pt x="9938" y="61875"/>
                  </a:lnTo>
                  <a:lnTo>
                    <a:pt x="11625" y="62250"/>
                  </a:lnTo>
                  <a:lnTo>
                    <a:pt x="13500" y="62438"/>
                  </a:lnTo>
                  <a:lnTo>
                    <a:pt x="18563" y="63000"/>
                  </a:lnTo>
                  <a:lnTo>
                    <a:pt x="24375" y="63375"/>
                  </a:lnTo>
                  <a:lnTo>
                    <a:pt x="30563" y="63563"/>
                  </a:lnTo>
                  <a:lnTo>
                    <a:pt x="41063" y="63750"/>
                  </a:lnTo>
                  <a:lnTo>
                    <a:pt x="50250" y="63750"/>
                  </a:lnTo>
                  <a:lnTo>
                    <a:pt x="60750" y="63563"/>
                  </a:lnTo>
                  <a:lnTo>
                    <a:pt x="66750" y="63375"/>
                  </a:lnTo>
                  <a:lnTo>
                    <a:pt x="72563" y="63000"/>
                  </a:lnTo>
                  <a:lnTo>
                    <a:pt x="77625" y="62438"/>
                  </a:lnTo>
                  <a:lnTo>
                    <a:pt x="79688" y="62250"/>
                  </a:lnTo>
                  <a:lnTo>
                    <a:pt x="81188" y="61875"/>
                  </a:lnTo>
                  <a:lnTo>
                    <a:pt x="82688" y="61313"/>
                  </a:lnTo>
                  <a:lnTo>
                    <a:pt x="84000" y="60750"/>
                  </a:lnTo>
                  <a:lnTo>
                    <a:pt x="85125" y="59813"/>
                  </a:lnTo>
                  <a:lnTo>
                    <a:pt x="86250" y="58875"/>
                  </a:lnTo>
                  <a:lnTo>
                    <a:pt x="87375" y="57750"/>
                  </a:lnTo>
                  <a:lnTo>
                    <a:pt x="88125" y="56625"/>
                  </a:lnTo>
                  <a:lnTo>
                    <a:pt x="88875" y="55125"/>
                  </a:lnTo>
                  <a:lnTo>
                    <a:pt x="89250" y="53813"/>
                  </a:lnTo>
                  <a:lnTo>
                    <a:pt x="89813" y="50813"/>
                  </a:lnTo>
                  <a:lnTo>
                    <a:pt x="90375" y="47438"/>
                  </a:lnTo>
                  <a:lnTo>
                    <a:pt x="90750" y="43688"/>
                  </a:lnTo>
                  <a:lnTo>
                    <a:pt x="90938" y="40125"/>
                  </a:lnTo>
                  <a:lnTo>
                    <a:pt x="91125" y="34313"/>
                  </a:lnTo>
                  <a:lnTo>
                    <a:pt x="91125" y="31875"/>
                  </a:lnTo>
                  <a:lnTo>
                    <a:pt x="91125" y="29438"/>
                  </a:lnTo>
                  <a:lnTo>
                    <a:pt x="90938" y="23625"/>
                  </a:lnTo>
                  <a:lnTo>
                    <a:pt x="90750" y="20063"/>
                  </a:lnTo>
                  <a:lnTo>
                    <a:pt x="90375" y="16313"/>
                  </a:lnTo>
                  <a:lnTo>
                    <a:pt x="89813" y="12938"/>
                  </a:lnTo>
                  <a:lnTo>
                    <a:pt x="89250" y="9938"/>
                  </a:lnTo>
                  <a:lnTo>
                    <a:pt x="88875" y="8438"/>
                  </a:lnTo>
                  <a:lnTo>
                    <a:pt x="88125" y="7125"/>
                  </a:lnTo>
                  <a:lnTo>
                    <a:pt x="87375" y="6000"/>
                  </a:lnTo>
                  <a:lnTo>
                    <a:pt x="86250" y="4875"/>
                  </a:lnTo>
                  <a:lnTo>
                    <a:pt x="85125" y="3938"/>
                  </a:lnTo>
                  <a:lnTo>
                    <a:pt x="84000" y="3000"/>
                  </a:lnTo>
                  <a:lnTo>
                    <a:pt x="82688" y="2438"/>
                  </a:lnTo>
                  <a:lnTo>
                    <a:pt x="81188" y="1875"/>
                  </a:lnTo>
                  <a:lnTo>
                    <a:pt x="79688" y="1500"/>
                  </a:lnTo>
                  <a:lnTo>
                    <a:pt x="77625" y="1313"/>
                  </a:lnTo>
                  <a:lnTo>
                    <a:pt x="72563" y="750"/>
                  </a:lnTo>
                  <a:lnTo>
                    <a:pt x="66750" y="375"/>
                  </a:lnTo>
                  <a:lnTo>
                    <a:pt x="60750" y="188"/>
                  </a:lnTo>
                  <a:lnTo>
                    <a:pt x="5025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4"/>
            <p:cNvSpPr/>
            <p:nvPr/>
          </p:nvSpPr>
          <p:spPr>
            <a:xfrm>
              <a:off x="3420925" y="2520000"/>
              <a:ext cx="623450" cy="1035950"/>
            </a:xfrm>
            <a:custGeom>
              <a:rect b="b" l="l" r="r" t="t"/>
              <a:pathLst>
                <a:path extrusionOk="0" h="41438" w="24938">
                  <a:moveTo>
                    <a:pt x="12376" y="6188"/>
                  </a:moveTo>
                  <a:lnTo>
                    <a:pt x="13313" y="6375"/>
                  </a:lnTo>
                  <a:lnTo>
                    <a:pt x="14063" y="6750"/>
                  </a:lnTo>
                  <a:lnTo>
                    <a:pt x="14626" y="7313"/>
                  </a:lnTo>
                  <a:lnTo>
                    <a:pt x="15188" y="8250"/>
                  </a:lnTo>
                  <a:lnTo>
                    <a:pt x="15376" y="9375"/>
                  </a:lnTo>
                  <a:lnTo>
                    <a:pt x="15751" y="10875"/>
                  </a:lnTo>
                  <a:lnTo>
                    <a:pt x="15938" y="14438"/>
                  </a:lnTo>
                  <a:lnTo>
                    <a:pt x="15938" y="27000"/>
                  </a:lnTo>
                  <a:lnTo>
                    <a:pt x="15751" y="30750"/>
                  </a:lnTo>
                  <a:lnTo>
                    <a:pt x="15376" y="32250"/>
                  </a:lnTo>
                  <a:lnTo>
                    <a:pt x="15188" y="33375"/>
                  </a:lnTo>
                  <a:lnTo>
                    <a:pt x="14626" y="34125"/>
                  </a:lnTo>
                  <a:lnTo>
                    <a:pt x="14063" y="34875"/>
                  </a:lnTo>
                  <a:lnTo>
                    <a:pt x="13313" y="35250"/>
                  </a:lnTo>
                  <a:lnTo>
                    <a:pt x="11626" y="35250"/>
                  </a:lnTo>
                  <a:lnTo>
                    <a:pt x="10876" y="34875"/>
                  </a:lnTo>
                  <a:lnTo>
                    <a:pt x="10313" y="34125"/>
                  </a:lnTo>
                  <a:lnTo>
                    <a:pt x="9938" y="33375"/>
                  </a:lnTo>
                  <a:lnTo>
                    <a:pt x="9563" y="32250"/>
                  </a:lnTo>
                  <a:lnTo>
                    <a:pt x="9376" y="30750"/>
                  </a:lnTo>
                  <a:lnTo>
                    <a:pt x="9188" y="27000"/>
                  </a:lnTo>
                  <a:lnTo>
                    <a:pt x="9188" y="14438"/>
                  </a:lnTo>
                  <a:lnTo>
                    <a:pt x="9376" y="10875"/>
                  </a:lnTo>
                  <a:lnTo>
                    <a:pt x="9563" y="9375"/>
                  </a:lnTo>
                  <a:lnTo>
                    <a:pt x="9938" y="8250"/>
                  </a:lnTo>
                  <a:lnTo>
                    <a:pt x="10313" y="7313"/>
                  </a:lnTo>
                  <a:lnTo>
                    <a:pt x="10876" y="6750"/>
                  </a:lnTo>
                  <a:lnTo>
                    <a:pt x="11626" y="6375"/>
                  </a:lnTo>
                  <a:lnTo>
                    <a:pt x="12376" y="6188"/>
                  </a:lnTo>
                  <a:close/>
                  <a:moveTo>
                    <a:pt x="12751" y="0"/>
                  </a:moveTo>
                  <a:lnTo>
                    <a:pt x="10501" y="188"/>
                  </a:lnTo>
                  <a:lnTo>
                    <a:pt x="8626" y="563"/>
                  </a:lnTo>
                  <a:lnTo>
                    <a:pt x="6938" y="1125"/>
                  </a:lnTo>
                  <a:lnTo>
                    <a:pt x="5438" y="1875"/>
                  </a:lnTo>
                  <a:lnTo>
                    <a:pt x="4126" y="2813"/>
                  </a:lnTo>
                  <a:lnTo>
                    <a:pt x="3001" y="4125"/>
                  </a:lnTo>
                  <a:lnTo>
                    <a:pt x="2063" y="5813"/>
                  </a:lnTo>
                  <a:lnTo>
                    <a:pt x="1313" y="7500"/>
                  </a:lnTo>
                  <a:lnTo>
                    <a:pt x="751" y="9750"/>
                  </a:lnTo>
                  <a:lnTo>
                    <a:pt x="376" y="12188"/>
                  </a:lnTo>
                  <a:lnTo>
                    <a:pt x="188" y="14813"/>
                  </a:lnTo>
                  <a:lnTo>
                    <a:pt x="1" y="18000"/>
                  </a:lnTo>
                  <a:lnTo>
                    <a:pt x="1" y="23625"/>
                  </a:lnTo>
                  <a:lnTo>
                    <a:pt x="1" y="26813"/>
                  </a:lnTo>
                  <a:lnTo>
                    <a:pt x="376" y="29438"/>
                  </a:lnTo>
                  <a:lnTo>
                    <a:pt x="751" y="31875"/>
                  </a:lnTo>
                  <a:lnTo>
                    <a:pt x="1126" y="33938"/>
                  </a:lnTo>
                  <a:lnTo>
                    <a:pt x="1876" y="35813"/>
                  </a:lnTo>
                  <a:lnTo>
                    <a:pt x="2626" y="37313"/>
                  </a:lnTo>
                  <a:lnTo>
                    <a:pt x="3751" y="38625"/>
                  </a:lnTo>
                  <a:lnTo>
                    <a:pt x="5063" y="39563"/>
                  </a:lnTo>
                  <a:lnTo>
                    <a:pt x="6563" y="40500"/>
                  </a:lnTo>
                  <a:lnTo>
                    <a:pt x="8251" y="41063"/>
                  </a:lnTo>
                  <a:lnTo>
                    <a:pt x="10126" y="41250"/>
                  </a:lnTo>
                  <a:lnTo>
                    <a:pt x="12376" y="41438"/>
                  </a:lnTo>
                  <a:lnTo>
                    <a:pt x="14626" y="41250"/>
                  </a:lnTo>
                  <a:lnTo>
                    <a:pt x="16688" y="41063"/>
                  </a:lnTo>
                  <a:lnTo>
                    <a:pt x="18376" y="40500"/>
                  </a:lnTo>
                  <a:lnTo>
                    <a:pt x="19876" y="39563"/>
                  </a:lnTo>
                  <a:lnTo>
                    <a:pt x="21001" y="38625"/>
                  </a:lnTo>
                  <a:lnTo>
                    <a:pt x="22126" y="37313"/>
                  </a:lnTo>
                  <a:lnTo>
                    <a:pt x="23063" y="35813"/>
                  </a:lnTo>
                  <a:lnTo>
                    <a:pt x="23626" y="33938"/>
                  </a:lnTo>
                  <a:lnTo>
                    <a:pt x="24188" y="31875"/>
                  </a:lnTo>
                  <a:lnTo>
                    <a:pt x="24563" y="29438"/>
                  </a:lnTo>
                  <a:lnTo>
                    <a:pt x="24751" y="26813"/>
                  </a:lnTo>
                  <a:lnTo>
                    <a:pt x="24938" y="23625"/>
                  </a:lnTo>
                  <a:lnTo>
                    <a:pt x="24938" y="18000"/>
                  </a:lnTo>
                  <a:lnTo>
                    <a:pt x="24751" y="14813"/>
                  </a:lnTo>
                  <a:lnTo>
                    <a:pt x="24563" y="12188"/>
                  </a:lnTo>
                  <a:lnTo>
                    <a:pt x="24188" y="9750"/>
                  </a:lnTo>
                  <a:lnTo>
                    <a:pt x="23626" y="7500"/>
                  </a:lnTo>
                  <a:lnTo>
                    <a:pt x="22876" y="5813"/>
                  </a:lnTo>
                  <a:lnTo>
                    <a:pt x="22126" y="4313"/>
                  </a:lnTo>
                  <a:lnTo>
                    <a:pt x="21001" y="3000"/>
                  </a:lnTo>
                  <a:lnTo>
                    <a:pt x="19688" y="1875"/>
                  </a:lnTo>
                  <a:lnTo>
                    <a:pt x="18376" y="1125"/>
                  </a:lnTo>
                  <a:lnTo>
                    <a:pt x="16688" y="563"/>
                  </a:lnTo>
                  <a:lnTo>
                    <a:pt x="14813" y="188"/>
                  </a:lnTo>
                  <a:lnTo>
                    <a:pt x="12751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4"/>
            <p:cNvSpPr/>
            <p:nvPr/>
          </p:nvSpPr>
          <p:spPr>
            <a:xfrm>
              <a:off x="6786550" y="2524675"/>
              <a:ext cx="595325" cy="1031275"/>
            </a:xfrm>
            <a:custGeom>
              <a:rect b="b" l="l" r="r" t="t"/>
              <a:pathLst>
                <a:path extrusionOk="0" h="41251" w="23813">
                  <a:moveTo>
                    <a:pt x="12751" y="6001"/>
                  </a:moveTo>
                  <a:lnTo>
                    <a:pt x="13313" y="6188"/>
                  </a:lnTo>
                  <a:lnTo>
                    <a:pt x="13688" y="6376"/>
                  </a:lnTo>
                  <a:lnTo>
                    <a:pt x="14063" y="6751"/>
                  </a:lnTo>
                  <a:lnTo>
                    <a:pt x="14438" y="7313"/>
                  </a:lnTo>
                  <a:lnTo>
                    <a:pt x="14813" y="7876"/>
                  </a:lnTo>
                  <a:lnTo>
                    <a:pt x="15001" y="9563"/>
                  </a:lnTo>
                  <a:lnTo>
                    <a:pt x="15376" y="12001"/>
                  </a:lnTo>
                  <a:lnTo>
                    <a:pt x="15376" y="15376"/>
                  </a:lnTo>
                  <a:lnTo>
                    <a:pt x="15376" y="18376"/>
                  </a:lnTo>
                  <a:lnTo>
                    <a:pt x="8813" y="18376"/>
                  </a:lnTo>
                  <a:lnTo>
                    <a:pt x="8813" y="15376"/>
                  </a:lnTo>
                  <a:lnTo>
                    <a:pt x="8813" y="12001"/>
                  </a:lnTo>
                  <a:lnTo>
                    <a:pt x="9001" y="9563"/>
                  </a:lnTo>
                  <a:lnTo>
                    <a:pt x="9376" y="7876"/>
                  </a:lnTo>
                  <a:lnTo>
                    <a:pt x="9938" y="6751"/>
                  </a:lnTo>
                  <a:lnTo>
                    <a:pt x="10313" y="6376"/>
                  </a:lnTo>
                  <a:lnTo>
                    <a:pt x="10688" y="6188"/>
                  </a:lnTo>
                  <a:lnTo>
                    <a:pt x="11438" y="6001"/>
                  </a:lnTo>
                  <a:close/>
                  <a:moveTo>
                    <a:pt x="10688" y="1"/>
                  </a:moveTo>
                  <a:lnTo>
                    <a:pt x="9188" y="188"/>
                  </a:lnTo>
                  <a:lnTo>
                    <a:pt x="7688" y="563"/>
                  </a:lnTo>
                  <a:lnTo>
                    <a:pt x="6563" y="938"/>
                  </a:lnTo>
                  <a:lnTo>
                    <a:pt x="5438" y="1501"/>
                  </a:lnTo>
                  <a:lnTo>
                    <a:pt x="4313" y="2251"/>
                  </a:lnTo>
                  <a:lnTo>
                    <a:pt x="3563" y="3001"/>
                  </a:lnTo>
                  <a:lnTo>
                    <a:pt x="2813" y="4126"/>
                  </a:lnTo>
                  <a:lnTo>
                    <a:pt x="2063" y="5063"/>
                  </a:lnTo>
                  <a:lnTo>
                    <a:pt x="1501" y="6376"/>
                  </a:lnTo>
                  <a:lnTo>
                    <a:pt x="1126" y="7876"/>
                  </a:lnTo>
                  <a:lnTo>
                    <a:pt x="751" y="9376"/>
                  </a:lnTo>
                  <a:lnTo>
                    <a:pt x="188" y="12938"/>
                  </a:lnTo>
                  <a:lnTo>
                    <a:pt x="1" y="17251"/>
                  </a:lnTo>
                  <a:lnTo>
                    <a:pt x="1" y="24188"/>
                  </a:lnTo>
                  <a:lnTo>
                    <a:pt x="188" y="28313"/>
                  </a:lnTo>
                  <a:lnTo>
                    <a:pt x="563" y="31688"/>
                  </a:lnTo>
                  <a:lnTo>
                    <a:pt x="938" y="33188"/>
                  </a:lnTo>
                  <a:lnTo>
                    <a:pt x="1501" y="34688"/>
                  </a:lnTo>
                  <a:lnTo>
                    <a:pt x="2063" y="36001"/>
                  </a:lnTo>
                  <a:lnTo>
                    <a:pt x="2626" y="37126"/>
                  </a:lnTo>
                  <a:lnTo>
                    <a:pt x="3376" y="38063"/>
                  </a:lnTo>
                  <a:lnTo>
                    <a:pt x="4313" y="38813"/>
                  </a:lnTo>
                  <a:lnTo>
                    <a:pt x="5251" y="39563"/>
                  </a:lnTo>
                  <a:lnTo>
                    <a:pt x="6376" y="40126"/>
                  </a:lnTo>
                  <a:lnTo>
                    <a:pt x="7501" y="40688"/>
                  </a:lnTo>
                  <a:lnTo>
                    <a:pt x="8813" y="40876"/>
                  </a:lnTo>
                  <a:lnTo>
                    <a:pt x="10313" y="41063"/>
                  </a:lnTo>
                  <a:lnTo>
                    <a:pt x="12001" y="41251"/>
                  </a:lnTo>
                  <a:lnTo>
                    <a:pt x="14626" y="41063"/>
                  </a:lnTo>
                  <a:lnTo>
                    <a:pt x="16876" y="40501"/>
                  </a:lnTo>
                  <a:lnTo>
                    <a:pt x="18938" y="39751"/>
                  </a:lnTo>
                  <a:lnTo>
                    <a:pt x="19688" y="39188"/>
                  </a:lnTo>
                  <a:lnTo>
                    <a:pt x="20438" y="38438"/>
                  </a:lnTo>
                  <a:lnTo>
                    <a:pt x="21188" y="37688"/>
                  </a:lnTo>
                  <a:lnTo>
                    <a:pt x="21938" y="36938"/>
                  </a:lnTo>
                  <a:lnTo>
                    <a:pt x="22313" y="36001"/>
                  </a:lnTo>
                  <a:lnTo>
                    <a:pt x="22876" y="35063"/>
                  </a:lnTo>
                  <a:lnTo>
                    <a:pt x="23063" y="33938"/>
                  </a:lnTo>
                  <a:lnTo>
                    <a:pt x="23438" y="32813"/>
                  </a:lnTo>
                  <a:lnTo>
                    <a:pt x="23626" y="30188"/>
                  </a:lnTo>
                  <a:lnTo>
                    <a:pt x="23438" y="28688"/>
                  </a:lnTo>
                  <a:lnTo>
                    <a:pt x="15751" y="28313"/>
                  </a:lnTo>
                  <a:lnTo>
                    <a:pt x="15563" y="31501"/>
                  </a:lnTo>
                  <a:lnTo>
                    <a:pt x="15188" y="32626"/>
                  </a:lnTo>
                  <a:lnTo>
                    <a:pt x="15001" y="33563"/>
                  </a:lnTo>
                  <a:lnTo>
                    <a:pt x="14438" y="34126"/>
                  </a:lnTo>
                  <a:lnTo>
                    <a:pt x="13876" y="34688"/>
                  </a:lnTo>
                  <a:lnTo>
                    <a:pt x="13126" y="35063"/>
                  </a:lnTo>
                  <a:lnTo>
                    <a:pt x="11438" y="35063"/>
                  </a:lnTo>
                  <a:lnTo>
                    <a:pt x="10876" y="34876"/>
                  </a:lnTo>
                  <a:lnTo>
                    <a:pt x="10313" y="34688"/>
                  </a:lnTo>
                  <a:lnTo>
                    <a:pt x="9938" y="34126"/>
                  </a:lnTo>
                  <a:lnTo>
                    <a:pt x="9563" y="33751"/>
                  </a:lnTo>
                  <a:lnTo>
                    <a:pt x="9376" y="33001"/>
                  </a:lnTo>
                  <a:lnTo>
                    <a:pt x="9001" y="31501"/>
                  </a:lnTo>
                  <a:lnTo>
                    <a:pt x="8813" y="29063"/>
                  </a:lnTo>
                  <a:lnTo>
                    <a:pt x="8813" y="25688"/>
                  </a:lnTo>
                  <a:lnTo>
                    <a:pt x="8813" y="23626"/>
                  </a:lnTo>
                  <a:lnTo>
                    <a:pt x="23813" y="23626"/>
                  </a:lnTo>
                  <a:lnTo>
                    <a:pt x="23813" y="16876"/>
                  </a:lnTo>
                  <a:lnTo>
                    <a:pt x="23813" y="13876"/>
                  </a:lnTo>
                  <a:lnTo>
                    <a:pt x="23626" y="11063"/>
                  </a:lnTo>
                  <a:lnTo>
                    <a:pt x="23251" y="8813"/>
                  </a:lnTo>
                  <a:lnTo>
                    <a:pt x="22876" y="6938"/>
                  </a:lnTo>
                  <a:lnTo>
                    <a:pt x="22126" y="5251"/>
                  </a:lnTo>
                  <a:lnTo>
                    <a:pt x="21376" y="3751"/>
                  </a:lnTo>
                  <a:lnTo>
                    <a:pt x="20438" y="2626"/>
                  </a:lnTo>
                  <a:lnTo>
                    <a:pt x="19313" y="1688"/>
                  </a:lnTo>
                  <a:lnTo>
                    <a:pt x="18001" y="938"/>
                  </a:lnTo>
                  <a:lnTo>
                    <a:pt x="16313" y="376"/>
                  </a:lnTo>
                  <a:lnTo>
                    <a:pt x="14438" y="1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34"/>
            <p:cNvSpPr/>
            <p:nvPr/>
          </p:nvSpPr>
          <p:spPr>
            <a:xfrm>
              <a:off x="2741250" y="2173125"/>
              <a:ext cx="735950" cy="1368750"/>
            </a:xfrm>
            <a:custGeom>
              <a:rect b="b" l="l" r="r" t="t"/>
              <a:pathLst>
                <a:path extrusionOk="0" h="54750" w="29438">
                  <a:moveTo>
                    <a:pt x="0" y="0"/>
                  </a:moveTo>
                  <a:lnTo>
                    <a:pt x="10313" y="36938"/>
                  </a:lnTo>
                  <a:lnTo>
                    <a:pt x="10313" y="54750"/>
                  </a:lnTo>
                  <a:lnTo>
                    <a:pt x="19125" y="54750"/>
                  </a:lnTo>
                  <a:lnTo>
                    <a:pt x="19125" y="36938"/>
                  </a:lnTo>
                  <a:lnTo>
                    <a:pt x="29438" y="0"/>
                  </a:lnTo>
                  <a:lnTo>
                    <a:pt x="20625" y="0"/>
                  </a:lnTo>
                  <a:lnTo>
                    <a:pt x="16875" y="16875"/>
                  </a:lnTo>
                  <a:lnTo>
                    <a:pt x="15563" y="23063"/>
                  </a:lnTo>
                  <a:lnTo>
                    <a:pt x="14813" y="27375"/>
                  </a:lnTo>
                  <a:lnTo>
                    <a:pt x="14625" y="27375"/>
                  </a:lnTo>
                  <a:lnTo>
                    <a:pt x="13688" y="22500"/>
                  </a:lnTo>
                  <a:lnTo>
                    <a:pt x="12563" y="16688"/>
                  </a:lnTo>
                  <a:lnTo>
                    <a:pt x="900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4"/>
            <p:cNvSpPr/>
            <p:nvPr/>
          </p:nvSpPr>
          <p:spPr>
            <a:xfrm>
              <a:off x="4161550" y="2543425"/>
              <a:ext cx="609400" cy="1012525"/>
            </a:xfrm>
            <a:custGeom>
              <a:rect b="b" l="l" r="r" t="t"/>
              <a:pathLst>
                <a:path extrusionOk="0" h="40501" w="24376">
                  <a:moveTo>
                    <a:pt x="1" y="1"/>
                  </a:moveTo>
                  <a:lnTo>
                    <a:pt x="1" y="29813"/>
                  </a:lnTo>
                  <a:lnTo>
                    <a:pt x="1" y="32251"/>
                  </a:lnTo>
                  <a:lnTo>
                    <a:pt x="376" y="34501"/>
                  </a:lnTo>
                  <a:lnTo>
                    <a:pt x="938" y="36376"/>
                  </a:lnTo>
                  <a:lnTo>
                    <a:pt x="1876" y="37876"/>
                  </a:lnTo>
                  <a:lnTo>
                    <a:pt x="3001" y="39001"/>
                  </a:lnTo>
                  <a:lnTo>
                    <a:pt x="4313" y="39938"/>
                  </a:lnTo>
                  <a:lnTo>
                    <a:pt x="5813" y="40313"/>
                  </a:lnTo>
                  <a:lnTo>
                    <a:pt x="7688" y="40501"/>
                  </a:lnTo>
                  <a:lnTo>
                    <a:pt x="9001" y="40501"/>
                  </a:lnTo>
                  <a:lnTo>
                    <a:pt x="10313" y="40126"/>
                  </a:lnTo>
                  <a:lnTo>
                    <a:pt x="11626" y="39751"/>
                  </a:lnTo>
                  <a:lnTo>
                    <a:pt x="12751" y="39188"/>
                  </a:lnTo>
                  <a:lnTo>
                    <a:pt x="13688" y="38251"/>
                  </a:lnTo>
                  <a:lnTo>
                    <a:pt x="14626" y="37313"/>
                  </a:lnTo>
                  <a:lnTo>
                    <a:pt x="15563" y="36188"/>
                  </a:lnTo>
                  <a:lnTo>
                    <a:pt x="16313" y="34876"/>
                  </a:lnTo>
                  <a:lnTo>
                    <a:pt x="16501" y="34876"/>
                  </a:lnTo>
                  <a:lnTo>
                    <a:pt x="17251" y="39938"/>
                  </a:lnTo>
                  <a:lnTo>
                    <a:pt x="24376" y="39938"/>
                  </a:lnTo>
                  <a:lnTo>
                    <a:pt x="24376" y="1"/>
                  </a:lnTo>
                  <a:lnTo>
                    <a:pt x="15376" y="1"/>
                  </a:lnTo>
                  <a:lnTo>
                    <a:pt x="15376" y="31688"/>
                  </a:lnTo>
                  <a:lnTo>
                    <a:pt x="14626" y="32626"/>
                  </a:lnTo>
                  <a:lnTo>
                    <a:pt x="13688" y="33376"/>
                  </a:lnTo>
                  <a:lnTo>
                    <a:pt x="12563" y="33938"/>
                  </a:lnTo>
                  <a:lnTo>
                    <a:pt x="11438" y="34126"/>
                  </a:lnTo>
                  <a:lnTo>
                    <a:pt x="10876" y="34126"/>
                  </a:lnTo>
                  <a:lnTo>
                    <a:pt x="10313" y="33938"/>
                  </a:lnTo>
                  <a:lnTo>
                    <a:pt x="9938" y="33563"/>
                  </a:lnTo>
                  <a:lnTo>
                    <a:pt x="9563" y="33001"/>
                  </a:lnTo>
                  <a:lnTo>
                    <a:pt x="9188" y="32438"/>
                  </a:lnTo>
                  <a:lnTo>
                    <a:pt x="9001" y="31501"/>
                  </a:lnTo>
                  <a:lnTo>
                    <a:pt x="9001" y="29251"/>
                  </a:lnTo>
                  <a:lnTo>
                    <a:pt x="9001" y="1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5314675" y="2543425"/>
              <a:ext cx="609400" cy="1012525"/>
            </a:xfrm>
            <a:custGeom>
              <a:rect b="b" l="l" r="r" t="t"/>
              <a:pathLst>
                <a:path extrusionOk="0" h="40501" w="24376">
                  <a:moveTo>
                    <a:pt x="1" y="1"/>
                  </a:moveTo>
                  <a:lnTo>
                    <a:pt x="1" y="29813"/>
                  </a:lnTo>
                  <a:lnTo>
                    <a:pt x="1" y="32251"/>
                  </a:lnTo>
                  <a:lnTo>
                    <a:pt x="376" y="34501"/>
                  </a:lnTo>
                  <a:lnTo>
                    <a:pt x="938" y="36376"/>
                  </a:lnTo>
                  <a:lnTo>
                    <a:pt x="1876" y="37876"/>
                  </a:lnTo>
                  <a:lnTo>
                    <a:pt x="2813" y="39001"/>
                  </a:lnTo>
                  <a:lnTo>
                    <a:pt x="4313" y="39938"/>
                  </a:lnTo>
                  <a:lnTo>
                    <a:pt x="5813" y="40313"/>
                  </a:lnTo>
                  <a:lnTo>
                    <a:pt x="7688" y="40501"/>
                  </a:lnTo>
                  <a:lnTo>
                    <a:pt x="9001" y="40501"/>
                  </a:lnTo>
                  <a:lnTo>
                    <a:pt x="10313" y="40126"/>
                  </a:lnTo>
                  <a:lnTo>
                    <a:pt x="11626" y="39751"/>
                  </a:lnTo>
                  <a:lnTo>
                    <a:pt x="12751" y="39188"/>
                  </a:lnTo>
                  <a:lnTo>
                    <a:pt x="13688" y="38251"/>
                  </a:lnTo>
                  <a:lnTo>
                    <a:pt x="14626" y="37313"/>
                  </a:lnTo>
                  <a:lnTo>
                    <a:pt x="15563" y="36188"/>
                  </a:lnTo>
                  <a:lnTo>
                    <a:pt x="16313" y="34876"/>
                  </a:lnTo>
                  <a:lnTo>
                    <a:pt x="16501" y="34876"/>
                  </a:lnTo>
                  <a:lnTo>
                    <a:pt x="17251" y="39938"/>
                  </a:lnTo>
                  <a:lnTo>
                    <a:pt x="24376" y="39938"/>
                  </a:lnTo>
                  <a:lnTo>
                    <a:pt x="24376" y="1"/>
                  </a:lnTo>
                  <a:lnTo>
                    <a:pt x="15376" y="1"/>
                  </a:lnTo>
                  <a:lnTo>
                    <a:pt x="15376" y="31688"/>
                  </a:lnTo>
                  <a:lnTo>
                    <a:pt x="14626" y="32626"/>
                  </a:lnTo>
                  <a:lnTo>
                    <a:pt x="13688" y="33376"/>
                  </a:lnTo>
                  <a:lnTo>
                    <a:pt x="12563" y="33938"/>
                  </a:lnTo>
                  <a:lnTo>
                    <a:pt x="11438" y="34126"/>
                  </a:lnTo>
                  <a:lnTo>
                    <a:pt x="10876" y="34126"/>
                  </a:lnTo>
                  <a:lnTo>
                    <a:pt x="10313" y="33938"/>
                  </a:lnTo>
                  <a:lnTo>
                    <a:pt x="9938" y="33563"/>
                  </a:lnTo>
                  <a:lnTo>
                    <a:pt x="9563" y="33001"/>
                  </a:lnTo>
                  <a:lnTo>
                    <a:pt x="9188" y="32438"/>
                  </a:lnTo>
                  <a:lnTo>
                    <a:pt x="9001" y="31501"/>
                  </a:lnTo>
                  <a:lnTo>
                    <a:pt x="9001" y="29251"/>
                  </a:lnTo>
                  <a:lnTo>
                    <a:pt x="9001" y="1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4714675" y="2173125"/>
              <a:ext cx="665650" cy="1368750"/>
            </a:xfrm>
            <a:custGeom>
              <a:rect b="b" l="l" r="r" t="t"/>
              <a:pathLst>
                <a:path extrusionOk="0" h="54750" w="26626">
                  <a:moveTo>
                    <a:pt x="1" y="0"/>
                  </a:moveTo>
                  <a:lnTo>
                    <a:pt x="1" y="7313"/>
                  </a:lnTo>
                  <a:lnTo>
                    <a:pt x="8813" y="7313"/>
                  </a:lnTo>
                  <a:lnTo>
                    <a:pt x="8813" y="54750"/>
                  </a:lnTo>
                  <a:lnTo>
                    <a:pt x="17626" y="54750"/>
                  </a:lnTo>
                  <a:lnTo>
                    <a:pt x="17626" y="7313"/>
                  </a:lnTo>
                  <a:lnTo>
                    <a:pt x="26626" y="7313"/>
                  </a:lnTo>
                  <a:lnTo>
                    <a:pt x="26626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6060000" y="2121550"/>
              <a:ext cx="628125" cy="1434400"/>
            </a:xfrm>
            <a:custGeom>
              <a:rect b="b" l="l" r="r" t="t"/>
              <a:pathLst>
                <a:path extrusionOk="0" h="57376" w="25125">
                  <a:moveTo>
                    <a:pt x="12563" y="22313"/>
                  </a:moveTo>
                  <a:lnTo>
                    <a:pt x="13125" y="22501"/>
                  </a:lnTo>
                  <a:lnTo>
                    <a:pt x="13688" y="22688"/>
                  </a:lnTo>
                  <a:lnTo>
                    <a:pt x="14250" y="23063"/>
                  </a:lnTo>
                  <a:lnTo>
                    <a:pt x="14625" y="23438"/>
                  </a:lnTo>
                  <a:lnTo>
                    <a:pt x="15000" y="24188"/>
                  </a:lnTo>
                  <a:lnTo>
                    <a:pt x="15375" y="24938"/>
                  </a:lnTo>
                  <a:lnTo>
                    <a:pt x="15750" y="27001"/>
                  </a:lnTo>
                  <a:lnTo>
                    <a:pt x="15938" y="30188"/>
                  </a:lnTo>
                  <a:lnTo>
                    <a:pt x="15938" y="34313"/>
                  </a:lnTo>
                  <a:lnTo>
                    <a:pt x="15938" y="39376"/>
                  </a:lnTo>
                  <a:lnTo>
                    <a:pt x="15938" y="43313"/>
                  </a:lnTo>
                  <a:lnTo>
                    <a:pt x="15750" y="46313"/>
                  </a:lnTo>
                  <a:lnTo>
                    <a:pt x="15188" y="48376"/>
                  </a:lnTo>
                  <a:lnTo>
                    <a:pt x="14813" y="49126"/>
                  </a:lnTo>
                  <a:lnTo>
                    <a:pt x="14438" y="49876"/>
                  </a:lnTo>
                  <a:lnTo>
                    <a:pt x="14063" y="50251"/>
                  </a:lnTo>
                  <a:lnTo>
                    <a:pt x="13500" y="50626"/>
                  </a:lnTo>
                  <a:lnTo>
                    <a:pt x="12938" y="50813"/>
                  </a:lnTo>
                  <a:lnTo>
                    <a:pt x="11063" y="50813"/>
                  </a:lnTo>
                  <a:lnTo>
                    <a:pt x="10125" y="50251"/>
                  </a:lnTo>
                  <a:lnTo>
                    <a:pt x="9188" y="49688"/>
                  </a:lnTo>
                  <a:lnTo>
                    <a:pt x="8625" y="48751"/>
                  </a:lnTo>
                  <a:lnTo>
                    <a:pt x="8625" y="26063"/>
                  </a:lnTo>
                  <a:lnTo>
                    <a:pt x="9188" y="24563"/>
                  </a:lnTo>
                  <a:lnTo>
                    <a:pt x="10125" y="23438"/>
                  </a:lnTo>
                  <a:lnTo>
                    <a:pt x="10688" y="23063"/>
                  </a:lnTo>
                  <a:lnTo>
                    <a:pt x="11250" y="22688"/>
                  </a:lnTo>
                  <a:lnTo>
                    <a:pt x="12000" y="22501"/>
                  </a:lnTo>
                  <a:lnTo>
                    <a:pt x="12563" y="22313"/>
                  </a:lnTo>
                  <a:close/>
                  <a:moveTo>
                    <a:pt x="0" y="1"/>
                  </a:moveTo>
                  <a:lnTo>
                    <a:pt x="0" y="56813"/>
                  </a:lnTo>
                  <a:lnTo>
                    <a:pt x="7313" y="56813"/>
                  </a:lnTo>
                  <a:lnTo>
                    <a:pt x="8250" y="52876"/>
                  </a:lnTo>
                  <a:lnTo>
                    <a:pt x="8438" y="52876"/>
                  </a:lnTo>
                  <a:lnTo>
                    <a:pt x="9000" y="53813"/>
                  </a:lnTo>
                  <a:lnTo>
                    <a:pt x="9750" y="54751"/>
                  </a:lnTo>
                  <a:lnTo>
                    <a:pt x="10688" y="55501"/>
                  </a:lnTo>
                  <a:lnTo>
                    <a:pt x="11625" y="56063"/>
                  </a:lnTo>
                  <a:lnTo>
                    <a:pt x="12563" y="56626"/>
                  </a:lnTo>
                  <a:lnTo>
                    <a:pt x="13875" y="57001"/>
                  </a:lnTo>
                  <a:lnTo>
                    <a:pt x="15000" y="57188"/>
                  </a:lnTo>
                  <a:lnTo>
                    <a:pt x="16125" y="57376"/>
                  </a:lnTo>
                  <a:lnTo>
                    <a:pt x="17250" y="57188"/>
                  </a:lnTo>
                  <a:lnTo>
                    <a:pt x="18375" y="57001"/>
                  </a:lnTo>
                  <a:lnTo>
                    <a:pt x="19313" y="56813"/>
                  </a:lnTo>
                  <a:lnTo>
                    <a:pt x="20250" y="56251"/>
                  </a:lnTo>
                  <a:lnTo>
                    <a:pt x="21000" y="55688"/>
                  </a:lnTo>
                  <a:lnTo>
                    <a:pt x="21750" y="54938"/>
                  </a:lnTo>
                  <a:lnTo>
                    <a:pt x="22313" y="54188"/>
                  </a:lnTo>
                  <a:lnTo>
                    <a:pt x="22875" y="53063"/>
                  </a:lnTo>
                  <a:lnTo>
                    <a:pt x="23438" y="51938"/>
                  </a:lnTo>
                  <a:lnTo>
                    <a:pt x="23813" y="50626"/>
                  </a:lnTo>
                  <a:lnTo>
                    <a:pt x="24563" y="47813"/>
                  </a:lnTo>
                  <a:lnTo>
                    <a:pt x="24938" y="44063"/>
                  </a:lnTo>
                  <a:lnTo>
                    <a:pt x="25125" y="39938"/>
                  </a:lnTo>
                  <a:lnTo>
                    <a:pt x="25125" y="33751"/>
                  </a:lnTo>
                  <a:lnTo>
                    <a:pt x="24938" y="30563"/>
                  </a:lnTo>
                  <a:lnTo>
                    <a:pt x="24938" y="27751"/>
                  </a:lnTo>
                  <a:lnTo>
                    <a:pt x="24563" y="25313"/>
                  </a:lnTo>
                  <a:lnTo>
                    <a:pt x="24188" y="23251"/>
                  </a:lnTo>
                  <a:lnTo>
                    <a:pt x="23813" y="21376"/>
                  </a:lnTo>
                  <a:lnTo>
                    <a:pt x="23250" y="19876"/>
                  </a:lnTo>
                  <a:lnTo>
                    <a:pt x="22500" y="18751"/>
                  </a:lnTo>
                  <a:lnTo>
                    <a:pt x="21563" y="17626"/>
                  </a:lnTo>
                  <a:lnTo>
                    <a:pt x="20625" y="16876"/>
                  </a:lnTo>
                  <a:lnTo>
                    <a:pt x="19500" y="16501"/>
                  </a:lnTo>
                  <a:lnTo>
                    <a:pt x="18188" y="16126"/>
                  </a:lnTo>
                  <a:lnTo>
                    <a:pt x="16688" y="15938"/>
                  </a:lnTo>
                  <a:lnTo>
                    <a:pt x="15375" y="16126"/>
                  </a:lnTo>
                  <a:lnTo>
                    <a:pt x="14250" y="16313"/>
                  </a:lnTo>
                  <a:lnTo>
                    <a:pt x="13125" y="16876"/>
                  </a:lnTo>
                  <a:lnTo>
                    <a:pt x="12000" y="17438"/>
                  </a:lnTo>
                  <a:lnTo>
                    <a:pt x="10875" y="18188"/>
                  </a:lnTo>
                  <a:lnTo>
                    <a:pt x="10125" y="18938"/>
                  </a:lnTo>
                  <a:lnTo>
                    <a:pt x="9375" y="20063"/>
                  </a:lnTo>
                  <a:lnTo>
                    <a:pt x="8625" y="21001"/>
                  </a:lnTo>
                  <a:lnTo>
                    <a:pt x="8625" y="1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0" name="Google Shape;360;p34"/>
          <p:cNvCxnSpPr/>
          <p:nvPr/>
        </p:nvCxnSpPr>
        <p:spPr>
          <a:xfrm>
            <a:off x="8239300" y="4803550"/>
            <a:ext cx="0" cy="126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nal Slide 1">
  <p:cSld name="Blank - Title_1_1_3_1_1_1_1">
    <p:bg>
      <p:bgPr>
        <a:solidFill>
          <a:srgbClr val="FBBC04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5"/>
          <p:cNvSpPr/>
          <p:nvPr/>
        </p:nvSpPr>
        <p:spPr>
          <a:xfrm>
            <a:off x="0" y="0"/>
            <a:ext cx="9144000" cy="522600"/>
          </a:xfrm>
          <a:prstGeom prst="rect">
            <a:avLst/>
          </a:prstGeom>
          <a:solidFill>
            <a:srgbClr val="B314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Internal Only</a:t>
            </a:r>
            <a:endParaRPr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63" name="Google Shape;363;p35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35"/>
          <p:cNvSpPr/>
          <p:nvPr/>
        </p:nvSpPr>
        <p:spPr>
          <a:xfrm>
            <a:off x="3556300" y="149286"/>
            <a:ext cx="236400" cy="207300"/>
          </a:xfrm>
          <a:custGeom>
            <a:rect b="b" l="l" r="r" t="t"/>
            <a:pathLst>
              <a:path extrusionOk="0" h="120000" w="120000">
                <a:moveTo>
                  <a:pt x="0" y="119999"/>
                </a:moveTo>
                <a:lnTo>
                  <a:pt x="120000" y="119999"/>
                </a:lnTo>
                <a:lnTo>
                  <a:pt x="60000" y="0"/>
                </a:lnTo>
                <a:lnTo>
                  <a:pt x="0" y="119999"/>
                </a:lnTo>
                <a:close/>
                <a:moveTo>
                  <a:pt x="65480" y="100931"/>
                </a:moveTo>
                <a:lnTo>
                  <a:pt x="54519" y="100931"/>
                </a:lnTo>
                <a:lnTo>
                  <a:pt x="54519" y="88438"/>
                </a:lnTo>
                <a:lnTo>
                  <a:pt x="65480" y="88438"/>
                </a:lnTo>
                <a:lnTo>
                  <a:pt x="65480" y="100931"/>
                </a:lnTo>
                <a:close/>
                <a:moveTo>
                  <a:pt x="65480" y="75616"/>
                </a:moveTo>
                <a:lnTo>
                  <a:pt x="54519" y="75616"/>
                </a:lnTo>
                <a:lnTo>
                  <a:pt x="54519" y="50630"/>
                </a:lnTo>
                <a:lnTo>
                  <a:pt x="65480" y="50630"/>
                </a:lnTo>
                <a:lnTo>
                  <a:pt x="65480" y="7561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5"/>
          <p:cNvSpPr txBox="1"/>
          <p:nvPr>
            <p:ph idx="1" type="body"/>
          </p:nvPr>
        </p:nvSpPr>
        <p:spPr>
          <a:xfrm>
            <a:off x="340663" y="1128663"/>
            <a:ext cx="7877100" cy="3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85750" lvl="0" marL="457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5750" lvl="1" marL="914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3C4043"/>
              </a:buClr>
              <a:buSzPts val="900"/>
              <a:buFont typeface="Roboto"/>
              <a:buChar char="•"/>
              <a:defRPr i="0" sz="9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66" name="Google Shape;366;p35"/>
          <p:cNvSpPr txBox="1"/>
          <p:nvPr>
            <p:ph type="title"/>
          </p:nvPr>
        </p:nvSpPr>
        <p:spPr>
          <a:xfrm>
            <a:off x="395700" y="640549"/>
            <a:ext cx="78771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2400"/>
              <a:buFont typeface="Google Sans"/>
              <a:buNone/>
              <a:defRPr i="0" sz="2400" u="none" cap="none" strike="noStrik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889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1778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2540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3429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4318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207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5969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685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grpSp>
        <p:nvGrpSpPr>
          <p:cNvPr id="367" name="Google Shape;367;p35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368" name="Google Shape;368;p35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9" name="Google Shape;369;p35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70" name="Google Shape;370;p35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71" name="Google Shape;371;p35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72" name="Google Shape;372;p35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73" name="Google Shape;373;p35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ogle Cover Slide 1">
  <p:cSld name="CUSTOM_2_1_1"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36"/>
          <p:cNvPicPr preferRelativeResize="0"/>
          <p:nvPr/>
        </p:nvPicPr>
        <p:blipFill rotWithShape="1">
          <a:blip r:embed="rId2">
            <a:alphaModFix/>
          </a:blip>
          <a:srcRect b="0" l="0" r="-4482" t="0"/>
          <a:stretch/>
        </p:blipFill>
        <p:spPr>
          <a:xfrm>
            <a:off x="522575" y="319550"/>
            <a:ext cx="772876" cy="23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6"/>
          <p:cNvSpPr txBox="1"/>
          <p:nvPr>
            <p:ph idx="1" type="subTitle"/>
          </p:nvPr>
        </p:nvSpPr>
        <p:spPr>
          <a:xfrm>
            <a:off x="422950" y="2984175"/>
            <a:ext cx="78012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22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2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2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2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2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2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2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77" name="Google Shape;377;p36"/>
          <p:cNvSpPr txBox="1"/>
          <p:nvPr>
            <p:ph type="title"/>
          </p:nvPr>
        </p:nvSpPr>
        <p:spPr>
          <a:xfrm>
            <a:off x="392925" y="1049175"/>
            <a:ext cx="7831200" cy="193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rgbClr val="3C4043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78" name="Google Shape;378;p36"/>
          <p:cNvSpPr/>
          <p:nvPr/>
        </p:nvSpPr>
        <p:spPr>
          <a:xfrm>
            <a:off x="522575" y="3458700"/>
            <a:ext cx="465900" cy="94500"/>
          </a:xfrm>
          <a:prstGeom prst="roundRect">
            <a:avLst>
              <a:gd fmla="val 50000" name="adj"/>
            </a:avLst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6"/>
          <p:cNvSpPr txBox="1"/>
          <p:nvPr>
            <p:ph idx="2" type="subTitle"/>
          </p:nvPr>
        </p:nvSpPr>
        <p:spPr>
          <a:xfrm>
            <a:off x="422950" y="3714075"/>
            <a:ext cx="78312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2200"/>
              </a:spcBef>
              <a:spcAft>
                <a:spcPts val="0"/>
              </a:spcAft>
              <a:buNone/>
              <a:defRPr sz="1800"/>
            </a:lvl2pPr>
            <a:lvl3pPr lvl="2" rtl="0">
              <a:spcBef>
                <a:spcPts val="2200"/>
              </a:spcBef>
              <a:spcAft>
                <a:spcPts val="0"/>
              </a:spcAft>
              <a:buNone/>
              <a:defRPr sz="1800"/>
            </a:lvl3pPr>
            <a:lvl4pPr lvl="3" rtl="0">
              <a:spcBef>
                <a:spcPts val="2200"/>
              </a:spcBef>
              <a:spcAft>
                <a:spcPts val="0"/>
              </a:spcAft>
              <a:buNone/>
              <a:defRPr sz="1800"/>
            </a:lvl4pPr>
            <a:lvl5pPr lvl="4" rtl="0">
              <a:spcBef>
                <a:spcPts val="2200"/>
              </a:spcBef>
              <a:spcAft>
                <a:spcPts val="0"/>
              </a:spcAft>
              <a:buNone/>
              <a:defRPr sz="1800"/>
            </a:lvl5pPr>
            <a:lvl6pPr lvl="5" rtl="0">
              <a:spcBef>
                <a:spcPts val="2200"/>
              </a:spcBef>
              <a:spcAft>
                <a:spcPts val="0"/>
              </a:spcAft>
              <a:buNone/>
              <a:defRPr sz="1800"/>
            </a:lvl6pPr>
            <a:lvl7pPr lvl="6" rtl="0">
              <a:spcBef>
                <a:spcPts val="2200"/>
              </a:spcBef>
              <a:spcAft>
                <a:spcPts val="0"/>
              </a:spcAft>
              <a:buNone/>
              <a:defRPr sz="1800"/>
            </a:lvl7pPr>
            <a:lvl8pPr lvl="7" rtl="0">
              <a:spcBef>
                <a:spcPts val="2200"/>
              </a:spcBef>
              <a:spcAft>
                <a:spcPts val="0"/>
              </a:spcAft>
              <a:buNone/>
              <a:defRPr sz="1800"/>
            </a:lvl8pPr>
            <a:lvl9pPr lvl="8" rtl="0">
              <a:spcBef>
                <a:spcPts val="220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Color Grey - Core Yellow 1">
  <p:cSld name="TITLE_2_1_2_1_1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7"/>
          <p:cNvSpPr/>
          <p:nvPr/>
        </p:nvSpPr>
        <p:spPr>
          <a:xfrm>
            <a:off x="4554300" y="0"/>
            <a:ext cx="4589700" cy="51435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7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BDC1C6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BDC1C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37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84" name="Google Shape;384;p37"/>
          <p:cNvSpPr txBox="1"/>
          <p:nvPr>
            <p:ph idx="1" type="body"/>
          </p:nvPr>
        </p:nvSpPr>
        <p:spPr>
          <a:xfrm>
            <a:off x="344501" y="2175900"/>
            <a:ext cx="2976600" cy="20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100">
                <a:solidFill>
                  <a:srgbClr val="5F6368"/>
                </a:solidFill>
              </a:defRPr>
            </a:lvl1pPr>
            <a:lvl2pPr indent="-285750" lvl="1" marL="9144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100">
                <a:solidFill>
                  <a:srgbClr val="5F6368"/>
                </a:solidFill>
              </a:defRPr>
            </a:lvl2pPr>
            <a:lvl3pPr indent="-298450" lvl="2" marL="1371600" rtl="0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■"/>
              <a:defRPr sz="1100">
                <a:solidFill>
                  <a:srgbClr val="5F6368"/>
                </a:solidFill>
              </a:defRPr>
            </a:lvl3pPr>
            <a:lvl4pPr indent="-298450" lvl="3" marL="1828800" rtl="0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●"/>
              <a:defRPr sz="1100">
                <a:solidFill>
                  <a:srgbClr val="5F6368"/>
                </a:solidFill>
              </a:defRPr>
            </a:lvl4pPr>
            <a:lvl5pPr indent="-298450" lvl="4" marL="2286000" rtl="0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○"/>
              <a:defRPr sz="1100">
                <a:solidFill>
                  <a:srgbClr val="5F6368"/>
                </a:solidFill>
              </a:defRPr>
            </a:lvl5pPr>
            <a:lvl6pPr indent="-298450" lvl="5" marL="2743200" rtl="0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■"/>
              <a:defRPr sz="1100">
                <a:solidFill>
                  <a:srgbClr val="5F6368"/>
                </a:solidFill>
              </a:defRPr>
            </a:lvl6pPr>
            <a:lvl7pPr indent="-298450" lvl="6" marL="3200400" rtl="0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●"/>
              <a:defRPr sz="1100">
                <a:solidFill>
                  <a:srgbClr val="5F6368"/>
                </a:solidFill>
              </a:defRPr>
            </a:lvl7pPr>
            <a:lvl8pPr indent="-298450" lvl="7" marL="3657600" rtl="0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○"/>
              <a:defRPr sz="1100">
                <a:solidFill>
                  <a:srgbClr val="5F6368"/>
                </a:solidFill>
              </a:defRPr>
            </a:lvl8pPr>
            <a:lvl9pPr indent="-298450" lvl="8" marL="4114800" rtl="0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■"/>
              <a:defRPr sz="1100">
                <a:solidFill>
                  <a:srgbClr val="5F6368"/>
                </a:solidFill>
              </a:defRPr>
            </a:lvl9pPr>
          </a:lstStyle>
          <a:p/>
        </p:txBody>
      </p:sp>
      <p:sp>
        <p:nvSpPr>
          <p:cNvPr id="385" name="Google Shape;385;p37"/>
          <p:cNvSpPr txBox="1"/>
          <p:nvPr>
            <p:ph type="title"/>
          </p:nvPr>
        </p:nvSpPr>
        <p:spPr>
          <a:xfrm>
            <a:off x="344501" y="1365900"/>
            <a:ext cx="3864600" cy="4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86" name="Google Shape;386;p37"/>
          <p:cNvSpPr txBox="1"/>
          <p:nvPr>
            <p:ph idx="2" type="body"/>
          </p:nvPr>
        </p:nvSpPr>
        <p:spPr>
          <a:xfrm>
            <a:off x="344501" y="4743625"/>
            <a:ext cx="43458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9pPr>
          </a:lstStyle>
          <a:p/>
        </p:txBody>
      </p:sp>
      <p:grpSp>
        <p:nvGrpSpPr>
          <p:cNvPr id="387" name="Google Shape;387;p37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388" name="Google Shape;388;p37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37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37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37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37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37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Color Grey - Core Blue 1">
  <p:cSld name="TITLE_2_2_1_1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8"/>
          <p:cNvSpPr txBox="1"/>
          <p:nvPr>
            <p:ph idx="1" type="body"/>
          </p:nvPr>
        </p:nvSpPr>
        <p:spPr>
          <a:xfrm>
            <a:off x="344501" y="2175900"/>
            <a:ext cx="2976600" cy="20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100">
                <a:solidFill>
                  <a:srgbClr val="5F6368"/>
                </a:solidFill>
              </a:defRPr>
            </a:lvl1pPr>
            <a:lvl2pPr indent="-28575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100">
                <a:solidFill>
                  <a:srgbClr val="5F6368"/>
                </a:solidFill>
              </a:defRPr>
            </a:lvl2pPr>
            <a:lvl3pPr indent="-298450" lvl="2" marL="13716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■"/>
              <a:defRPr sz="1100">
                <a:solidFill>
                  <a:srgbClr val="5F6368"/>
                </a:solidFill>
              </a:defRPr>
            </a:lvl3pPr>
            <a:lvl4pPr indent="-298450" lvl="3" marL="18288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●"/>
              <a:defRPr sz="1100">
                <a:solidFill>
                  <a:srgbClr val="5F6368"/>
                </a:solidFill>
              </a:defRPr>
            </a:lvl4pPr>
            <a:lvl5pPr indent="-298450" lvl="4" marL="22860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○"/>
              <a:defRPr sz="1100">
                <a:solidFill>
                  <a:srgbClr val="5F6368"/>
                </a:solidFill>
              </a:defRPr>
            </a:lvl5pPr>
            <a:lvl6pPr indent="-298450" lvl="5" marL="2743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■"/>
              <a:defRPr sz="1100">
                <a:solidFill>
                  <a:srgbClr val="5F6368"/>
                </a:solidFill>
              </a:defRPr>
            </a:lvl6pPr>
            <a:lvl7pPr indent="-298450" lvl="6" marL="32004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●"/>
              <a:defRPr sz="1100">
                <a:solidFill>
                  <a:srgbClr val="5F6368"/>
                </a:solidFill>
              </a:defRPr>
            </a:lvl7pPr>
            <a:lvl8pPr indent="-298450" lvl="7" marL="36576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○"/>
              <a:defRPr sz="1100">
                <a:solidFill>
                  <a:srgbClr val="5F6368"/>
                </a:solidFill>
              </a:defRPr>
            </a:lvl8pPr>
            <a:lvl9pPr indent="-298450" lvl="8" marL="41148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■"/>
              <a:defRPr sz="1100">
                <a:solidFill>
                  <a:srgbClr val="5F6368"/>
                </a:solidFill>
              </a:defRPr>
            </a:lvl9pPr>
          </a:lstStyle>
          <a:p/>
        </p:txBody>
      </p:sp>
      <p:sp>
        <p:nvSpPr>
          <p:cNvPr id="396" name="Google Shape;396;p38"/>
          <p:cNvSpPr txBox="1"/>
          <p:nvPr>
            <p:ph type="title"/>
          </p:nvPr>
        </p:nvSpPr>
        <p:spPr>
          <a:xfrm>
            <a:off x="344501" y="1365900"/>
            <a:ext cx="3864600" cy="4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7" name="Google Shape;397;p38"/>
          <p:cNvSpPr/>
          <p:nvPr/>
        </p:nvSpPr>
        <p:spPr>
          <a:xfrm>
            <a:off x="4554300" y="0"/>
            <a:ext cx="4589700" cy="51435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8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BDC1C6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BDC1C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38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00" name="Google Shape;400;p38"/>
          <p:cNvSpPr txBox="1"/>
          <p:nvPr>
            <p:ph idx="2" type="body"/>
          </p:nvPr>
        </p:nvSpPr>
        <p:spPr>
          <a:xfrm>
            <a:off x="344501" y="4743625"/>
            <a:ext cx="43458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9pPr>
          </a:lstStyle>
          <a:p/>
        </p:txBody>
      </p:sp>
      <p:grpSp>
        <p:nvGrpSpPr>
          <p:cNvPr id="401" name="Google Shape;401;p38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402" name="Google Shape;402;p38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38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38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38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38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38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Color Grey - Core Green 1">
  <p:cSld name="TITLE_2_1_1_2_1_1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9"/>
          <p:cNvSpPr/>
          <p:nvPr/>
        </p:nvSpPr>
        <p:spPr>
          <a:xfrm>
            <a:off x="4554300" y="0"/>
            <a:ext cx="4589700" cy="51435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9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BDC1C6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BDC1C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" name="Google Shape;411;p39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12" name="Google Shape;412;p39"/>
          <p:cNvSpPr txBox="1"/>
          <p:nvPr>
            <p:ph idx="1" type="body"/>
          </p:nvPr>
        </p:nvSpPr>
        <p:spPr>
          <a:xfrm>
            <a:off x="344501" y="2175900"/>
            <a:ext cx="2976600" cy="20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100">
                <a:solidFill>
                  <a:srgbClr val="5F6368"/>
                </a:solidFill>
              </a:defRPr>
            </a:lvl1pPr>
            <a:lvl2pPr indent="-285750" lvl="1" marL="9144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100">
                <a:solidFill>
                  <a:srgbClr val="5F6368"/>
                </a:solidFill>
              </a:defRPr>
            </a:lvl2pPr>
            <a:lvl3pPr indent="-298450" lvl="2" marL="1371600" rtl="0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■"/>
              <a:defRPr sz="1100">
                <a:solidFill>
                  <a:srgbClr val="5F6368"/>
                </a:solidFill>
              </a:defRPr>
            </a:lvl3pPr>
            <a:lvl4pPr indent="-298450" lvl="3" marL="1828800" rtl="0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●"/>
              <a:defRPr sz="1100">
                <a:solidFill>
                  <a:srgbClr val="5F6368"/>
                </a:solidFill>
              </a:defRPr>
            </a:lvl4pPr>
            <a:lvl5pPr indent="-298450" lvl="4" marL="2286000" rtl="0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○"/>
              <a:defRPr sz="1100">
                <a:solidFill>
                  <a:srgbClr val="5F6368"/>
                </a:solidFill>
              </a:defRPr>
            </a:lvl5pPr>
            <a:lvl6pPr indent="-298450" lvl="5" marL="2743200" rtl="0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■"/>
              <a:defRPr sz="1100">
                <a:solidFill>
                  <a:srgbClr val="5F6368"/>
                </a:solidFill>
              </a:defRPr>
            </a:lvl6pPr>
            <a:lvl7pPr indent="-298450" lvl="6" marL="3200400" rtl="0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●"/>
              <a:defRPr sz="1100">
                <a:solidFill>
                  <a:srgbClr val="5F6368"/>
                </a:solidFill>
              </a:defRPr>
            </a:lvl7pPr>
            <a:lvl8pPr indent="-298450" lvl="7" marL="3657600" rtl="0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○"/>
              <a:defRPr sz="1100">
                <a:solidFill>
                  <a:srgbClr val="5F6368"/>
                </a:solidFill>
              </a:defRPr>
            </a:lvl8pPr>
            <a:lvl9pPr indent="-298450" lvl="8" marL="4114800" rtl="0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■"/>
              <a:defRPr sz="1100">
                <a:solidFill>
                  <a:srgbClr val="5F6368"/>
                </a:solidFill>
              </a:defRPr>
            </a:lvl9pPr>
          </a:lstStyle>
          <a:p/>
        </p:txBody>
      </p:sp>
      <p:sp>
        <p:nvSpPr>
          <p:cNvPr id="413" name="Google Shape;413;p39"/>
          <p:cNvSpPr txBox="1"/>
          <p:nvPr>
            <p:ph type="title"/>
          </p:nvPr>
        </p:nvSpPr>
        <p:spPr>
          <a:xfrm>
            <a:off x="344501" y="1365900"/>
            <a:ext cx="3864600" cy="4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14" name="Google Shape;414;p39"/>
          <p:cNvSpPr txBox="1"/>
          <p:nvPr>
            <p:ph idx="2" type="body"/>
          </p:nvPr>
        </p:nvSpPr>
        <p:spPr>
          <a:xfrm>
            <a:off x="344501" y="4743625"/>
            <a:ext cx="43458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9pPr>
          </a:lstStyle>
          <a:p/>
        </p:txBody>
      </p:sp>
      <p:grpSp>
        <p:nvGrpSpPr>
          <p:cNvPr id="415" name="Google Shape;415;p39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416" name="Google Shape;416;p39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9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39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39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9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39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Color Grey - Core Red 1">
  <p:cSld name="TITLE_2_1_1_1_1_1_1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/>
        </p:nvSpPr>
        <p:spPr>
          <a:xfrm>
            <a:off x="4554300" y="0"/>
            <a:ext cx="4589700" cy="51435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0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40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26" name="Google Shape;426;p40"/>
          <p:cNvSpPr txBox="1"/>
          <p:nvPr>
            <p:ph idx="1" type="body"/>
          </p:nvPr>
        </p:nvSpPr>
        <p:spPr>
          <a:xfrm>
            <a:off x="344501" y="2175900"/>
            <a:ext cx="2976600" cy="20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100">
                <a:solidFill>
                  <a:srgbClr val="5F6368"/>
                </a:solidFill>
              </a:defRPr>
            </a:lvl1pPr>
            <a:lvl2pPr indent="-285750" lvl="1" marL="914400" marR="0" rtl="0" algn="l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100">
                <a:solidFill>
                  <a:srgbClr val="5F6368"/>
                </a:solidFill>
              </a:defRPr>
            </a:lvl2pPr>
            <a:lvl3pPr indent="-298450" lvl="2" marL="1371600" rtl="0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■"/>
              <a:defRPr sz="1100">
                <a:solidFill>
                  <a:srgbClr val="5F6368"/>
                </a:solidFill>
              </a:defRPr>
            </a:lvl3pPr>
            <a:lvl4pPr indent="-298450" lvl="3" marL="1828800" rtl="0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●"/>
              <a:defRPr sz="1100">
                <a:solidFill>
                  <a:srgbClr val="5F6368"/>
                </a:solidFill>
              </a:defRPr>
            </a:lvl4pPr>
            <a:lvl5pPr indent="-298450" lvl="4" marL="2286000" rtl="0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○"/>
              <a:defRPr sz="1100">
                <a:solidFill>
                  <a:srgbClr val="5F6368"/>
                </a:solidFill>
              </a:defRPr>
            </a:lvl5pPr>
            <a:lvl6pPr indent="-298450" lvl="5" marL="2743200" rtl="0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■"/>
              <a:defRPr sz="1100">
                <a:solidFill>
                  <a:srgbClr val="5F6368"/>
                </a:solidFill>
              </a:defRPr>
            </a:lvl6pPr>
            <a:lvl7pPr indent="-298450" lvl="6" marL="3200400" rtl="0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●"/>
              <a:defRPr sz="1100">
                <a:solidFill>
                  <a:srgbClr val="5F6368"/>
                </a:solidFill>
              </a:defRPr>
            </a:lvl7pPr>
            <a:lvl8pPr indent="-298450" lvl="7" marL="3657600" rtl="0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○"/>
              <a:defRPr sz="1100">
                <a:solidFill>
                  <a:srgbClr val="5F6368"/>
                </a:solidFill>
              </a:defRPr>
            </a:lvl8pPr>
            <a:lvl9pPr indent="-298450" lvl="8" marL="4114800" rtl="0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Char char="■"/>
              <a:defRPr sz="1100">
                <a:solidFill>
                  <a:srgbClr val="5F6368"/>
                </a:solidFill>
              </a:defRPr>
            </a:lvl9pPr>
          </a:lstStyle>
          <a:p/>
        </p:txBody>
      </p:sp>
      <p:sp>
        <p:nvSpPr>
          <p:cNvPr id="427" name="Google Shape;427;p40"/>
          <p:cNvSpPr txBox="1"/>
          <p:nvPr>
            <p:ph type="title"/>
          </p:nvPr>
        </p:nvSpPr>
        <p:spPr>
          <a:xfrm>
            <a:off x="344501" y="1365900"/>
            <a:ext cx="3864600" cy="4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28" name="Google Shape;428;p40"/>
          <p:cNvSpPr txBox="1"/>
          <p:nvPr>
            <p:ph idx="2" type="body"/>
          </p:nvPr>
        </p:nvSpPr>
        <p:spPr>
          <a:xfrm>
            <a:off x="344501" y="4743625"/>
            <a:ext cx="43458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>
                <a:solidFill>
                  <a:srgbClr val="D5D5D5"/>
                </a:solidFill>
              </a:defRPr>
            </a:lvl9pPr>
          </a:lstStyle>
          <a:p/>
        </p:txBody>
      </p:sp>
      <p:grpSp>
        <p:nvGrpSpPr>
          <p:cNvPr id="429" name="Google Shape;429;p40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430" name="Google Shape;430;p40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40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40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40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40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40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ogle Ads Cover Slide">
  <p:cSld name="CUSTOM_3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2575" y="319550"/>
            <a:ext cx="1172075" cy="23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ogle Marketing Platform Cover Slide">
  <p:cSld name="CUSTOM_2_2">
    <p:bg>
      <p:bgPr>
        <a:solidFill>
          <a:srgbClr val="FFFFFF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2575" y="319550"/>
            <a:ext cx="2656675" cy="23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ogle Ad Manager Cover Slide">
  <p:cSld name="CUSTOM_2_2_1">
    <p:bg>
      <p:bgPr>
        <a:solidFill>
          <a:srgbClr val="FFFFFF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0361" y="245475"/>
            <a:ext cx="2041351" cy="34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IF" type="obj">
  <p:cSld name="OBJECT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446" name="Google Shape;446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rtl="0">
              <a:spcBef>
                <a:spcPts val="2200"/>
              </a:spcBef>
              <a:spcAft>
                <a:spcPts val="0"/>
              </a:spcAft>
              <a:buSzPts val="900"/>
              <a:buChar char="•"/>
              <a:defRPr/>
            </a:lvl1pPr>
            <a:lvl2pPr indent="-285750" lvl="1" marL="914400" rtl="0">
              <a:spcBef>
                <a:spcPts val="220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 rtl="0">
              <a:spcBef>
                <a:spcPts val="2200"/>
              </a:spcBef>
              <a:spcAft>
                <a:spcPts val="0"/>
              </a:spcAft>
              <a:buSzPts val="900"/>
              <a:buChar char="•"/>
              <a:defRPr/>
            </a:lvl3pPr>
            <a:lvl4pPr indent="-285750" lvl="3" marL="1828800" rtl="0">
              <a:spcBef>
                <a:spcPts val="22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 rtl="0">
              <a:spcBef>
                <a:spcPts val="2200"/>
              </a:spcBef>
              <a:spcAft>
                <a:spcPts val="0"/>
              </a:spcAft>
              <a:buSzPts val="900"/>
              <a:buChar char="•"/>
              <a:defRPr/>
            </a:lvl5pPr>
            <a:lvl6pPr indent="-285750" lvl="5" marL="2743200" rtl="0">
              <a:spcBef>
                <a:spcPts val="2200"/>
              </a:spcBef>
              <a:spcAft>
                <a:spcPts val="0"/>
              </a:spcAft>
              <a:buSzPts val="900"/>
              <a:buChar char="•"/>
              <a:defRPr/>
            </a:lvl6pPr>
            <a:lvl7pPr indent="-285750" lvl="6" marL="3200400" rtl="0">
              <a:spcBef>
                <a:spcPts val="2200"/>
              </a:spcBef>
              <a:spcAft>
                <a:spcPts val="0"/>
              </a:spcAft>
              <a:buSzPts val="900"/>
              <a:buChar char="•"/>
              <a:defRPr/>
            </a:lvl7pPr>
            <a:lvl8pPr indent="-285750" lvl="7" marL="3657600" rtl="0">
              <a:spcBef>
                <a:spcPts val="2200"/>
              </a:spcBef>
              <a:spcAft>
                <a:spcPts val="0"/>
              </a:spcAft>
              <a:buSzPts val="900"/>
              <a:buChar char="•"/>
              <a:defRPr/>
            </a:lvl8pPr>
            <a:lvl9pPr indent="-285750" lvl="8" marL="4114800" rtl="0">
              <a:spcBef>
                <a:spcPts val="2200"/>
              </a:spcBef>
              <a:spcAft>
                <a:spcPts val="0"/>
              </a:spcAft>
              <a:buSzPts val="900"/>
              <a:buChar char="•"/>
              <a:defRPr/>
            </a:lvl9pPr>
          </a:lstStyle>
          <a:p/>
        </p:txBody>
      </p:sp>
      <p:sp>
        <p:nvSpPr>
          <p:cNvPr id="447" name="Google Shape;44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40663" y="1128663"/>
            <a:ext cx="7877100" cy="3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80868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5750" lvl="1" marL="914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80868B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80868B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80868B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80868B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80868B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80868B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80868B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80868B"/>
              </a:buClr>
              <a:buSzPts val="900"/>
              <a:buFont typeface="Roboto"/>
              <a:buChar char="•"/>
              <a:defRPr b="0" i="0" sz="900" u="none" cap="none" strike="noStrike">
                <a:solidFill>
                  <a:srgbClr val="80868B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95688" y="493663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2400"/>
              <a:buFont typeface="Google Sans"/>
              <a:buNone/>
              <a:defRPr b="0" i="0" sz="2400" u="none" cap="none" strike="noStrik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600" u="none" cap="none" strike="noStrike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CamDavidsonPilon/lifetimes" TargetMode="External"/><Relationship Id="rId4" Type="http://schemas.openxmlformats.org/officeDocument/2006/relationships/hyperlink" Target="https://github.com/CamDavidsonPilon/lifelines" TargetMode="External"/><Relationship Id="rId5" Type="http://schemas.openxmlformats.org/officeDocument/2006/relationships/hyperlink" Target="https://github.com/scikit-learn/scikit-learn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7"/>
          <p:cNvSpPr/>
          <p:nvPr/>
        </p:nvSpPr>
        <p:spPr>
          <a:xfrm>
            <a:off x="485175" y="3679630"/>
            <a:ext cx="83103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Sarah N </a:t>
            </a:r>
            <a:r>
              <a:rPr lang="en" sz="18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/ November 5</a:t>
            </a:r>
            <a:endParaRPr sz="800">
              <a:solidFill>
                <a:srgbClr val="3C40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47"/>
          <p:cNvSpPr/>
          <p:nvPr/>
        </p:nvSpPr>
        <p:spPr>
          <a:xfrm>
            <a:off x="485175" y="2017750"/>
            <a:ext cx="83103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5500">
                <a:solidFill>
                  <a:srgbClr val="3C4043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Demystifying value</a:t>
            </a:r>
            <a:endParaRPr sz="800">
              <a:solidFill>
                <a:srgbClr val="3C40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47"/>
          <p:cNvSpPr/>
          <p:nvPr/>
        </p:nvSpPr>
        <p:spPr>
          <a:xfrm>
            <a:off x="485175" y="2888769"/>
            <a:ext cx="83103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The importance of lifetime value</a:t>
            </a:r>
            <a:endParaRPr sz="800">
              <a:solidFill>
                <a:srgbClr val="3C40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47"/>
          <p:cNvSpPr/>
          <p:nvPr/>
        </p:nvSpPr>
        <p:spPr>
          <a:xfrm>
            <a:off x="522575" y="3458700"/>
            <a:ext cx="465900" cy="94500"/>
          </a:xfrm>
          <a:prstGeom prst="roundRect">
            <a:avLst>
              <a:gd fmla="val 50000" name="adj"/>
            </a:avLst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47"/>
          <p:cNvSpPr txBox="1"/>
          <p:nvPr/>
        </p:nvSpPr>
        <p:spPr>
          <a:xfrm>
            <a:off x="7814375" y="292125"/>
            <a:ext cx="1210200" cy="18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8"/>
          <p:cNvSpPr txBox="1"/>
          <p:nvPr>
            <p:ph type="title"/>
          </p:nvPr>
        </p:nvSpPr>
        <p:spPr>
          <a:xfrm>
            <a:off x="344501" y="264375"/>
            <a:ext cx="7797000" cy="4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Customer Lifetime Value?</a:t>
            </a:r>
            <a:endParaRPr/>
          </a:p>
        </p:txBody>
      </p:sp>
      <p:sp>
        <p:nvSpPr>
          <p:cNvPr id="462" name="Google Shape;462;p48"/>
          <p:cNvSpPr/>
          <p:nvPr/>
        </p:nvSpPr>
        <p:spPr>
          <a:xfrm>
            <a:off x="0" y="1084875"/>
            <a:ext cx="8581800" cy="43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  A long-term prediction of the future value of your customers’ interactions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48"/>
          <p:cNvSpPr/>
          <p:nvPr/>
        </p:nvSpPr>
        <p:spPr>
          <a:xfrm>
            <a:off x="984675" y="1811400"/>
            <a:ext cx="8159400" cy="28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It is </a:t>
            </a:r>
            <a:r>
              <a:rPr b="1"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not a historical average</a:t>
            </a:r>
            <a:endParaRPr b="1"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It is a long-term oriented </a:t>
            </a:r>
            <a:r>
              <a:rPr b="1"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prediction</a:t>
            </a:r>
            <a:endParaRPr b="1"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It is valued at the </a:t>
            </a:r>
            <a:r>
              <a:rPr b="1"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individual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level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It is impactful across the entire </a:t>
            </a:r>
            <a:r>
              <a:rPr b="1"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value chain</a:t>
            </a:r>
            <a:endParaRPr b="1"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48"/>
          <p:cNvSpPr txBox="1"/>
          <p:nvPr/>
        </p:nvSpPr>
        <p:spPr>
          <a:xfrm>
            <a:off x="7814375" y="292125"/>
            <a:ext cx="1210200" cy="3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9" name="Google Shape;469;p49"/>
          <p:cNvGraphicFramePr/>
          <p:nvPr/>
        </p:nvGraphicFramePr>
        <p:xfrm>
          <a:off x="893755" y="1434802"/>
          <a:ext cx="3000000" cy="3000000"/>
        </p:xfrm>
        <a:graphic>
          <a:graphicData uri="http://schemas.openxmlformats.org/drawingml/2006/table">
            <a:tbl>
              <a:tblPr bandRow="1" firstCol="1" firstRow="1" lastRow="1">
                <a:noFill/>
                <a:tableStyleId>{D6E7607B-8E88-452B-8DA0-4DBCB9460987}</a:tableStyleId>
              </a:tblPr>
              <a:tblGrid>
                <a:gridCol w="1839125"/>
                <a:gridCol w="1839125"/>
                <a:gridCol w="1839125"/>
                <a:gridCol w="1839125"/>
              </a:tblGrid>
              <a:tr h="45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One Year Expected Value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Future 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Customer Value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Percent of Total Equity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1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$140.00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$80,000,000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80%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EFEFEF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2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$30.25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$10,000,000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10%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3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i="0" lang="en" sz="1100" u="none" cap="none" strike="noStrike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</a:t>
                      </a: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18.00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$5,000,000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5%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4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$14.75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$3,000,000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3%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5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$10.00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$2,000,000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2%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</a:tr>
              <a:tr h="455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i="0" lang="en" sz="11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</a:t>
                      </a: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81.86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i="0" lang="en" sz="11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</a:t>
                      </a: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100,000,000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100%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</a:tr>
            </a:tbl>
          </a:graphicData>
        </a:graphic>
      </p:graphicFrame>
      <p:sp>
        <p:nvSpPr>
          <p:cNvPr id="470" name="Google Shape;470;p49"/>
          <p:cNvSpPr txBox="1"/>
          <p:nvPr/>
        </p:nvSpPr>
        <p:spPr>
          <a:xfrm>
            <a:off x="416574" y="363844"/>
            <a:ext cx="831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rPr b="1" lang="en" sz="2400">
                <a:solidFill>
                  <a:srgbClr val="3367D6"/>
                </a:solidFill>
                <a:latin typeface="Open Sans"/>
                <a:ea typeface="Open Sans"/>
                <a:cs typeface="Open Sans"/>
                <a:sym typeface="Open Sans"/>
              </a:rPr>
              <a:t>LTV</a:t>
            </a:r>
            <a:r>
              <a:rPr b="1" lang="en" sz="2400">
                <a:solidFill>
                  <a:srgbClr val="3367D6"/>
                </a:solidFill>
                <a:latin typeface="Open Sans"/>
                <a:ea typeface="Open Sans"/>
                <a:cs typeface="Open Sans"/>
                <a:sym typeface="Open Sans"/>
              </a:rPr>
              <a:t> Level 1: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This is the most basic output of LTV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rPr lang="en" sz="1200">
                <a:latin typeface="Open Sans SemiBold"/>
                <a:ea typeface="Open Sans SemiBold"/>
                <a:cs typeface="Open Sans SemiBold"/>
                <a:sym typeface="Open Sans SemiBold"/>
              </a:rPr>
              <a:t>The most basic output is a prediction of the future revenue you will get from your current customers.</a:t>
            </a:r>
            <a:endParaRPr sz="1200"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sz="1200"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descr="Google_2015_logo.svg.png" id="471" name="Google Shape;47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2903" y="4752956"/>
            <a:ext cx="686385" cy="231998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9"/>
          <p:cNvSpPr/>
          <p:nvPr/>
        </p:nvSpPr>
        <p:spPr>
          <a:xfrm>
            <a:off x="4551300" y="3681075"/>
            <a:ext cx="1859700" cy="4548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49"/>
          <p:cNvSpPr txBox="1"/>
          <p:nvPr/>
        </p:nvSpPr>
        <p:spPr>
          <a:xfrm>
            <a:off x="7814375" y="292125"/>
            <a:ext cx="1210200" cy="3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8" name="Google Shape;478;p50"/>
          <p:cNvGraphicFramePr/>
          <p:nvPr/>
        </p:nvGraphicFramePr>
        <p:xfrm>
          <a:off x="893755" y="1434802"/>
          <a:ext cx="3000000" cy="3000000"/>
        </p:xfrm>
        <a:graphic>
          <a:graphicData uri="http://schemas.openxmlformats.org/drawingml/2006/table">
            <a:tbl>
              <a:tblPr bandRow="1" firstCol="1" firstRow="1" lastRow="1">
                <a:noFill/>
                <a:tableStyleId>{D6E7607B-8E88-452B-8DA0-4DBCB9460987}</a:tableStyleId>
              </a:tblPr>
              <a:tblGrid>
                <a:gridCol w="1471300"/>
                <a:gridCol w="1471300"/>
                <a:gridCol w="1471300"/>
                <a:gridCol w="1471300"/>
                <a:gridCol w="1471300"/>
              </a:tblGrid>
              <a:tr h="45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One Year Expected Value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Future 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Customer Value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Percent of Total Equity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Chance</a:t>
                      </a: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of Churn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1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$140.00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$80,000,000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80%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30%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EFEFEF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2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$30.25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$10,000,000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10%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20%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3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i="0" lang="en" sz="1100" u="none" cap="none" strike="noStrike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</a:t>
                      </a: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18.00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$5,000,000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5%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50%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4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$14.75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$3,000,000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3%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50%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5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$10.00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$2,000,000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2%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80%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</a:tr>
              <a:tr h="455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i="0" lang="en" sz="11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</a:t>
                      </a: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81.86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i="0" lang="en" sz="11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</a:t>
                      </a: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100,000,000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100%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50%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</a:tr>
            </a:tbl>
          </a:graphicData>
        </a:graphic>
      </p:graphicFrame>
      <p:sp>
        <p:nvSpPr>
          <p:cNvPr id="479" name="Google Shape;479;p50"/>
          <p:cNvSpPr txBox="1"/>
          <p:nvPr/>
        </p:nvSpPr>
        <p:spPr>
          <a:xfrm>
            <a:off x="416574" y="363844"/>
            <a:ext cx="831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rPr b="1" lang="en" sz="2400">
                <a:solidFill>
                  <a:srgbClr val="3367D6"/>
                </a:solidFill>
                <a:latin typeface="Open Sans"/>
                <a:ea typeface="Open Sans"/>
                <a:cs typeface="Open Sans"/>
                <a:sym typeface="Open Sans"/>
              </a:rPr>
              <a:t>LTV</a:t>
            </a:r>
            <a:r>
              <a:rPr b="1" lang="en" sz="2400">
                <a:solidFill>
                  <a:srgbClr val="3367D6"/>
                </a:solidFill>
                <a:latin typeface="Open Sans"/>
                <a:ea typeface="Open Sans"/>
                <a:cs typeface="Open Sans"/>
                <a:sym typeface="Open Sans"/>
              </a:rPr>
              <a:t> Level 1: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This is the most basic output of LTV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rPr lang="en" sz="1200">
                <a:latin typeface="Open Sans SemiBold"/>
                <a:ea typeface="Open Sans SemiBold"/>
                <a:cs typeface="Open Sans SemiBold"/>
                <a:sym typeface="Open Sans SemiBold"/>
              </a:rPr>
              <a:t>The most basic output is a prediction of the future revenue you will get from your current customers.</a:t>
            </a:r>
            <a:endParaRPr sz="1200"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sz="1200"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descr="Google_2015_logo.svg.png" id="480" name="Google Shape;48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2903" y="4752956"/>
            <a:ext cx="686385" cy="231998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0"/>
          <p:cNvSpPr txBox="1"/>
          <p:nvPr/>
        </p:nvSpPr>
        <p:spPr>
          <a:xfrm>
            <a:off x="7814375" y="292125"/>
            <a:ext cx="1210200" cy="3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6" name="Google Shape;486;p51"/>
          <p:cNvGraphicFramePr/>
          <p:nvPr/>
        </p:nvGraphicFramePr>
        <p:xfrm>
          <a:off x="893755" y="1434802"/>
          <a:ext cx="3000000" cy="3000000"/>
        </p:xfrm>
        <a:graphic>
          <a:graphicData uri="http://schemas.openxmlformats.org/drawingml/2006/table">
            <a:tbl>
              <a:tblPr bandRow="1" firstCol="1" firstRow="1" lastRow="1">
                <a:noFill/>
                <a:tableStyleId>{D6E7607B-8E88-452B-8DA0-4DBCB9460987}</a:tableStyleId>
              </a:tblPr>
              <a:tblGrid>
                <a:gridCol w="1839125"/>
                <a:gridCol w="1839125"/>
                <a:gridCol w="1839125"/>
                <a:gridCol w="1839125"/>
              </a:tblGrid>
              <a:tr h="45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Acquisition Channel</a:t>
                      </a:r>
                      <a:endParaRPr b="0" i="0" sz="1100" u="none" cap="none" strike="noStrik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One Year Expected Value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Future 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Customer Value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Percent of Total Equity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UAC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$150.00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$80,000,000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80%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EFEFEF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Social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$130.25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$10,000,000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10%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Organic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i="0" lang="en" sz="1100" u="none" cap="none" strike="noStrike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</a:t>
                      </a: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18.00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$5,000,000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5%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Channel 4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$24.75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$3,000,000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3%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Channel 5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$12.00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$2,000,000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2%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</a:tr>
              <a:tr h="455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i="0" lang="en" sz="11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</a:t>
                      </a: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81.86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i="0" lang="en" sz="11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</a:t>
                      </a: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100,000,000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100%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</a:tr>
            </a:tbl>
          </a:graphicData>
        </a:graphic>
      </p:graphicFrame>
      <p:sp>
        <p:nvSpPr>
          <p:cNvPr id="487" name="Google Shape;487;p51"/>
          <p:cNvSpPr txBox="1"/>
          <p:nvPr/>
        </p:nvSpPr>
        <p:spPr>
          <a:xfrm>
            <a:off x="416574" y="363844"/>
            <a:ext cx="831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rPr b="1" lang="en" sz="2400">
                <a:solidFill>
                  <a:srgbClr val="3367D6"/>
                </a:solidFill>
                <a:latin typeface="Open Sans"/>
                <a:ea typeface="Open Sans"/>
                <a:cs typeface="Open Sans"/>
                <a:sym typeface="Open Sans"/>
              </a:rPr>
              <a:t>LTV Level 2: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Looking at LTV by Acquisition Channel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rPr lang="en" sz="1200">
                <a:latin typeface="Open Sans SemiBold"/>
                <a:ea typeface="Open Sans SemiBold"/>
                <a:cs typeface="Open Sans SemiBold"/>
                <a:sym typeface="Open Sans SemiBold"/>
              </a:rPr>
              <a:t>Most people stop here, but you can go a lot further.</a:t>
            </a:r>
            <a:endParaRPr sz="1200"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sz="1200"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descr="Google_2015_logo.svg.png" id="488" name="Google Shape;48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2903" y="4752956"/>
            <a:ext cx="686385" cy="231998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51"/>
          <p:cNvSpPr txBox="1"/>
          <p:nvPr/>
        </p:nvSpPr>
        <p:spPr>
          <a:xfrm>
            <a:off x="7933800" y="0"/>
            <a:ext cx="1210200" cy="3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4" name="Google Shape;494;p52"/>
          <p:cNvGraphicFramePr/>
          <p:nvPr/>
        </p:nvGraphicFramePr>
        <p:xfrm>
          <a:off x="893755" y="1434802"/>
          <a:ext cx="3000000" cy="3000000"/>
        </p:xfrm>
        <a:graphic>
          <a:graphicData uri="http://schemas.openxmlformats.org/drawingml/2006/table">
            <a:tbl>
              <a:tblPr bandRow="1" firstCol="1" firstRow="1" lastRow="1">
                <a:noFill/>
                <a:tableStyleId>{D6E7607B-8E88-452B-8DA0-4DBCB9460987}</a:tableStyleId>
              </a:tblPr>
              <a:tblGrid>
                <a:gridCol w="1839125"/>
                <a:gridCol w="1839125"/>
                <a:gridCol w="1839125"/>
                <a:gridCol w="1839125"/>
              </a:tblGrid>
              <a:tr h="45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Device</a:t>
                      </a:r>
                      <a:endParaRPr b="0" i="0" sz="1100" u="none" cap="none" strike="noStrik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One Year Expected Value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Future 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Customer Value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Percent of Total Equity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App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$150.00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$40,000,000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40%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EFEFEF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Mobile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$130.25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$30,000,000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30%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Desktop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i="0" lang="en" sz="1100" u="none" cap="none" strike="noStrike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</a:t>
                      </a: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100.00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$2,000,000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20%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</a:tr>
              <a:tr h="455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i="0" lang="en" sz="11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</a:t>
                      </a: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81.86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i="0" lang="en" sz="11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</a:t>
                      </a: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100,000,000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100%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</a:tr>
            </a:tbl>
          </a:graphicData>
        </a:graphic>
      </p:graphicFrame>
      <p:sp>
        <p:nvSpPr>
          <p:cNvPr id="495" name="Google Shape;495;p52"/>
          <p:cNvSpPr txBox="1"/>
          <p:nvPr/>
        </p:nvSpPr>
        <p:spPr>
          <a:xfrm>
            <a:off x="416574" y="363844"/>
            <a:ext cx="831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rPr b="1" lang="en" sz="2400">
                <a:solidFill>
                  <a:srgbClr val="3367D6"/>
                </a:solidFill>
                <a:latin typeface="Open Sans"/>
                <a:ea typeface="Open Sans"/>
                <a:cs typeface="Open Sans"/>
                <a:sym typeface="Open Sans"/>
              </a:rPr>
              <a:t>LTV Level 2: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Looking at LTV by Acquisition Channel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rPr lang="en" sz="1200">
                <a:latin typeface="Open Sans SemiBold"/>
                <a:ea typeface="Open Sans SemiBold"/>
                <a:cs typeface="Open Sans SemiBold"/>
                <a:sym typeface="Open Sans SemiBold"/>
              </a:rPr>
              <a:t>Learn your most valuable devices</a:t>
            </a:r>
            <a:endParaRPr sz="1200"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sz="1200"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descr="Google_2015_logo.svg.png" id="496" name="Google Shape;49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2903" y="4752956"/>
            <a:ext cx="686385" cy="231998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52"/>
          <p:cNvSpPr txBox="1"/>
          <p:nvPr/>
        </p:nvSpPr>
        <p:spPr>
          <a:xfrm>
            <a:off x="7887400" y="0"/>
            <a:ext cx="1210200" cy="3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2" name="Google Shape;502;p53"/>
          <p:cNvGraphicFramePr/>
          <p:nvPr/>
        </p:nvGraphicFramePr>
        <p:xfrm>
          <a:off x="893755" y="1434802"/>
          <a:ext cx="3000000" cy="3000000"/>
        </p:xfrm>
        <a:graphic>
          <a:graphicData uri="http://schemas.openxmlformats.org/drawingml/2006/table">
            <a:tbl>
              <a:tblPr bandRow="1" firstCol="1" firstRow="1" lastRow="1">
                <a:noFill/>
                <a:tableStyleId>{D6E7607B-8E88-452B-8DA0-4DBCB9460987}</a:tableStyleId>
              </a:tblPr>
              <a:tblGrid>
                <a:gridCol w="1839125"/>
                <a:gridCol w="1839125"/>
                <a:gridCol w="1839125"/>
                <a:gridCol w="1839125"/>
              </a:tblGrid>
              <a:tr h="45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First Product Category Purchased</a:t>
                      </a:r>
                      <a:endParaRPr b="0" i="0" sz="1100" u="none" cap="none" strike="noStrik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One Year Expected Value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Future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Customer Value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Percent of Total Equity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Romantic Comedy Lovers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$150.00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$51,000,000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64%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EFEFEF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Horror Film Lovers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$77.99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$18,000,000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22.5%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Action Lovers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i="0" lang="en" sz="1100" u="none" cap="none" strike="noStrike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</a:t>
                      </a: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52.10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$6,000,000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7.5%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Drama Lovers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$19.72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$4,000,000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5%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Other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$12.00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$4,</a:t>
                      </a: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000</a:t>
                      </a: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5%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</a:tr>
              <a:tr h="455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i="0" lang="en" sz="11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</a:t>
                      </a: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140.00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i="0" lang="en" sz="11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</a:t>
                      </a: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80,000,000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100%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</a:tr>
            </a:tbl>
          </a:graphicData>
        </a:graphic>
      </p:graphicFrame>
      <p:sp>
        <p:nvSpPr>
          <p:cNvPr id="503" name="Google Shape;503;p53"/>
          <p:cNvSpPr txBox="1"/>
          <p:nvPr/>
        </p:nvSpPr>
        <p:spPr>
          <a:xfrm>
            <a:off x="416575" y="211447"/>
            <a:ext cx="83094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rPr b="1" lang="en" sz="2400">
                <a:solidFill>
                  <a:srgbClr val="4A86E8"/>
                </a:solidFill>
                <a:latin typeface="Open Sans"/>
                <a:ea typeface="Open Sans"/>
                <a:cs typeface="Open Sans"/>
                <a:sym typeface="Open Sans"/>
              </a:rPr>
              <a:t>LTV Level 3: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Segmenting customers differently, looking for additional insights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This chart below looks at what brought in the top 20% of customers. </a:t>
            </a:r>
            <a:endParaRPr sz="1200">
              <a:solidFill>
                <a:schemeClr val="dk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sz="1200"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descr="Google_2015_logo.svg.png" id="504" name="Google Shape;50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2903" y="4752956"/>
            <a:ext cx="686385" cy="231998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53"/>
          <p:cNvSpPr txBox="1"/>
          <p:nvPr/>
        </p:nvSpPr>
        <p:spPr>
          <a:xfrm>
            <a:off x="2741725" y="694675"/>
            <a:ext cx="42567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53"/>
          <p:cNvSpPr txBox="1"/>
          <p:nvPr/>
        </p:nvSpPr>
        <p:spPr>
          <a:xfrm>
            <a:off x="7814375" y="292125"/>
            <a:ext cx="1210200" cy="3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1" name="Google Shape;511;p54"/>
          <p:cNvGraphicFramePr/>
          <p:nvPr/>
        </p:nvGraphicFramePr>
        <p:xfrm>
          <a:off x="893755" y="1434802"/>
          <a:ext cx="3000000" cy="3000000"/>
        </p:xfrm>
        <a:graphic>
          <a:graphicData uri="http://schemas.openxmlformats.org/drawingml/2006/table">
            <a:tbl>
              <a:tblPr bandRow="1" firstCol="1" firstRow="1" lastRow="1">
                <a:noFill/>
                <a:tableStyleId>{D6E7607B-8E88-452B-8DA0-4DBCB9460987}</a:tableStyleId>
              </a:tblPr>
              <a:tblGrid>
                <a:gridCol w="1471300"/>
                <a:gridCol w="1471300"/>
                <a:gridCol w="1471300"/>
                <a:gridCol w="1471300"/>
                <a:gridCol w="1471300"/>
              </a:tblGrid>
              <a:tr h="45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First Product Category Purchased</a:t>
                      </a:r>
                      <a:endParaRPr b="0" i="0" sz="1100" u="none" cap="none" strike="noStrik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One Year Expected Value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Future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Customer Value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Percent of Total Equity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Chance of Churn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Romantic Comedy Lovers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$150.00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$51,000,000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64%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40%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EFEFEF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Horror Film Lovers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$77.99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$18,000,000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22.5%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10%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Action Lovers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i="0" lang="en" sz="1100" u="none" cap="none" strike="noStrike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</a:t>
                      </a: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52.10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$6,000,000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7.5%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10%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Drama Lovers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$19.72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$4,000,000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5%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10%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Other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$12.00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$4,000,000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5%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10%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</a:tr>
              <a:tr h="455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i="0" lang="en" sz="11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</a:t>
                      </a: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140.00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i="0" lang="en" sz="11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</a:t>
                      </a: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80,000,000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100%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20%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</a:tr>
            </a:tbl>
          </a:graphicData>
        </a:graphic>
      </p:graphicFrame>
      <p:sp>
        <p:nvSpPr>
          <p:cNvPr id="512" name="Google Shape;512;p54"/>
          <p:cNvSpPr txBox="1"/>
          <p:nvPr/>
        </p:nvSpPr>
        <p:spPr>
          <a:xfrm>
            <a:off x="416575" y="211447"/>
            <a:ext cx="83094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rPr b="1" lang="en" sz="2400">
                <a:solidFill>
                  <a:srgbClr val="4A86E8"/>
                </a:solidFill>
                <a:latin typeface="Open Sans"/>
                <a:ea typeface="Open Sans"/>
                <a:cs typeface="Open Sans"/>
                <a:sym typeface="Open Sans"/>
              </a:rPr>
              <a:t>LTV Level 3: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Segmenting customers differently, looking for additional insights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This chart below looks at what brought in the top 20% of customers. </a:t>
            </a:r>
            <a:endParaRPr sz="1200">
              <a:solidFill>
                <a:schemeClr val="dk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sz="1200"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descr="Google_2015_logo.svg.png" id="513" name="Google Shape;51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2903" y="4752956"/>
            <a:ext cx="686385" cy="231998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54"/>
          <p:cNvSpPr txBox="1"/>
          <p:nvPr/>
        </p:nvSpPr>
        <p:spPr>
          <a:xfrm>
            <a:off x="2741725" y="694675"/>
            <a:ext cx="42567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54"/>
          <p:cNvSpPr txBox="1"/>
          <p:nvPr/>
        </p:nvSpPr>
        <p:spPr>
          <a:xfrm>
            <a:off x="7814375" y="292125"/>
            <a:ext cx="1210200" cy="3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0" name="Google Shape;520;p55"/>
          <p:cNvGraphicFramePr/>
          <p:nvPr/>
        </p:nvGraphicFramePr>
        <p:xfrm>
          <a:off x="817555" y="1587202"/>
          <a:ext cx="3000000" cy="3000000"/>
        </p:xfrm>
        <a:graphic>
          <a:graphicData uri="http://schemas.openxmlformats.org/drawingml/2006/table">
            <a:tbl>
              <a:tblPr bandRow="1" firstCol="1" firstRow="1" lastRow="1">
                <a:noFill/>
                <a:tableStyleId>{D6E7607B-8E88-452B-8DA0-4DBCB9460987}</a:tableStyleId>
              </a:tblPr>
              <a:tblGrid>
                <a:gridCol w="1839125"/>
                <a:gridCol w="1839125"/>
                <a:gridCol w="1839125"/>
                <a:gridCol w="1839125"/>
              </a:tblGrid>
              <a:tr h="45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Most often category purchased</a:t>
                      </a:r>
                      <a:endParaRPr b="0" i="0" sz="1100" u="none" cap="none" strike="noStrik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One Year Expected Value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Future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Customer Value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Percent of Total Equity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>
                    <a:solidFill>
                      <a:srgbClr val="000000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Romantic Comedy Lovers</a:t>
                      </a:r>
                      <a:endParaRPr b="0" sz="1100">
                        <a:solidFill>
                          <a:schemeClr val="dk1"/>
                        </a:solidFill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$250.00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$31,000,000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39%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EFEFEF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Action Lovers</a:t>
                      </a:r>
                      <a:endParaRPr b="0" sz="1100">
                        <a:solidFill>
                          <a:schemeClr val="dk1"/>
                        </a:solidFill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$65.73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$29,000,000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36%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Drama Lovers</a:t>
                      </a:r>
                      <a:endParaRPr b="0" sz="1100">
                        <a:solidFill>
                          <a:schemeClr val="dk1"/>
                        </a:solidFill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i="0" lang="en" sz="1100" u="none" cap="none" strike="noStrike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</a:t>
                      </a: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51.10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$11,000,000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14%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Other</a:t>
                      </a:r>
                      <a:endParaRPr b="0"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$18.40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$5,000,000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6%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FFFFF"/>
                    </a:solidFill>
                  </a:tcPr>
                </a:tc>
              </a:tr>
              <a:tr h="357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Montserrat"/>
                        <a:buNone/>
                      </a:pPr>
                      <a:r>
                        <a:rPr b="0" lang="en" sz="1100">
                          <a:solidFill>
                            <a:schemeClr val="dk1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Horror Film Lovers</a:t>
                      </a:r>
                      <a:endParaRPr b="0" sz="1100">
                        <a:solidFill>
                          <a:schemeClr val="dk1"/>
                        </a:solidFill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$10.00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$4,000,000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7150" marB="7150" marR="10725" marL="107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lang="en" sz="11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5%</a:t>
                      </a:r>
                      <a:endParaRPr sz="11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5525" marB="15525" marR="15525" marL="15525" anchor="ctr">
                    <a:solidFill>
                      <a:srgbClr val="F3F3F3"/>
                    </a:solidFill>
                  </a:tcPr>
                </a:tc>
              </a:tr>
              <a:tr h="455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i="0" lang="en" sz="11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</a:t>
                      </a: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140.00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i="0" lang="en" sz="11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</a:t>
                      </a: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80,000,000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Montserrat"/>
                        <a:buNone/>
                      </a:pPr>
                      <a:r>
                        <a:rPr b="0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100%</a:t>
                      </a:r>
                      <a:endParaRPr b="0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525" marB="15525" marR="15525" marL="15525" anchor="ctr"/>
                </a:tc>
              </a:tr>
            </a:tbl>
          </a:graphicData>
        </a:graphic>
      </p:graphicFrame>
      <p:sp>
        <p:nvSpPr>
          <p:cNvPr id="521" name="Google Shape;521;p55"/>
          <p:cNvSpPr txBox="1"/>
          <p:nvPr/>
        </p:nvSpPr>
        <p:spPr>
          <a:xfrm>
            <a:off x="416575" y="211447"/>
            <a:ext cx="83094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rPr b="1" lang="en" sz="2400">
                <a:solidFill>
                  <a:srgbClr val="4A86E8"/>
                </a:solidFill>
                <a:latin typeface="Open Sans"/>
                <a:ea typeface="Open Sans"/>
                <a:cs typeface="Open Sans"/>
                <a:sym typeface="Open Sans"/>
              </a:rPr>
              <a:t>LTV Level 3: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Segmenting customers differently, looking for additional insights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This answers what product types brought your best customers coming back.</a:t>
            </a:r>
            <a:endParaRPr sz="1200">
              <a:solidFill>
                <a:schemeClr val="dk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sz="1200"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descr="Google_2015_logo.svg.png" id="522" name="Google Shape;52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2903" y="4752956"/>
            <a:ext cx="686385" cy="231998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55"/>
          <p:cNvSpPr txBox="1"/>
          <p:nvPr/>
        </p:nvSpPr>
        <p:spPr>
          <a:xfrm>
            <a:off x="7814375" y="292125"/>
            <a:ext cx="1210200" cy="3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6"/>
          <p:cNvSpPr txBox="1"/>
          <p:nvPr>
            <p:ph idx="4294967295" type="title"/>
          </p:nvPr>
        </p:nvSpPr>
        <p:spPr>
          <a:xfrm>
            <a:off x="454225" y="445025"/>
            <a:ext cx="824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chemeClr val="dk2"/>
                </a:solidFill>
              </a:rPr>
              <a:t>Understanding</a:t>
            </a:r>
            <a:r>
              <a:rPr lang="en" sz="2600">
                <a:solidFill>
                  <a:schemeClr val="dk2"/>
                </a:solidFill>
              </a:rPr>
              <a:t> LTV allows you to segment your customer base, and tailor your approach.</a:t>
            </a:r>
            <a:endParaRPr/>
          </a:p>
        </p:txBody>
      </p:sp>
      <p:sp>
        <p:nvSpPr>
          <p:cNvPr id="529" name="Google Shape;529;p56"/>
          <p:cNvSpPr/>
          <p:nvPr/>
        </p:nvSpPr>
        <p:spPr>
          <a:xfrm>
            <a:off x="3534675" y="2519176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56"/>
          <p:cNvSpPr/>
          <p:nvPr/>
        </p:nvSpPr>
        <p:spPr>
          <a:xfrm>
            <a:off x="3749655" y="2519176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56"/>
          <p:cNvSpPr/>
          <p:nvPr/>
        </p:nvSpPr>
        <p:spPr>
          <a:xfrm>
            <a:off x="3964636" y="2519176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56"/>
          <p:cNvSpPr/>
          <p:nvPr/>
        </p:nvSpPr>
        <p:spPr>
          <a:xfrm>
            <a:off x="4179616" y="2519176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56"/>
          <p:cNvSpPr/>
          <p:nvPr/>
        </p:nvSpPr>
        <p:spPr>
          <a:xfrm>
            <a:off x="4394597" y="2519176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56"/>
          <p:cNvSpPr/>
          <p:nvPr/>
        </p:nvSpPr>
        <p:spPr>
          <a:xfrm>
            <a:off x="4609578" y="2519176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56"/>
          <p:cNvSpPr/>
          <p:nvPr/>
        </p:nvSpPr>
        <p:spPr>
          <a:xfrm>
            <a:off x="4824558" y="2519176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56"/>
          <p:cNvSpPr/>
          <p:nvPr/>
        </p:nvSpPr>
        <p:spPr>
          <a:xfrm>
            <a:off x="5039539" y="2519176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56"/>
          <p:cNvSpPr/>
          <p:nvPr/>
        </p:nvSpPr>
        <p:spPr>
          <a:xfrm>
            <a:off x="5254519" y="2519176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56"/>
          <p:cNvSpPr/>
          <p:nvPr/>
        </p:nvSpPr>
        <p:spPr>
          <a:xfrm>
            <a:off x="5469500" y="2519176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56"/>
          <p:cNvSpPr/>
          <p:nvPr/>
        </p:nvSpPr>
        <p:spPr>
          <a:xfrm>
            <a:off x="3534675" y="2781865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56"/>
          <p:cNvSpPr/>
          <p:nvPr/>
        </p:nvSpPr>
        <p:spPr>
          <a:xfrm>
            <a:off x="3749655" y="2781865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56"/>
          <p:cNvSpPr/>
          <p:nvPr/>
        </p:nvSpPr>
        <p:spPr>
          <a:xfrm>
            <a:off x="3964636" y="2781865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56"/>
          <p:cNvSpPr/>
          <p:nvPr/>
        </p:nvSpPr>
        <p:spPr>
          <a:xfrm>
            <a:off x="4179616" y="2781865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56"/>
          <p:cNvSpPr/>
          <p:nvPr/>
        </p:nvSpPr>
        <p:spPr>
          <a:xfrm>
            <a:off x="4394597" y="2781865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56"/>
          <p:cNvSpPr/>
          <p:nvPr/>
        </p:nvSpPr>
        <p:spPr>
          <a:xfrm>
            <a:off x="4609578" y="2781865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56"/>
          <p:cNvSpPr/>
          <p:nvPr/>
        </p:nvSpPr>
        <p:spPr>
          <a:xfrm>
            <a:off x="4824558" y="2781865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56"/>
          <p:cNvSpPr/>
          <p:nvPr/>
        </p:nvSpPr>
        <p:spPr>
          <a:xfrm>
            <a:off x="5039539" y="2781865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56"/>
          <p:cNvSpPr/>
          <p:nvPr/>
        </p:nvSpPr>
        <p:spPr>
          <a:xfrm>
            <a:off x="5254519" y="2781865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56"/>
          <p:cNvSpPr/>
          <p:nvPr/>
        </p:nvSpPr>
        <p:spPr>
          <a:xfrm>
            <a:off x="5469500" y="2781865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56"/>
          <p:cNvSpPr/>
          <p:nvPr/>
        </p:nvSpPr>
        <p:spPr>
          <a:xfrm>
            <a:off x="3534675" y="3044553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56"/>
          <p:cNvSpPr/>
          <p:nvPr/>
        </p:nvSpPr>
        <p:spPr>
          <a:xfrm>
            <a:off x="3749655" y="3044553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56"/>
          <p:cNvSpPr/>
          <p:nvPr/>
        </p:nvSpPr>
        <p:spPr>
          <a:xfrm>
            <a:off x="3964636" y="3044553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56"/>
          <p:cNvSpPr/>
          <p:nvPr/>
        </p:nvSpPr>
        <p:spPr>
          <a:xfrm>
            <a:off x="4179616" y="3044553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56"/>
          <p:cNvSpPr/>
          <p:nvPr/>
        </p:nvSpPr>
        <p:spPr>
          <a:xfrm>
            <a:off x="4394597" y="3044553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56"/>
          <p:cNvSpPr/>
          <p:nvPr/>
        </p:nvSpPr>
        <p:spPr>
          <a:xfrm>
            <a:off x="4609578" y="3044553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56"/>
          <p:cNvSpPr/>
          <p:nvPr/>
        </p:nvSpPr>
        <p:spPr>
          <a:xfrm>
            <a:off x="4824558" y="3044553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56"/>
          <p:cNvSpPr/>
          <p:nvPr/>
        </p:nvSpPr>
        <p:spPr>
          <a:xfrm>
            <a:off x="5039539" y="3044553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56"/>
          <p:cNvSpPr/>
          <p:nvPr/>
        </p:nvSpPr>
        <p:spPr>
          <a:xfrm>
            <a:off x="5254519" y="3044553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56"/>
          <p:cNvSpPr/>
          <p:nvPr/>
        </p:nvSpPr>
        <p:spPr>
          <a:xfrm>
            <a:off x="5469500" y="3044553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56"/>
          <p:cNvSpPr/>
          <p:nvPr/>
        </p:nvSpPr>
        <p:spPr>
          <a:xfrm>
            <a:off x="3534675" y="3307241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56"/>
          <p:cNvSpPr/>
          <p:nvPr/>
        </p:nvSpPr>
        <p:spPr>
          <a:xfrm>
            <a:off x="3749655" y="3307241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56"/>
          <p:cNvSpPr/>
          <p:nvPr/>
        </p:nvSpPr>
        <p:spPr>
          <a:xfrm>
            <a:off x="3964636" y="3307241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56"/>
          <p:cNvSpPr/>
          <p:nvPr/>
        </p:nvSpPr>
        <p:spPr>
          <a:xfrm>
            <a:off x="4179616" y="3307241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56"/>
          <p:cNvSpPr/>
          <p:nvPr/>
        </p:nvSpPr>
        <p:spPr>
          <a:xfrm>
            <a:off x="4394597" y="3307241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56"/>
          <p:cNvSpPr/>
          <p:nvPr/>
        </p:nvSpPr>
        <p:spPr>
          <a:xfrm>
            <a:off x="4609578" y="3307241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56"/>
          <p:cNvSpPr/>
          <p:nvPr/>
        </p:nvSpPr>
        <p:spPr>
          <a:xfrm>
            <a:off x="4824558" y="3307241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56"/>
          <p:cNvSpPr/>
          <p:nvPr/>
        </p:nvSpPr>
        <p:spPr>
          <a:xfrm>
            <a:off x="5039539" y="3307241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56"/>
          <p:cNvSpPr/>
          <p:nvPr/>
        </p:nvSpPr>
        <p:spPr>
          <a:xfrm>
            <a:off x="5254519" y="3307241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56"/>
          <p:cNvSpPr/>
          <p:nvPr/>
        </p:nvSpPr>
        <p:spPr>
          <a:xfrm>
            <a:off x="5469500" y="3307241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56"/>
          <p:cNvSpPr/>
          <p:nvPr/>
        </p:nvSpPr>
        <p:spPr>
          <a:xfrm>
            <a:off x="3534675" y="3569929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56"/>
          <p:cNvSpPr/>
          <p:nvPr/>
        </p:nvSpPr>
        <p:spPr>
          <a:xfrm>
            <a:off x="3749655" y="3569929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56"/>
          <p:cNvSpPr/>
          <p:nvPr/>
        </p:nvSpPr>
        <p:spPr>
          <a:xfrm>
            <a:off x="3964636" y="3569929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56"/>
          <p:cNvSpPr/>
          <p:nvPr/>
        </p:nvSpPr>
        <p:spPr>
          <a:xfrm>
            <a:off x="4179616" y="3569929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56"/>
          <p:cNvSpPr/>
          <p:nvPr/>
        </p:nvSpPr>
        <p:spPr>
          <a:xfrm>
            <a:off x="4394597" y="3569929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56"/>
          <p:cNvSpPr/>
          <p:nvPr/>
        </p:nvSpPr>
        <p:spPr>
          <a:xfrm>
            <a:off x="4609578" y="3569929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56"/>
          <p:cNvSpPr/>
          <p:nvPr/>
        </p:nvSpPr>
        <p:spPr>
          <a:xfrm>
            <a:off x="4824558" y="3569929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56"/>
          <p:cNvSpPr/>
          <p:nvPr/>
        </p:nvSpPr>
        <p:spPr>
          <a:xfrm>
            <a:off x="5039539" y="3569929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56"/>
          <p:cNvSpPr/>
          <p:nvPr/>
        </p:nvSpPr>
        <p:spPr>
          <a:xfrm>
            <a:off x="5254519" y="3569929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56"/>
          <p:cNvSpPr/>
          <p:nvPr/>
        </p:nvSpPr>
        <p:spPr>
          <a:xfrm>
            <a:off x="5469500" y="3569929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56"/>
          <p:cNvSpPr/>
          <p:nvPr/>
        </p:nvSpPr>
        <p:spPr>
          <a:xfrm>
            <a:off x="3534675" y="3832617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56"/>
          <p:cNvSpPr/>
          <p:nvPr/>
        </p:nvSpPr>
        <p:spPr>
          <a:xfrm>
            <a:off x="3749655" y="3832617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56"/>
          <p:cNvSpPr/>
          <p:nvPr/>
        </p:nvSpPr>
        <p:spPr>
          <a:xfrm>
            <a:off x="3964636" y="3832617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56"/>
          <p:cNvSpPr/>
          <p:nvPr/>
        </p:nvSpPr>
        <p:spPr>
          <a:xfrm>
            <a:off x="4179616" y="3832617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56"/>
          <p:cNvSpPr/>
          <p:nvPr/>
        </p:nvSpPr>
        <p:spPr>
          <a:xfrm>
            <a:off x="4394597" y="3832617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56"/>
          <p:cNvSpPr/>
          <p:nvPr/>
        </p:nvSpPr>
        <p:spPr>
          <a:xfrm>
            <a:off x="4609578" y="3832617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56"/>
          <p:cNvSpPr/>
          <p:nvPr/>
        </p:nvSpPr>
        <p:spPr>
          <a:xfrm>
            <a:off x="4824558" y="3832617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56"/>
          <p:cNvSpPr/>
          <p:nvPr/>
        </p:nvSpPr>
        <p:spPr>
          <a:xfrm>
            <a:off x="5039539" y="3832617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56"/>
          <p:cNvSpPr/>
          <p:nvPr/>
        </p:nvSpPr>
        <p:spPr>
          <a:xfrm>
            <a:off x="5254519" y="3832617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56"/>
          <p:cNvSpPr/>
          <p:nvPr/>
        </p:nvSpPr>
        <p:spPr>
          <a:xfrm>
            <a:off x="5469500" y="3832617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56"/>
          <p:cNvSpPr/>
          <p:nvPr/>
        </p:nvSpPr>
        <p:spPr>
          <a:xfrm>
            <a:off x="3534675" y="4095305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56"/>
          <p:cNvSpPr/>
          <p:nvPr/>
        </p:nvSpPr>
        <p:spPr>
          <a:xfrm>
            <a:off x="3749655" y="4095305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56"/>
          <p:cNvSpPr/>
          <p:nvPr/>
        </p:nvSpPr>
        <p:spPr>
          <a:xfrm>
            <a:off x="3964636" y="4095305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56"/>
          <p:cNvSpPr/>
          <p:nvPr/>
        </p:nvSpPr>
        <p:spPr>
          <a:xfrm>
            <a:off x="4179616" y="4095305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56"/>
          <p:cNvSpPr/>
          <p:nvPr/>
        </p:nvSpPr>
        <p:spPr>
          <a:xfrm>
            <a:off x="4394597" y="4095305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56"/>
          <p:cNvSpPr/>
          <p:nvPr/>
        </p:nvSpPr>
        <p:spPr>
          <a:xfrm>
            <a:off x="4609578" y="4095305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56"/>
          <p:cNvSpPr/>
          <p:nvPr/>
        </p:nvSpPr>
        <p:spPr>
          <a:xfrm>
            <a:off x="4824558" y="4095305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56"/>
          <p:cNvSpPr/>
          <p:nvPr/>
        </p:nvSpPr>
        <p:spPr>
          <a:xfrm>
            <a:off x="5039539" y="4095305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56"/>
          <p:cNvSpPr/>
          <p:nvPr/>
        </p:nvSpPr>
        <p:spPr>
          <a:xfrm>
            <a:off x="5254519" y="4095305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56"/>
          <p:cNvSpPr/>
          <p:nvPr/>
        </p:nvSpPr>
        <p:spPr>
          <a:xfrm>
            <a:off x="5469500" y="4095305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56"/>
          <p:cNvSpPr/>
          <p:nvPr/>
        </p:nvSpPr>
        <p:spPr>
          <a:xfrm>
            <a:off x="3534675" y="1993800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A86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56"/>
          <p:cNvSpPr/>
          <p:nvPr/>
        </p:nvSpPr>
        <p:spPr>
          <a:xfrm>
            <a:off x="3749655" y="1993800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A86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56"/>
          <p:cNvSpPr/>
          <p:nvPr/>
        </p:nvSpPr>
        <p:spPr>
          <a:xfrm>
            <a:off x="3964636" y="1993800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A86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56"/>
          <p:cNvSpPr/>
          <p:nvPr/>
        </p:nvSpPr>
        <p:spPr>
          <a:xfrm>
            <a:off x="4179616" y="1993800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A86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56"/>
          <p:cNvSpPr/>
          <p:nvPr/>
        </p:nvSpPr>
        <p:spPr>
          <a:xfrm>
            <a:off x="4394597" y="1993800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A86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56"/>
          <p:cNvSpPr/>
          <p:nvPr/>
        </p:nvSpPr>
        <p:spPr>
          <a:xfrm>
            <a:off x="4609578" y="1993800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A86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56"/>
          <p:cNvSpPr/>
          <p:nvPr/>
        </p:nvSpPr>
        <p:spPr>
          <a:xfrm>
            <a:off x="4824558" y="1993800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A86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56"/>
          <p:cNvSpPr/>
          <p:nvPr/>
        </p:nvSpPr>
        <p:spPr>
          <a:xfrm>
            <a:off x="5039539" y="1993800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A86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56"/>
          <p:cNvSpPr/>
          <p:nvPr/>
        </p:nvSpPr>
        <p:spPr>
          <a:xfrm>
            <a:off x="5254519" y="1993800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A86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56"/>
          <p:cNvSpPr/>
          <p:nvPr/>
        </p:nvSpPr>
        <p:spPr>
          <a:xfrm>
            <a:off x="5469500" y="1993800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48A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56"/>
          <p:cNvSpPr/>
          <p:nvPr/>
        </p:nvSpPr>
        <p:spPr>
          <a:xfrm>
            <a:off x="3534675" y="2256488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56"/>
          <p:cNvSpPr/>
          <p:nvPr/>
        </p:nvSpPr>
        <p:spPr>
          <a:xfrm>
            <a:off x="3749655" y="2256488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56"/>
          <p:cNvSpPr/>
          <p:nvPr/>
        </p:nvSpPr>
        <p:spPr>
          <a:xfrm>
            <a:off x="3964636" y="2256488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56"/>
          <p:cNvSpPr/>
          <p:nvPr/>
        </p:nvSpPr>
        <p:spPr>
          <a:xfrm>
            <a:off x="4179616" y="2256488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56"/>
          <p:cNvSpPr/>
          <p:nvPr/>
        </p:nvSpPr>
        <p:spPr>
          <a:xfrm>
            <a:off x="4394597" y="2256488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56"/>
          <p:cNvSpPr/>
          <p:nvPr/>
        </p:nvSpPr>
        <p:spPr>
          <a:xfrm>
            <a:off x="4609578" y="2256488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56"/>
          <p:cNvSpPr/>
          <p:nvPr/>
        </p:nvSpPr>
        <p:spPr>
          <a:xfrm>
            <a:off x="4824558" y="2256488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56"/>
          <p:cNvSpPr/>
          <p:nvPr/>
        </p:nvSpPr>
        <p:spPr>
          <a:xfrm>
            <a:off x="5039539" y="2256488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56"/>
          <p:cNvSpPr/>
          <p:nvPr/>
        </p:nvSpPr>
        <p:spPr>
          <a:xfrm>
            <a:off x="5254519" y="2256488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56"/>
          <p:cNvSpPr/>
          <p:nvPr/>
        </p:nvSpPr>
        <p:spPr>
          <a:xfrm>
            <a:off x="5469500" y="2256488"/>
            <a:ext cx="181799" cy="176794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9" name="Google Shape;619;p56"/>
          <p:cNvGrpSpPr/>
          <p:nvPr/>
        </p:nvGrpSpPr>
        <p:grpSpPr>
          <a:xfrm>
            <a:off x="6457200" y="1939900"/>
            <a:ext cx="2493225" cy="1779350"/>
            <a:chOff x="6457200" y="1330300"/>
            <a:chExt cx="2493225" cy="1779350"/>
          </a:xfrm>
        </p:grpSpPr>
        <p:sp>
          <p:nvSpPr>
            <p:cNvPr id="620" name="Google Shape;620;p56"/>
            <p:cNvSpPr txBox="1"/>
            <p:nvPr/>
          </p:nvSpPr>
          <p:spPr>
            <a:xfrm>
              <a:off x="6900525" y="2373450"/>
              <a:ext cx="2049900" cy="73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Likely to churn,</a:t>
              </a:r>
              <a:r>
                <a:rPr lang="en" sz="1800">
                  <a:latin typeface="Roboto Light"/>
                  <a:ea typeface="Roboto Light"/>
                  <a:cs typeface="Roboto Light"/>
                  <a:sym typeface="Roboto Light"/>
                </a:rPr>
                <a:t> </a:t>
              </a:r>
              <a:r>
                <a:rPr lang="en" sz="1800">
                  <a:solidFill>
                    <a:srgbClr val="EA4335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incentivise</a:t>
              </a:r>
              <a:endParaRPr sz="1800">
                <a:solidFill>
                  <a:srgbClr val="EA4335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21" name="Google Shape;621;p56"/>
            <p:cNvSpPr txBox="1"/>
            <p:nvPr/>
          </p:nvSpPr>
          <p:spPr>
            <a:xfrm>
              <a:off x="6457200" y="1330300"/>
              <a:ext cx="2340900" cy="9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Good traction,</a:t>
              </a:r>
              <a:r>
                <a:rPr lang="en" sz="1800">
                  <a:latin typeface="Roboto Light"/>
                  <a:ea typeface="Roboto Light"/>
                  <a:cs typeface="Roboto Light"/>
                  <a:sym typeface="Roboto Light"/>
                </a:rPr>
                <a:t> </a:t>
              </a:r>
              <a:r>
                <a:rPr lang="en" sz="1800">
                  <a:solidFill>
                    <a:srgbClr val="34A853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engage</a:t>
              </a:r>
              <a:r>
                <a:rPr lang="en" sz="1800">
                  <a:latin typeface="Roboto Light"/>
                  <a:ea typeface="Roboto Light"/>
                  <a:cs typeface="Roboto Light"/>
                  <a:sym typeface="Roboto Light"/>
                </a:rPr>
                <a:t> </a:t>
              </a:r>
              <a:r>
                <a:rPr lang="en" sz="1800">
                  <a:solidFill>
                    <a:srgbClr val="666666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&amp; </a:t>
              </a:r>
              <a:r>
                <a:rPr lang="en" sz="1800">
                  <a:solidFill>
                    <a:srgbClr val="34A853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upsell</a:t>
              </a:r>
              <a:endParaRPr sz="1800">
                <a:solidFill>
                  <a:srgbClr val="34A853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622" name="Google Shape;622;p56"/>
          <p:cNvSpPr txBox="1"/>
          <p:nvPr/>
        </p:nvSpPr>
        <p:spPr>
          <a:xfrm>
            <a:off x="785375" y="3695575"/>
            <a:ext cx="24045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800"/>
                </a:solidFill>
                <a:latin typeface="Roboto Light"/>
                <a:ea typeface="Roboto Light"/>
                <a:cs typeface="Roboto Light"/>
                <a:sym typeface="Roboto Light"/>
              </a:rPr>
              <a:t>Activate</a:t>
            </a:r>
            <a:r>
              <a:rPr lang="en" sz="1800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endParaRPr sz="18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rPr>
              <a:t>inactive customers</a:t>
            </a:r>
            <a:endParaRPr sz="1800">
              <a:solidFill>
                <a:srgbClr val="666666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23" name="Google Shape;623;p56"/>
          <p:cNvSpPr txBox="1"/>
          <p:nvPr/>
        </p:nvSpPr>
        <p:spPr>
          <a:xfrm>
            <a:off x="579100" y="1965225"/>
            <a:ext cx="21657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A86E8"/>
                </a:solidFill>
                <a:latin typeface="Roboto Light"/>
                <a:ea typeface="Roboto Light"/>
                <a:cs typeface="Roboto Light"/>
                <a:sym typeface="Roboto Light"/>
              </a:rPr>
              <a:t>Acquire</a:t>
            </a:r>
            <a:r>
              <a:rPr lang="en" sz="1800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800"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rPr>
              <a:t>more </a:t>
            </a:r>
            <a:endParaRPr sz="1800">
              <a:solidFill>
                <a:srgbClr val="66666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rPr>
              <a:t>who </a:t>
            </a:r>
            <a:r>
              <a:rPr i="1" lang="en" sz="1800"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rPr>
              <a:t>act</a:t>
            </a:r>
            <a:r>
              <a:rPr lang="en" sz="1800"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rPr>
              <a:t> like them</a:t>
            </a:r>
            <a:endParaRPr sz="1800">
              <a:solidFill>
                <a:srgbClr val="666666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24" name="Google Shape;62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3501541">
            <a:off x="5994909" y="3653475"/>
            <a:ext cx="739999" cy="635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8373366">
            <a:off x="2511089" y="1755309"/>
            <a:ext cx="734388" cy="65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7002501">
            <a:off x="2418272" y="3331223"/>
            <a:ext cx="590055" cy="654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3682038">
            <a:off x="5842481" y="2579795"/>
            <a:ext cx="739994" cy="635301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56"/>
          <p:cNvSpPr txBox="1"/>
          <p:nvPr/>
        </p:nvSpPr>
        <p:spPr>
          <a:xfrm>
            <a:off x="7814375" y="292125"/>
            <a:ext cx="1210200" cy="3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57"/>
          <p:cNvSpPr/>
          <p:nvPr/>
        </p:nvSpPr>
        <p:spPr>
          <a:xfrm>
            <a:off x="431114" y="494972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Tools for </a:t>
            </a:r>
            <a:r>
              <a:rPr lang="en" sz="24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LTV</a:t>
            </a:r>
            <a:r>
              <a:rPr lang="en" sz="24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 Modeling</a:t>
            </a:r>
            <a:endParaRPr sz="2400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634" name="Google Shape;634;p57"/>
          <p:cNvGraphicFramePr/>
          <p:nvPr/>
        </p:nvGraphicFramePr>
        <p:xfrm>
          <a:off x="371250" y="1789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{1A40A965-9C34-4A53-9420-7DB08B696BDB}</a:tableStyleId>
              </a:tblPr>
              <a:tblGrid>
                <a:gridCol w="2800500"/>
                <a:gridCol w="2800500"/>
                <a:gridCol w="2800500"/>
              </a:tblGrid>
              <a:tr h="51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4285F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BTYD</a:t>
                      </a:r>
                      <a:endParaRPr b="1">
                        <a:solidFill>
                          <a:srgbClr val="4285F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4285F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Survival Analysis</a:t>
                      </a:r>
                      <a:endParaRPr b="1">
                        <a:solidFill>
                          <a:srgbClr val="4285F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4285F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Feature Selection</a:t>
                      </a:r>
                      <a:endParaRPr b="1">
                        <a:solidFill>
                          <a:srgbClr val="4285F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5F63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 recency/frequency/value models to extrapolate lifetime value in non-contractual setting. </a:t>
                      </a:r>
                      <a:endParaRPr sz="1100">
                        <a:solidFill>
                          <a:srgbClr val="5F636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5F636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lifetimes</a:t>
                      </a:r>
                      <a:endParaRPr sz="1100">
                        <a:solidFill>
                          <a:srgbClr val="5F636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5F63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 predictors to determine probability at time </a:t>
                      </a:r>
                      <a:r>
                        <a:rPr i="1" lang="en" sz="1100">
                          <a:solidFill>
                            <a:srgbClr val="5F63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 </a:t>
                      </a:r>
                      <a:r>
                        <a:rPr lang="en" sz="1100">
                          <a:solidFill>
                            <a:srgbClr val="5F63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 user’s subscription being “alive”. </a:t>
                      </a:r>
                      <a:endParaRPr sz="1100">
                        <a:solidFill>
                          <a:srgbClr val="5F636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5F636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5F636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4"/>
                        </a:rPr>
                        <a:t>lifelines</a:t>
                      </a:r>
                      <a:endParaRPr sz="1100">
                        <a:solidFill>
                          <a:srgbClr val="5F636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5F63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Determine the most important in-app actions that correlate with lifetime value. </a:t>
                      </a:r>
                      <a:endParaRPr sz="1100">
                        <a:solidFill>
                          <a:srgbClr val="5F636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5F636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5F636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5"/>
                        </a:rPr>
                        <a:t>scikit-learn</a:t>
                      </a:r>
                      <a:endParaRPr sz="1100">
                        <a:solidFill>
                          <a:srgbClr val="5F636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5F636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35" name="Google Shape;635;p57"/>
          <p:cNvSpPr txBox="1"/>
          <p:nvPr/>
        </p:nvSpPr>
        <p:spPr>
          <a:xfrm>
            <a:off x="7814375" y="292125"/>
            <a:ext cx="1210200" cy="3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8"/>
          <p:cNvSpPr txBox="1"/>
          <p:nvPr/>
        </p:nvSpPr>
        <p:spPr>
          <a:xfrm>
            <a:off x="5045275" y="1017975"/>
            <a:ext cx="51435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58"/>
          <p:cNvSpPr txBox="1"/>
          <p:nvPr/>
        </p:nvSpPr>
        <p:spPr>
          <a:xfrm>
            <a:off x="514501" y="199325"/>
            <a:ext cx="8629500" cy="8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AB63"/>
                </a:solidFill>
                <a:latin typeface="Roboto"/>
                <a:ea typeface="Roboto"/>
                <a:cs typeface="Roboto"/>
                <a:sym typeface="Roboto"/>
              </a:rPr>
              <a:t>What data is needed for pLTV</a:t>
            </a:r>
            <a:endParaRPr sz="2800">
              <a:solidFill>
                <a:srgbClr val="00AB6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AB6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2" name="Google Shape;64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074" y="1430275"/>
            <a:ext cx="1535225" cy="164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6400" y="1385301"/>
            <a:ext cx="1535226" cy="1535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7950" y="1298388"/>
            <a:ext cx="1752100" cy="175210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58"/>
          <p:cNvSpPr txBox="1"/>
          <p:nvPr/>
        </p:nvSpPr>
        <p:spPr>
          <a:xfrm>
            <a:off x="304038" y="3346350"/>
            <a:ext cx="1995300" cy="9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Unique identifier</a:t>
            </a:r>
            <a:endParaRPr sz="24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58"/>
          <p:cNvSpPr txBox="1"/>
          <p:nvPr/>
        </p:nvSpPr>
        <p:spPr>
          <a:xfrm>
            <a:off x="7079395" y="3291538"/>
            <a:ext cx="1995300" cy="9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Transaction value</a:t>
            </a:r>
            <a:endParaRPr sz="24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7" name="Google Shape;647;p58"/>
          <p:cNvSpPr txBox="1"/>
          <p:nvPr/>
        </p:nvSpPr>
        <p:spPr>
          <a:xfrm>
            <a:off x="4659710" y="3334312"/>
            <a:ext cx="1995300" cy="9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Date of transaction</a:t>
            </a:r>
            <a:endParaRPr sz="24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8" name="Google Shape;648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54350" y="1430275"/>
            <a:ext cx="1566425" cy="1566425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58"/>
          <p:cNvSpPr txBox="1"/>
          <p:nvPr/>
        </p:nvSpPr>
        <p:spPr>
          <a:xfrm>
            <a:off x="2461950" y="3334312"/>
            <a:ext cx="1995300" cy="9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Install Date </a:t>
            </a:r>
            <a:endParaRPr sz="24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58"/>
          <p:cNvSpPr txBox="1"/>
          <p:nvPr/>
        </p:nvSpPr>
        <p:spPr>
          <a:xfrm>
            <a:off x="7814375" y="292125"/>
            <a:ext cx="1210200" cy="3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9"/>
          <p:cNvSpPr txBox="1"/>
          <p:nvPr>
            <p:ph type="title"/>
          </p:nvPr>
        </p:nvSpPr>
        <p:spPr>
          <a:xfrm>
            <a:off x="344501" y="264375"/>
            <a:ext cx="7797000" cy="4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the work worth it? </a:t>
            </a:r>
            <a:endParaRPr/>
          </a:p>
        </p:txBody>
      </p:sp>
      <p:sp>
        <p:nvSpPr>
          <p:cNvPr id="656" name="Google Shape;656;p59"/>
          <p:cNvSpPr/>
          <p:nvPr/>
        </p:nvSpPr>
        <p:spPr>
          <a:xfrm>
            <a:off x="4448250" y="2111400"/>
            <a:ext cx="857100" cy="9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b="1" sz="60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p59"/>
          <p:cNvSpPr/>
          <p:nvPr/>
        </p:nvSpPr>
        <p:spPr>
          <a:xfrm>
            <a:off x="5602800" y="1402950"/>
            <a:ext cx="2810700" cy="23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latin typeface="Roboto"/>
                <a:ea typeface="Roboto"/>
                <a:cs typeface="Roboto"/>
                <a:sym typeface="Roboto"/>
              </a:rPr>
              <a:t>it’s not as hard as it used to be</a:t>
            </a:r>
            <a:endParaRPr i="1" sz="3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8" name="Google Shape;658;p59"/>
          <p:cNvSpPr/>
          <p:nvPr/>
        </p:nvSpPr>
        <p:spPr>
          <a:xfrm>
            <a:off x="314525" y="1378625"/>
            <a:ext cx="3660300" cy="27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i="1" lang="en" sz="1600">
                <a:latin typeface="Roboto"/>
                <a:ea typeface="Roboto"/>
                <a:cs typeface="Roboto"/>
                <a:sym typeface="Roboto"/>
              </a:rPr>
              <a:t>Better decide who to target and who to exclude from targeting</a:t>
            </a:r>
            <a:endParaRPr i="1"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i="1" lang="en" sz="1600">
                <a:latin typeface="Roboto"/>
                <a:ea typeface="Roboto"/>
                <a:cs typeface="Roboto"/>
                <a:sym typeface="Roboto"/>
              </a:rPr>
              <a:t>Refine product/service offering to highest value</a:t>
            </a:r>
            <a:endParaRPr i="1"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i="1" lang="en" sz="1600">
                <a:latin typeface="Roboto"/>
                <a:ea typeface="Roboto"/>
                <a:cs typeface="Roboto"/>
                <a:sym typeface="Roboto"/>
              </a:rPr>
              <a:t>Determine most </a:t>
            </a:r>
            <a:r>
              <a:rPr i="1" lang="en" sz="1600">
                <a:latin typeface="Roboto"/>
                <a:ea typeface="Roboto"/>
                <a:cs typeface="Roboto"/>
                <a:sym typeface="Roboto"/>
              </a:rPr>
              <a:t>efficient</a:t>
            </a:r>
            <a:r>
              <a:rPr i="1" lang="en" sz="1600">
                <a:latin typeface="Roboto"/>
                <a:ea typeface="Roboto"/>
                <a:cs typeface="Roboto"/>
                <a:sym typeface="Roboto"/>
              </a:rPr>
              <a:t> way to drive customer loyalty</a:t>
            </a:r>
            <a:endParaRPr i="1"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i="1" lang="en" sz="1600">
                <a:latin typeface="Roboto"/>
                <a:ea typeface="Roboto"/>
                <a:cs typeface="Roboto"/>
                <a:sym typeface="Roboto"/>
              </a:rPr>
              <a:t>Waste fewer marketing dollars</a:t>
            </a:r>
            <a:endParaRPr i="1"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9" name="Google Shape;659;p59"/>
          <p:cNvSpPr txBox="1"/>
          <p:nvPr/>
        </p:nvSpPr>
        <p:spPr>
          <a:xfrm>
            <a:off x="7814375" y="292125"/>
            <a:ext cx="1210200" cy="3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0"/>
          <p:cNvSpPr txBox="1"/>
          <p:nvPr>
            <p:ph type="title"/>
          </p:nvPr>
        </p:nvSpPr>
        <p:spPr>
          <a:xfrm>
            <a:off x="344501" y="264375"/>
            <a:ext cx="7797000" cy="4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many inputs to a good CLV model</a:t>
            </a:r>
            <a:endParaRPr/>
          </a:p>
        </p:txBody>
      </p:sp>
      <p:sp>
        <p:nvSpPr>
          <p:cNvPr id="665" name="Google Shape;665;p60"/>
          <p:cNvSpPr/>
          <p:nvPr/>
        </p:nvSpPr>
        <p:spPr>
          <a:xfrm>
            <a:off x="807075" y="2376631"/>
            <a:ext cx="2675100" cy="29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First purchase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App Install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Subscription Sign Up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Lead Submitted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Application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60"/>
          <p:cNvSpPr/>
          <p:nvPr/>
        </p:nvSpPr>
        <p:spPr>
          <a:xfrm>
            <a:off x="3569375" y="2376631"/>
            <a:ext cx="2675100" cy="29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1st Repeat Purchase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1st Paid Action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Upgrade Subscription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Lead Closed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Approval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60"/>
          <p:cNvSpPr/>
          <p:nvPr/>
        </p:nvSpPr>
        <p:spPr>
          <a:xfrm>
            <a:off x="6260975" y="2376625"/>
            <a:ext cx="2675100" cy="29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Long term spend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&amp;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Churn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8" name="Google Shape;668;p60"/>
          <p:cNvCxnSpPr/>
          <p:nvPr/>
        </p:nvCxnSpPr>
        <p:spPr>
          <a:xfrm flipH="1" rot="10800000">
            <a:off x="1630399" y="1516377"/>
            <a:ext cx="6497400" cy="3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69" name="Google Shape;669;p60"/>
          <p:cNvSpPr txBox="1"/>
          <p:nvPr/>
        </p:nvSpPr>
        <p:spPr>
          <a:xfrm>
            <a:off x="7171225" y="1666275"/>
            <a:ext cx="20097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High Value Customer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70" name="Google Shape;670;p60"/>
          <p:cNvSpPr/>
          <p:nvPr/>
        </p:nvSpPr>
        <p:spPr>
          <a:xfrm>
            <a:off x="2253185" y="1190075"/>
            <a:ext cx="214126" cy="189045"/>
          </a:xfrm>
          <a:custGeom>
            <a:rect b="b" l="l" r="r" t="t"/>
            <a:pathLst>
              <a:path extrusionOk="0" h="938" w="992">
                <a:moveTo>
                  <a:pt x="399" y="1"/>
                </a:moveTo>
                <a:lnTo>
                  <a:pt x="302" y="33"/>
                </a:lnTo>
                <a:lnTo>
                  <a:pt x="216" y="76"/>
                </a:lnTo>
                <a:lnTo>
                  <a:pt x="141" y="141"/>
                </a:lnTo>
                <a:lnTo>
                  <a:pt x="76" y="216"/>
                </a:lnTo>
                <a:lnTo>
                  <a:pt x="33" y="302"/>
                </a:lnTo>
                <a:lnTo>
                  <a:pt x="11" y="399"/>
                </a:lnTo>
                <a:lnTo>
                  <a:pt x="1" y="496"/>
                </a:lnTo>
                <a:lnTo>
                  <a:pt x="1" y="927"/>
                </a:lnTo>
                <a:lnTo>
                  <a:pt x="130" y="927"/>
                </a:lnTo>
                <a:lnTo>
                  <a:pt x="130" y="496"/>
                </a:lnTo>
                <a:lnTo>
                  <a:pt x="130" y="421"/>
                </a:lnTo>
                <a:lnTo>
                  <a:pt x="152" y="356"/>
                </a:lnTo>
                <a:lnTo>
                  <a:pt x="184" y="291"/>
                </a:lnTo>
                <a:lnTo>
                  <a:pt x="238" y="238"/>
                </a:lnTo>
                <a:lnTo>
                  <a:pt x="292" y="184"/>
                </a:lnTo>
                <a:lnTo>
                  <a:pt x="356" y="151"/>
                </a:lnTo>
                <a:lnTo>
                  <a:pt x="421" y="130"/>
                </a:lnTo>
                <a:lnTo>
                  <a:pt x="572" y="130"/>
                </a:lnTo>
                <a:lnTo>
                  <a:pt x="636" y="151"/>
                </a:lnTo>
                <a:lnTo>
                  <a:pt x="701" y="184"/>
                </a:lnTo>
                <a:lnTo>
                  <a:pt x="755" y="238"/>
                </a:lnTo>
                <a:lnTo>
                  <a:pt x="798" y="291"/>
                </a:lnTo>
                <a:lnTo>
                  <a:pt x="841" y="356"/>
                </a:lnTo>
                <a:lnTo>
                  <a:pt x="863" y="421"/>
                </a:lnTo>
                <a:lnTo>
                  <a:pt x="863" y="496"/>
                </a:lnTo>
                <a:lnTo>
                  <a:pt x="841" y="927"/>
                </a:lnTo>
                <a:lnTo>
                  <a:pt x="970" y="938"/>
                </a:lnTo>
                <a:lnTo>
                  <a:pt x="992" y="496"/>
                </a:lnTo>
                <a:lnTo>
                  <a:pt x="981" y="399"/>
                </a:lnTo>
                <a:lnTo>
                  <a:pt x="960" y="302"/>
                </a:lnTo>
                <a:lnTo>
                  <a:pt x="906" y="216"/>
                </a:lnTo>
                <a:lnTo>
                  <a:pt x="852" y="141"/>
                </a:lnTo>
                <a:lnTo>
                  <a:pt x="776" y="76"/>
                </a:lnTo>
                <a:lnTo>
                  <a:pt x="690" y="33"/>
                </a:lnTo>
                <a:lnTo>
                  <a:pt x="593" y="1"/>
                </a:lnTo>
                <a:close/>
              </a:path>
            </a:pathLst>
          </a:custGeom>
          <a:solidFill>
            <a:srgbClr val="BABF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60"/>
          <p:cNvSpPr/>
          <p:nvPr/>
        </p:nvSpPr>
        <p:spPr>
          <a:xfrm>
            <a:off x="2371904" y="1190075"/>
            <a:ext cx="216500" cy="189045"/>
          </a:xfrm>
          <a:custGeom>
            <a:rect b="b" l="l" r="r" t="t"/>
            <a:pathLst>
              <a:path extrusionOk="0" h="938" w="1003">
                <a:moveTo>
                  <a:pt x="399" y="1"/>
                </a:moveTo>
                <a:lnTo>
                  <a:pt x="302" y="33"/>
                </a:lnTo>
                <a:lnTo>
                  <a:pt x="216" y="76"/>
                </a:lnTo>
                <a:lnTo>
                  <a:pt x="151" y="141"/>
                </a:lnTo>
                <a:lnTo>
                  <a:pt x="86" y="216"/>
                </a:lnTo>
                <a:lnTo>
                  <a:pt x="43" y="302"/>
                </a:lnTo>
                <a:lnTo>
                  <a:pt x="11" y="399"/>
                </a:lnTo>
                <a:lnTo>
                  <a:pt x="0" y="496"/>
                </a:lnTo>
                <a:lnTo>
                  <a:pt x="0" y="927"/>
                </a:lnTo>
                <a:lnTo>
                  <a:pt x="129" y="927"/>
                </a:lnTo>
                <a:lnTo>
                  <a:pt x="129" y="496"/>
                </a:lnTo>
                <a:lnTo>
                  <a:pt x="140" y="421"/>
                </a:lnTo>
                <a:lnTo>
                  <a:pt x="162" y="356"/>
                </a:lnTo>
                <a:lnTo>
                  <a:pt x="194" y="291"/>
                </a:lnTo>
                <a:lnTo>
                  <a:pt x="237" y="238"/>
                </a:lnTo>
                <a:lnTo>
                  <a:pt x="291" y="184"/>
                </a:lnTo>
                <a:lnTo>
                  <a:pt x="356" y="151"/>
                </a:lnTo>
                <a:lnTo>
                  <a:pt x="420" y="130"/>
                </a:lnTo>
                <a:lnTo>
                  <a:pt x="571" y="130"/>
                </a:lnTo>
                <a:lnTo>
                  <a:pt x="647" y="151"/>
                </a:lnTo>
                <a:lnTo>
                  <a:pt x="711" y="184"/>
                </a:lnTo>
                <a:lnTo>
                  <a:pt x="765" y="238"/>
                </a:lnTo>
                <a:lnTo>
                  <a:pt x="808" y="291"/>
                </a:lnTo>
                <a:lnTo>
                  <a:pt x="840" y="356"/>
                </a:lnTo>
                <a:lnTo>
                  <a:pt x="862" y="421"/>
                </a:lnTo>
                <a:lnTo>
                  <a:pt x="873" y="496"/>
                </a:lnTo>
                <a:lnTo>
                  <a:pt x="851" y="927"/>
                </a:lnTo>
                <a:lnTo>
                  <a:pt x="981" y="938"/>
                </a:lnTo>
                <a:lnTo>
                  <a:pt x="1002" y="496"/>
                </a:lnTo>
                <a:lnTo>
                  <a:pt x="991" y="399"/>
                </a:lnTo>
                <a:lnTo>
                  <a:pt x="959" y="302"/>
                </a:lnTo>
                <a:lnTo>
                  <a:pt x="916" y="216"/>
                </a:lnTo>
                <a:lnTo>
                  <a:pt x="851" y="141"/>
                </a:lnTo>
                <a:lnTo>
                  <a:pt x="776" y="76"/>
                </a:lnTo>
                <a:lnTo>
                  <a:pt x="690" y="33"/>
                </a:lnTo>
                <a:lnTo>
                  <a:pt x="603" y="1"/>
                </a:lnTo>
                <a:close/>
              </a:path>
            </a:pathLst>
          </a:custGeom>
          <a:solidFill>
            <a:srgbClr val="DFE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60"/>
          <p:cNvSpPr/>
          <p:nvPr/>
        </p:nvSpPr>
        <p:spPr>
          <a:xfrm>
            <a:off x="2327654" y="1311605"/>
            <a:ext cx="365222" cy="532267"/>
          </a:xfrm>
          <a:custGeom>
            <a:rect b="b" l="l" r="r" t="t"/>
            <a:pathLst>
              <a:path extrusionOk="0" h="2641" w="1692">
                <a:moveTo>
                  <a:pt x="0" y="1"/>
                </a:moveTo>
                <a:lnTo>
                  <a:pt x="0" y="2640"/>
                </a:lnTo>
                <a:lnTo>
                  <a:pt x="1692" y="2640"/>
                </a:lnTo>
                <a:lnTo>
                  <a:pt x="169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60"/>
          <p:cNvSpPr/>
          <p:nvPr/>
        </p:nvSpPr>
        <p:spPr>
          <a:xfrm>
            <a:off x="2327654" y="1311605"/>
            <a:ext cx="365222" cy="532267"/>
          </a:xfrm>
          <a:custGeom>
            <a:rect b="b" l="l" r="r" t="t"/>
            <a:pathLst>
              <a:path extrusionOk="0" h="2641" w="1692">
                <a:moveTo>
                  <a:pt x="0" y="1"/>
                </a:moveTo>
                <a:lnTo>
                  <a:pt x="0" y="2640"/>
                </a:lnTo>
                <a:lnTo>
                  <a:pt x="1692" y="2640"/>
                </a:lnTo>
                <a:lnTo>
                  <a:pt x="1692" y="1"/>
                </a:lnTo>
                <a:close/>
              </a:path>
            </a:pathLst>
          </a:custGeom>
          <a:solidFill>
            <a:srgbClr val="EF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60"/>
          <p:cNvSpPr/>
          <p:nvPr/>
        </p:nvSpPr>
        <p:spPr>
          <a:xfrm>
            <a:off x="2164902" y="1311605"/>
            <a:ext cx="162969" cy="532267"/>
          </a:xfrm>
          <a:custGeom>
            <a:rect b="b" l="l" r="r" t="t"/>
            <a:pathLst>
              <a:path extrusionOk="0" h="2641" w="755">
                <a:moveTo>
                  <a:pt x="0" y="1"/>
                </a:moveTo>
                <a:lnTo>
                  <a:pt x="0" y="2640"/>
                </a:lnTo>
                <a:lnTo>
                  <a:pt x="754" y="2640"/>
                </a:lnTo>
                <a:lnTo>
                  <a:pt x="754" y="1"/>
                </a:lnTo>
                <a:close/>
              </a:path>
            </a:pathLst>
          </a:custGeom>
          <a:solidFill>
            <a:srgbClr val="CDD0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60"/>
          <p:cNvSpPr/>
          <p:nvPr/>
        </p:nvSpPr>
        <p:spPr>
          <a:xfrm>
            <a:off x="2581065" y="1761244"/>
            <a:ext cx="32810" cy="82631"/>
          </a:xfrm>
          <a:custGeom>
            <a:rect b="b" l="l" r="r" t="t"/>
            <a:pathLst>
              <a:path extrusionOk="0" h="410" w="152">
                <a:moveTo>
                  <a:pt x="1" y="0"/>
                </a:moveTo>
                <a:lnTo>
                  <a:pt x="1" y="409"/>
                </a:lnTo>
                <a:lnTo>
                  <a:pt x="152" y="409"/>
                </a:lnTo>
                <a:lnTo>
                  <a:pt x="152" y="0"/>
                </a:lnTo>
                <a:close/>
              </a:path>
            </a:pathLst>
          </a:custGeom>
          <a:solidFill>
            <a:srgbClr val="DF38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60"/>
          <p:cNvSpPr/>
          <p:nvPr/>
        </p:nvSpPr>
        <p:spPr>
          <a:xfrm>
            <a:off x="2381186" y="1370253"/>
            <a:ext cx="32810" cy="299892"/>
          </a:xfrm>
          <a:custGeom>
            <a:rect b="b" l="l" r="r" t="t"/>
            <a:pathLst>
              <a:path extrusionOk="0" h="1488" w="152">
                <a:moveTo>
                  <a:pt x="0" y="1"/>
                </a:moveTo>
                <a:lnTo>
                  <a:pt x="0" y="1488"/>
                </a:lnTo>
                <a:lnTo>
                  <a:pt x="151" y="1488"/>
                </a:lnTo>
                <a:lnTo>
                  <a:pt x="151" y="1"/>
                </a:lnTo>
                <a:close/>
              </a:path>
            </a:pathLst>
          </a:custGeom>
          <a:solidFill>
            <a:srgbClr val="EA7A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60"/>
          <p:cNvSpPr/>
          <p:nvPr/>
        </p:nvSpPr>
        <p:spPr>
          <a:xfrm>
            <a:off x="2164902" y="1311605"/>
            <a:ext cx="83967" cy="532267"/>
          </a:xfrm>
          <a:custGeom>
            <a:rect b="b" l="l" r="r" t="t"/>
            <a:pathLst>
              <a:path extrusionOk="0" h="2641" w="389">
                <a:moveTo>
                  <a:pt x="0" y="1"/>
                </a:moveTo>
                <a:lnTo>
                  <a:pt x="0" y="2640"/>
                </a:lnTo>
                <a:lnTo>
                  <a:pt x="388" y="2640"/>
                </a:lnTo>
                <a:lnTo>
                  <a:pt x="388" y="1"/>
                </a:lnTo>
                <a:close/>
              </a:path>
            </a:pathLst>
          </a:custGeom>
          <a:solidFill>
            <a:srgbClr val="DFE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60"/>
          <p:cNvSpPr/>
          <p:nvPr/>
        </p:nvSpPr>
        <p:spPr>
          <a:xfrm>
            <a:off x="2164902" y="1754593"/>
            <a:ext cx="162969" cy="89282"/>
          </a:xfrm>
          <a:custGeom>
            <a:rect b="b" l="l" r="r" t="t"/>
            <a:pathLst>
              <a:path extrusionOk="0" h="443" w="755">
                <a:moveTo>
                  <a:pt x="388" y="1"/>
                </a:moveTo>
                <a:lnTo>
                  <a:pt x="0" y="442"/>
                </a:lnTo>
                <a:lnTo>
                  <a:pt x="754" y="442"/>
                </a:lnTo>
                <a:lnTo>
                  <a:pt x="388" y="1"/>
                </a:lnTo>
                <a:close/>
              </a:path>
            </a:pathLst>
          </a:custGeom>
          <a:solidFill>
            <a:srgbClr val="EF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60"/>
          <p:cNvSpPr/>
          <p:nvPr/>
        </p:nvSpPr>
        <p:spPr>
          <a:xfrm>
            <a:off x="4603748" y="1199850"/>
            <a:ext cx="214126" cy="189045"/>
          </a:xfrm>
          <a:custGeom>
            <a:rect b="b" l="l" r="r" t="t"/>
            <a:pathLst>
              <a:path extrusionOk="0" h="938" w="992">
                <a:moveTo>
                  <a:pt x="399" y="1"/>
                </a:moveTo>
                <a:lnTo>
                  <a:pt x="302" y="33"/>
                </a:lnTo>
                <a:lnTo>
                  <a:pt x="216" y="76"/>
                </a:lnTo>
                <a:lnTo>
                  <a:pt x="141" y="141"/>
                </a:lnTo>
                <a:lnTo>
                  <a:pt x="76" y="216"/>
                </a:lnTo>
                <a:lnTo>
                  <a:pt x="33" y="302"/>
                </a:lnTo>
                <a:lnTo>
                  <a:pt x="11" y="399"/>
                </a:lnTo>
                <a:lnTo>
                  <a:pt x="1" y="496"/>
                </a:lnTo>
                <a:lnTo>
                  <a:pt x="1" y="927"/>
                </a:lnTo>
                <a:lnTo>
                  <a:pt x="130" y="927"/>
                </a:lnTo>
                <a:lnTo>
                  <a:pt x="130" y="496"/>
                </a:lnTo>
                <a:lnTo>
                  <a:pt x="130" y="421"/>
                </a:lnTo>
                <a:lnTo>
                  <a:pt x="152" y="356"/>
                </a:lnTo>
                <a:lnTo>
                  <a:pt x="184" y="291"/>
                </a:lnTo>
                <a:lnTo>
                  <a:pt x="238" y="238"/>
                </a:lnTo>
                <a:lnTo>
                  <a:pt x="292" y="184"/>
                </a:lnTo>
                <a:lnTo>
                  <a:pt x="356" y="151"/>
                </a:lnTo>
                <a:lnTo>
                  <a:pt x="421" y="130"/>
                </a:lnTo>
                <a:lnTo>
                  <a:pt x="572" y="130"/>
                </a:lnTo>
                <a:lnTo>
                  <a:pt x="636" y="151"/>
                </a:lnTo>
                <a:lnTo>
                  <a:pt x="701" y="184"/>
                </a:lnTo>
                <a:lnTo>
                  <a:pt x="755" y="238"/>
                </a:lnTo>
                <a:lnTo>
                  <a:pt x="798" y="291"/>
                </a:lnTo>
                <a:lnTo>
                  <a:pt x="841" y="356"/>
                </a:lnTo>
                <a:lnTo>
                  <a:pt x="863" y="421"/>
                </a:lnTo>
                <a:lnTo>
                  <a:pt x="863" y="496"/>
                </a:lnTo>
                <a:lnTo>
                  <a:pt x="841" y="927"/>
                </a:lnTo>
                <a:lnTo>
                  <a:pt x="970" y="938"/>
                </a:lnTo>
                <a:lnTo>
                  <a:pt x="992" y="496"/>
                </a:lnTo>
                <a:lnTo>
                  <a:pt x="981" y="399"/>
                </a:lnTo>
                <a:lnTo>
                  <a:pt x="960" y="302"/>
                </a:lnTo>
                <a:lnTo>
                  <a:pt x="906" y="216"/>
                </a:lnTo>
                <a:lnTo>
                  <a:pt x="852" y="141"/>
                </a:lnTo>
                <a:lnTo>
                  <a:pt x="776" y="76"/>
                </a:lnTo>
                <a:lnTo>
                  <a:pt x="690" y="33"/>
                </a:lnTo>
                <a:lnTo>
                  <a:pt x="593" y="1"/>
                </a:lnTo>
                <a:close/>
              </a:path>
            </a:pathLst>
          </a:custGeom>
          <a:solidFill>
            <a:srgbClr val="BABF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60"/>
          <p:cNvSpPr/>
          <p:nvPr/>
        </p:nvSpPr>
        <p:spPr>
          <a:xfrm>
            <a:off x="4722467" y="1199850"/>
            <a:ext cx="216500" cy="189045"/>
          </a:xfrm>
          <a:custGeom>
            <a:rect b="b" l="l" r="r" t="t"/>
            <a:pathLst>
              <a:path extrusionOk="0" h="938" w="1003">
                <a:moveTo>
                  <a:pt x="399" y="1"/>
                </a:moveTo>
                <a:lnTo>
                  <a:pt x="302" y="33"/>
                </a:lnTo>
                <a:lnTo>
                  <a:pt x="216" y="76"/>
                </a:lnTo>
                <a:lnTo>
                  <a:pt x="151" y="141"/>
                </a:lnTo>
                <a:lnTo>
                  <a:pt x="86" y="216"/>
                </a:lnTo>
                <a:lnTo>
                  <a:pt x="43" y="302"/>
                </a:lnTo>
                <a:lnTo>
                  <a:pt x="11" y="399"/>
                </a:lnTo>
                <a:lnTo>
                  <a:pt x="0" y="496"/>
                </a:lnTo>
                <a:lnTo>
                  <a:pt x="0" y="927"/>
                </a:lnTo>
                <a:lnTo>
                  <a:pt x="129" y="927"/>
                </a:lnTo>
                <a:lnTo>
                  <a:pt x="129" y="496"/>
                </a:lnTo>
                <a:lnTo>
                  <a:pt x="140" y="421"/>
                </a:lnTo>
                <a:lnTo>
                  <a:pt x="162" y="356"/>
                </a:lnTo>
                <a:lnTo>
                  <a:pt x="194" y="291"/>
                </a:lnTo>
                <a:lnTo>
                  <a:pt x="237" y="238"/>
                </a:lnTo>
                <a:lnTo>
                  <a:pt x="291" y="184"/>
                </a:lnTo>
                <a:lnTo>
                  <a:pt x="356" y="151"/>
                </a:lnTo>
                <a:lnTo>
                  <a:pt x="420" y="130"/>
                </a:lnTo>
                <a:lnTo>
                  <a:pt x="571" y="130"/>
                </a:lnTo>
                <a:lnTo>
                  <a:pt x="647" y="151"/>
                </a:lnTo>
                <a:lnTo>
                  <a:pt x="711" y="184"/>
                </a:lnTo>
                <a:lnTo>
                  <a:pt x="765" y="238"/>
                </a:lnTo>
                <a:lnTo>
                  <a:pt x="808" y="291"/>
                </a:lnTo>
                <a:lnTo>
                  <a:pt x="840" y="356"/>
                </a:lnTo>
                <a:lnTo>
                  <a:pt x="862" y="421"/>
                </a:lnTo>
                <a:lnTo>
                  <a:pt x="873" y="496"/>
                </a:lnTo>
                <a:lnTo>
                  <a:pt x="851" y="927"/>
                </a:lnTo>
                <a:lnTo>
                  <a:pt x="981" y="938"/>
                </a:lnTo>
                <a:lnTo>
                  <a:pt x="1002" y="496"/>
                </a:lnTo>
                <a:lnTo>
                  <a:pt x="991" y="399"/>
                </a:lnTo>
                <a:lnTo>
                  <a:pt x="959" y="302"/>
                </a:lnTo>
                <a:lnTo>
                  <a:pt x="916" y="216"/>
                </a:lnTo>
                <a:lnTo>
                  <a:pt x="851" y="141"/>
                </a:lnTo>
                <a:lnTo>
                  <a:pt x="776" y="76"/>
                </a:lnTo>
                <a:lnTo>
                  <a:pt x="690" y="33"/>
                </a:lnTo>
                <a:lnTo>
                  <a:pt x="603" y="1"/>
                </a:lnTo>
                <a:close/>
              </a:path>
            </a:pathLst>
          </a:custGeom>
          <a:solidFill>
            <a:srgbClr val="DFE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60"/>
          <p:cNvSpPr/>
          <p:nvPr/>
        </p:nvSpPr>
        <p:spPr>
          <a:xfrm>
            <a:off x="4678217" y="1321380"/>
            <a:ext cx="365222" cy="532267"/>
          </a:xfrm>
          <a:custGeom>
            <a:rect b="b" l="l" r="r" t="t"/>
            <a:pathLst>
              <a:path extrusionOk="0" h="2641" w="1692">
                <a:moveTo>
                  <a:pt x="0" y="1"/>
                </a:moveTo>
                <a:lnTo>
                  <a:pt x="0" y="2640"/>
                </a:lnTo>
                <a:lnTo>
                  <a:pt x="1692" y="2640"/>
                </a:lnTo>
                <a:lnTo>
                  <a:pt x="169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60"/>
          <p:cNvSpPr/>
          <p:nvPr/>
        </p:nvSpPr>
        <p:spPr>
          <a:xfrm>
            <a:off x="4678217" y="1321380"/>
            <a:ext cx="365222" cy="532267"/>
          </a:xfrm>
          <a:custGeom>
            <a:rect b="b" l="l" r="r" t="t"/>
            <a:pathLst>
              <a:path extrusionOk="0" h="2641" w="1692">
                <a:moveTo>
                  <a:pt x="0" y="1"/>
                </a:moveTo>
                <a:lnTo>
                  <a:pt x="0" y="2640"/>
                </a:lnTo>
                <a:lnTo>
                  <a:pt x="1692" y="2640"/>
                </a:lnTo>
                <a:lnTo>
                  <a:pt x="1692" y="1"/>
                </a:lnTo>
                <a:close/>
              </a:path>
            </a:pathLst>
          </a:custGeom>
          <a:solidFill>
            <a:srgbClr val="EF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60"/>
          <p:cNvSpPr/>
          <p:nvPr/>
        </p:nvSpPr>
        <p:spPr>
          <a:xfrm>
            <a:off x="4515464" y="1321380"/>
            <a:ext cx="162969" cy="532267"/>
          </a:xfrm>
          <a:custGeom>
            <a:rect b="b" l="l" r="r" t="t"/>
            <a:pathLst>
              <a:path extrusionOk="0" h="2641" w="755">
                <a:moveTo>
                  <a:pt x="0" y="1"/>
                </a:moveTo>
                <a:lnTo>
                  <a:pt x="0" y="2640"/>
                </a:lnTo>
                <a:lnTo>
                  <a:pt x="754" y="2640"/>
                </a:lnTo>
                <a:lnTo>
                  <a:pt x="754" y="1"/>
                </a:lnTo>
                <a:close/>
              </a:path>
            </a:pathLst>
          </a:custGeom>
          <a:solidFill>
            <a:srgbClr val="CDD0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60"/>
          <p:cNvSpPr/>
          <p:nvPr/>
        </p:nvSpPr>
        <p:spPr>
          <a:xfrm>
            <a:off x="4931627" y="1771019"/>
            <a:ext cx="32810" cy="82631"/>
          </a:xfrm>
          <a:custGeom>
            <a:rect b="b" l="l" r="r" t="t"/>
            <a:pathLst>
              <a:path extrusionOk="0" h="410" w="152">
                <a:moveTo>
                  <a:pt x="1" y="0"/>
                </a:moveTo>
                <a:lnTo>
                  <a:pt x="1" y="409"/>
                </a:lnTo>
                <a:lnTo>
                  <a:pt x="152" y="409"/>
                </a:lnTo>
                <a:lnTo>
                  <a:pt x="152" y="0"/>
                </a:lnTo>
                <a:close/>
              </a:path>
            </a:pathLst>
          </a:custGeom>
          <a:solidFill>
            <a:srgbClr val="DF38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60"/>
          <p:cNvSpPr/>
          <p:nvPr/>
        </p:nvSpPr>
        <p:spPr>
          <a:xfrm>
            <a:off x="4731748" y="1380028"/>
            <a:ext cx="32810" cy="299892"/>
          </a:xfrm>
          <a:custGeom>
            <a:rect b="b" l="l" r="r" t="t"/>
            <a:pathLst>
              <a:path extrusionOk="0" h="1488" w="152">
                <a:moveTo>
                  <a:pt x="0" y="1"/>
                </a:moveTo>
                <a:lnTo>
                  <a:pt x="0" y="1488"/>
                </a:lnTo>
                <a:lnTo>
                  <a:pt x="151" y="1488"/>
                </a:lnTo>
                <a:lnTo>
                  <a:pt x="151" y="1"/>
                </a:lnTo>
                <a:close/>
              </a:path>
            </a:pathLst>
          </a:custGeom>
          <a:solidFill>
            <a:srgbClr val="EA7A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60"/>
          <p:cNvSpPr/>
          <p:nvPr/>
        </p:nvSpPr>
        <p:spPr>
          <a:xfrm>
            <a:off x="4515464" y="1321380"/>
            <a:ext cx="83967" cy="532267"/>
          </a:xfrm>
          <a:custGeom>
            <a:rect b="b" l="l" r="r" t="t"/>
            <a:pathLst>
              <a:path extrusionOk="0" h="2641" w="389">
                <a:moveTo>
                  <a:pt x="0" y="1"/>
                </a:moveTo>
                <a:lnTo>
                  <a:pt x="0" y="2640"/>
                </a:lnTo>
                <a:lnTo>
                  <a:pt x="388" y="2640"/>
                </a:lnTo>
                <a:lnTo>
                  <a:pt x="388" y="1"/>
                </a:lnTo>
                <a:close/>
              </a:path>
            </a:pathLst>
          </a:custGeom>
          <a:solidFill>
            <a:srgbClr val="DFE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60"/>
          <p:cNvSpPr/>
          <p:nvPr/>
        </p:nvSpPr>
        <p:spPr>
          <a:xfrm>
            <a:off x="4515464" y="1764368"/>
            <a:ext cx="162969" cy="89282"/>
          </a:xfrm>
          <a:custGeom>
            <a:rect b="b" l="l" r="r" t="t"/>
            <a:pathLst>
              <a:path extrusionOk="0" h="443" w="755">
                <a:moveTo>
                  <a:pt x="388" y="1"/>
                </a:moveTo>
                <a:lnTo>
                  <a:pt x="0" y="442"/>
                </a:lnTo>
                <a:lnTo>
                  <a:pt x="754" y="442"/>
                </a:lnTo>
                <a:lnTo>
                  <a:pt x="388" y="1"/>
                </a:lnTo>
                <a:close/>
              </a:path>
            </a:pathLst>
          </a:custGeom>
          <a:solidFill>
            <a:srgbClr val="EF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60"/>
          <p:cNvSpPr/>
          <p:nvPr/>
        </p:nvSpPr>
        <p:spPr>
          <a:xfrm>
            <a:off x="6267285" y="1196625"/>
            <a:ext cx="214126" cy="189045"/>
          </a:xfrm>
          <a:custGeom>
            <a:rect b="b" l="l" r="r" t="t"/>
            <a:pathLst>
              <a:path extrusionOk="0" h="938" w="992">
                <a:moveTo>
                  <a:pt x="399" y="1"/>
                </a:moveTo>
                <a:lnTo>
                  <a:pt x="302" y="33"/>
                </a:lnTo>
                <a:lnTo>
                  <a:pt x="216" y="76"/>
                </a:lnTo>
                <a:lnTo>
                  <a:pt x="141" y="141"/>
                </a:lnTo>
                <a:lnTo>
                  <a:pt x="76" y="216"/>
                </a:lnTo>
                <a:lnTo>
                  <a:pt x="33" y="302"/>
                </a:lnTo>
                <a:lnTo>
                  <a:pt x="11" y="399"/>
                </a:lnTo>
                <a:lnTo>
                  <a:pt x="1" y="496"/>
                </a:lnTo>
                <a:lnTo>
                  <a:pt x="1" y="927"/>
                </a:lnTo>
                <a:lnTo>
                  <a:pt x="130" y="927"/>
                </a:lnTo>
                <a:lnTo>
                  <a:pt x="130" y="496"/>
                </a:lnTo>
                <a:lnTo>
                  <a:pt x="130" y="421"/>
                </a:lnTo>
                <a:lnTo>
                  <a:pt x="152" y="356"/>
                </a:lnTo>
                <a:lnTo>
                  <a:pt x="184" y="291"/>
                </a:lnTo>
                <a:lnTo>
                  <a:pt x="238" y="238"/>
                </a:lnTo>
                <a:lnTo>
                  <a:pt x="292" y="184"/>
                </a:lnTo>
                <a:lnTo>
                  <a:pt x="356" y="151"/>
                </a:lnTo>
                <a:lnTo>
                  <a:pt x="421" y="130"/>
                </a:lnTo>
                <a:lnTo>
                  <a:pt x="572" y="130"/>
                </a:lnTo>
                <a:lnTo>
                  <a:pt x="636" y="151"/>
                </a:lnTo>
                <a:lnTo>
                  <a:pt x="701" y="184"/>
                </a:lnTo>
                <a:lnTo>
                  <a:pt x="755" y="238"/>
                </a:lnTo>
                <a:lnTo>
                  <a:pt x="798" y="291"/>
                </a:lnTo>
                <a:lnTo>
                  <a:pt x="841" y="356"/>
                </a:lnTo>
                <a:lnTo>
                  <a:pt x="863" y="421"/>
                </a:lnTo>
                <a:lnTo>
                  <a:pt x="863" y="496"/>
                </a:lnTo>
                <a:lnTo>
                  <a:pt x="841" y="927"/>
                </a:lnTo>
                <a:lnTo>
                  <a:pt x="970" y="938"/>
                </a:lnTo>
                <a:lnTo>
                  <a:pt x="992" y="496"/>
                </a:lnTo>
                <a:lnTo>
                  <a:pt x="981" y="399"/>
                </a:lnTo>
                <a:lnTo>
                  <a:pt x="960" y="302"/>
                </a:lnTo>
                <a:lnTo>
                  <a:pt x="906" y="216"/>
                </a:lnTo>
                <a:lnTo>
                  <a:pt x="852" y="141"/>
                </a:lnTo>
                <a:lnTo>
                  <a:pt x="776" y="76"/>
                </a:lnTo>
                <a:lnTo>
                  <a:pt x="690" y="33"/>
                </a:lnTo>
                <a:lnTo>
                  <a:pt x="593" y="1"/>
                </a:lnTo>
                <a:close/>
              </a:path>
            </a:pathLst>
          </a:custGeom>
          <a:solidFill>
            <a:srgbClr val="BABF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60"/>
          <p:cNvSpPr/>
          <p:nvPr/>
        </p:nvSpPr>
        <p:spPr>
          <a:xfrm>
            <a:off x="6386004" y="1196625"/>
            <a:ext cx="216500" cy="189045"/>
          </a:xfrm>
          <a:custGeom>
            <a:rect b="b" l="l" r="r" t="t"/>
            <a:pathLst>
              <a:path extrusionOk="0" h="938" w="1003">
                <a:moveTo>
                  <a:pt x="399" y="1"/>
                </a:moveTo>
                <a:lnTo>
                  <a:pt x="302" y="33"/>
                </a:lnTo>
                <a:lnTo>
                  <a:pt x="216" y="76"/>
                </a:lnTo>
                <a:lnTo>
                  <a:pt x="151" y="141"/>
                </a:lnTo>
                <a:lnTo>
                  <a:pt x="86" y="216"/>
                </a:lnTo>
                <a:lnTo>
                  <a:pt x="43" y="302"/>
                </a:lnTo>
                <a:lnTo>
                  <a:pt x="11" y="399"/>
                </a:lnTo>
                <a:lnTo>
                  <a:pt x="0" y="496"/>
                </a:lnTo>
                <a:lnTo>
                  <a:pt x="0" y="927"/>
                </a:lnTo>
                <a:lnTo>
                  <a:pt x="129" y="927"/>
                </a:lnTo>
                <a:lnTo>
                  <a:pt x="129" y="496"/>
                </a:lnTo>
                <a:lnTo>
                  <a:pt x="140" y="421"/>
                </a:lnTo>
                <a:lnTo>
                  <a:pt x="162" y="356"/>
                </a:lnTo>
                <a:lnTo>
                  <a:pt x="194" y="291"/>
                </a:lnTo>
                <a:lnTo>
                  <a:pt x="237" y="238"/>
                </a:lnTo>
                <a:lnTo>
                  <a:pt x="291" y="184"/>
                </a:lnTo>
                <a:lnTo>
                  <a:pt x="356" y="151"/>
                </a:lnTo>
                <a:lnTo>
                  <a:pt x="420" y="130"/>
                </a:lnTo>
                <a:lnTo>
                  <a:pt x="571" y="130"/>
                </a:lnTo>
                <a:lnTo>
                  <a:pt x="647" y="151"/>
                </a:lnTo>
                <a:lnTo>
                  <a:pt x="711" y="184"/>
                </a:lnTo>
                <a:lnTo>
                  <a:pt x="765" y="238"/>
                </a:lnTo>
                <a:lnTo>
                  <a:pt x="808" y="291"/>
                </a:lnTo>
                <a:lnTo>
                  <a:pt x="840" y="356"/>
                </a:lnTo>
                <a:lnTo>
                  <a:pt x="862" y="421"/>
                </a:lnTo>
                <a:lnTo>
                  <a:pt x="873" y="496"/>
                </a:lnTo>
                <a:lnTo>
                  <a:pt x="851" y="927"/>
                </a:lnTo>
                <a:lnTo>
                  <a:pt x="981" y="938"/>
                </a:lnTo>
                <a:lnTo>
                  <a:pt x="1002" y="496"/>
                </a:lnTo>
                <a:lnTo>
                  <a:pt x="991" y="399"/>
                </a:lnTo>
                <a:lnTo>
                  <a:pt x="959" y="302"/>
                </a:lnTo>
                <a:lnTo>
                  <a:pt x="916" y="216"/>
                </a:lnTo>
                <a:lnTo>
                  <a:pt x="851" y="141"/>
                </a:lnTo>
                <a:lnTo>
                  <a:pt x="776" y="76"/>
                </a:lnTo>
                <a:lnTo>
                  <a:pt x="690" y="33"/>
                </a:lnTo>
                <a:lnTo>
                  <a:pt x="603" y="1"/>
                </a:lnTo>
                <a:close/>
              </a:path>
            </a:pathLst>
          </a:custGeom>
          <a:solidFill>
            <a:srgbClr val="DFE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60"/>
          <p:cNvSpPr/>
          <p:nvPr/>
        </p:nvSpPr>
        <p:spPr>
          <a:xfrm>
            <a:off x="6341754" y="1318155"/>
            <a:ext cx="365222" cy="532267"/>
          </a:xfrm>
          <a:custGeom>
            <a:rect b="b" l="l" r="r" t="t"/>
            <a:pathLst>
              <a:path extrusionOk="0" h="2641" w="1692">
                <a:moveTo>
                  <a:pt x="0" y="1"/>
                </a:moveTo>
                <a:lnTo>
                  <a:pt x="0" y="2640"/>
                </a:lnTo>
                <a:lnTo>
                  <a:pt x="1692" y="2640"/>
                </a:lnTo>
                <a:lnTo>
                  <a:pt x="169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60"/>
          <p:cNvSpPr/>
          <p:nvPr/>
        </p:nvSpPr>
        <p:spPr>
          <a:xfrm>
            <a:off x="6341754" y="1318155"/>
            <a:ext cx="365222" cy="532267"/>
          </a:xfrm>
          <a:custGeom>
            <a:rect b="b" l="l" r="r" t="t"/>
            <a:pathLst>
              <a:path extrusionOk="0" h="2641" w="1692">
                <a:moveTo>
                  <a:pt x="0" y="1"/>
                </a:moveTo>
                <a:lnTo>
                  <a:pt x="0" y="2640"/>
                </a:lnTo>
                <a:lnTo>
                  <a:pt x="1692" y="2640"/>
                </a:lnTo>
                <a:lnTo>
                  <a:pt x="1692" y="1"/>
                </a:lnTo>
                <a:close/>
              </a:path>
            </a:pathLst>
          </a:custGeom>
          <a:solidFill>
            <a:srgbClr val="EF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60"/>
          <p:cNvSpPr/>
          <p:nvPr/>
        </p:nvSpPr>
        <p:spPr>
          <a:xfrm>
            <a:off x="6179002" y="1318155"/>
            <a:ext cx="162969" cy="532267"/>
          </a:xfrm>
          <a:custGeom>
            <a:rect b="b" l="l" r="r" t="t"/>
            <a:pathLst>
              <a:path extrusionOk="0" h="2641" w="755">
                <a:moveTo>
                  <a:pt x="0" y="1"/>
                </a:moveTo>
                <a:lnTo>
                  <a:pt x="0" y="2640"/>
                </a:lnTo>
                <a:lnTo>
                  <a:pt x="754" y="2640"/>
                </a:lnTo>
                <a:lnTo>
                  <a:pt x="754" y="1"/>
                </a:lnTo>
                <a:close/>
              </a:path>
            </a:pathLst>
          </a:custGeom>
          <a:solidFill>
            <a:srgbClr val="CDD0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60"/>
          <p:cNvSpPr/>
          <p:nvPr/>
        </p:nvSpPr>
        <p:spPr>
          <a:xfrm>
            <a:off x="6595165" y="1767794"/>
            <a:ext cx="32810" cy="82631"/>
          </a:xfrm>
          <a:custGeom>
            <a:rect b="b" l="l" r="r" t="t"/>
            <a:pathLst>
              <a:path extrusionOk="0" h="410" w="152">
                <a:moveTo>
                  <a:pt x="1" y="0"/>
                </a:moveTo>
                <a:lnTo>
                  <a:pt x="1" y="409"/>
                </a:lnTo>
                <a:lnTo>
                  <a:pt x="152" y="409"/>
                </a:lnTo>
                <a:lnTo>
                  <a:pt x="152" y="0"/>
                </a:lnTo>
                <a:close/>
              </a:path>
            </a:pathLst>
          </a:custGeom>
          <a:solidFill>
            <a:srgbClr val="DF38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60"/>
          <p:cNvSpPr/>
          <p:nvPr/>
        </p:nvSpPr>
        <p:spPr>
          <a:xfrm>
            <a:off x="6395286" y="1376803"/>
            <a:ext cx="32810" cy="299892"/>
          </a:xfrm>
          <a:custGeom>
            <a:rect b="b" l="l" r="r" t="t"/>
            <a:pathLst>
              <a:path extrusionOk="0" h="1488" w="152">
                <a:moveTo>
                  <a:pt x="0" y="1"/>
                </a:moveTo>
                <a:lnTo>
                  <a:pt x="0" y="1488"/>
                </a:lnTo>
                <a:lnTo>
                  <a:pt x="151" y="1488"/>
                </a:lnTo>
                <a:lnTo>
                  <a:pt x="151" y="1"/>
                </a:lnTo>
                <a:close/>
              </a:path>
            </a:pathLst>
          </a:custGeom>
          <a:solidFill>
            <a:srgbClr val="EA7A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60"/>
          <p:cNvSpPr/>
          <p:nvPr/>
        </p:nvSpPr>
        <p:spPr>
          <a:xfrm>
            <a:off x="6179002" y="1318155"/>
            <a:ext cx="83967" cy="532267"/>
          </a:xfrm>
          <a:custGeom>
            <a:rect b="b" l="l" r="r" t="t"/>
            <a:pathLst>
              <a:path extrusionOk="0" h="2641" w="389">
                <a:moveTo>
                  <a:pt x="0" y="1"/>
                </a:moveTo>
                <a:lnTo>
                  <a:pt x="0" y="2640"/>
                </a:lnTo>
                <a:lnTo>
                  <a:pt x="388" y="2640"/>
                </a:lnTo>
                <a:lnTo>
                  <a:pt x="388" y="1"/>
                </a:lnTo>
                <a:close/>
              </a:path>
            </a:pathLst>
          </a:custGeom>
          <a:solidFill>
            <a:srgbClr val="DFE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60"/>
          <p:cNvSpPr/>
          <p:nvPr/>
        </p:nvSpPr>
        <p:spPr>
          <a:xfrm>
            <a:off x="6179002" y="1761143"/>
            <a:ext cx="162969" cy="89282"/>
          </a:xfrm>
          <a:custGeom>
            <a:rect b="b" l="l" r="r" t="t"/>
            <a:pathLst>
              <a:path extrusionOk="0" h="443" w="755">
                <a:moveTo>
                  <a:pt x="388" y="1"/>
                </a:moveTo>
                <a:lnTo>
                  <a:pt x="0" y="442"/>
                </a:lnTo>
                <a:lnTo>
                  <a:pt x="754" y="442"/>
                </a:lnTo>
                <a:lnTo>
                  <a:pt x="388" y="1"/>
                </a:lnTo>
                <a:close/>
              </a:path>
            </a:pathLst>
          </a:custGeom>
          <a:solidFill>
            <a:srgbClr val="EF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7" name="Google Shape;697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726" y="858054"/>
            <a:ext cx="930350" cy="1343833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60"/>
          <p:cNvSpPr/>
          <p:nvPr/>
        </p:nvSpPr>
        <p:spPr>
          <a:xfrm>
            <a:off x="8070252" y="1307544"/>
            <a:ext cx="264664" cy="423677"/>
          </a:xfrm>
          <a:custGeom>
            <a:rect b="b" l="l" r="r" t="t"/>
            <a:pathLst>
              <a:path extrusionOk="0" h="863" w="539">
                <a:moveTo>
                  <a:pt x="270" y="0"/>
                </a:moveTo>
                <a:lnTo>
                  <a:pt x="216" y="11"/>
                </a:lnTo>
                <a:lnTo>
                  <a:pt x="151" y="33"/>
                </a:lnTo>
                <a:lnTo>
                  <a:pt x="108" y="65"/>
                </a:lnTo>
                <a:lnTo>
                  <a:pt x="65" y="108"/>
                </a:lnTo>
                <a:lnTo>
                  <a:pt x="32" y="151"/>
                </a:lnTo>
                <a:lnTo>
                  <a:pt x="11" y="205"/>
                </a:lnTo>
                <a:lnTo>
                  <a:pt x="0" y="270"/>
                </a:lnTo>
                <a:lnTo>
                  <a:pt x="11" y="323"/>
                </a:lnTo>
                <a:lnTo>
                  <a:pt x="32" y="388"/>
                </a:lnTo>
                <a:lnTo>
                  <a:pt x="86" y="474"/>
                </a:lnTo>
                <a:lnTo>
                  <a:pt x="151" y="582"/>
                </a:lnTo>
                <a:lnTo>
                  <a:pt x="216" y="701"/>
                </a:lnTo>
                <a:lnTo>
                  <a:pt x="248" y="765"/>
                </a:lnTo>
                <a:lnTo>
                  <a:pt x="259" y="841"/>
                </a:lnTo>
                <a:lnTo>
                  <a:pt x="270" y="862"/>
                </a:lnTo>
                <a:lnTo>
                  <a:pt x="313" y="744"/>
                </a:lnTo>
                <a:lnTo>
                  <a:pt x="366" y="636"/>
                </a:lnTo>
                <a:lnTo>
                  <a:pt x="431" y="517"/>
                </a:lnTo>
                <a:lnTo>
                  <a:pt x="507" y="388"/>
                </a:lnTo>
                <a:lnTo>
                  <a:pt x="528" y="345"/>
                </a:lnTo>
                <a:lnTo>
                  <a:pt x="539" y="291"/>
                </a:lnTo>
                <a:lnTo>
                  <a:pt x="539" y="248"/>
                </a:lnTo>
                <a:lnTo>
                  <a:pt x="528" y="194"/>
                </a:lnTo>
                <a:lnTo>
                  <a:pt x="507" y="151"/>
                </a:lnTo>
                <a:lnTo>
                  <a:pt x="485" y="108"/>
                </a:lnTo>
                <a:lnTo>
                  <a:pt x="453" y="76"/>
                </a:lnTo>
                <a:lnTo>
                  <a:pt x="410" y="43"/>
                </a:lnTo>
                <a:lnTo>
                  <a:pt x="366" y="22"/>
                </a:lnTo>
                <a:lnTo>
                  <a:pt x="313" y="11"/>
                </a:lnTo>
                <a:lnTo>
                  <a:pt x="270" y="0"/>
                </a:ln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60"/>
          <p:cNvSpPr/>
          <p:nvPr/>
        </p:nvSpPr>
        <p:spPr>
          <a:xfrm>
            <a:off x="8144945" y="1388900"/>
            <a:ext cx="132577" cy="127643"/>
          </a:xfrm>
          <a:custGeom>
            <a:rect b="b" l="l" r="r" t="t"/>
            <a:pathLst>
              <a:path extrusionOk="0" h="260" w="270">
                <a:moveTo>
                  <a:pt x="130" y="1"/>
                </a:moveTo>
                <a:lnTo>
                  <a:pt x="97" y="97"/>
                </a:lnTo>
                <a:lnTo>
                  <a:pt x="0" y="108"/>
                </a:lnTo>
                <a:lnTo>
                  <a:pt x="76" y="162"/>
                </a:lnTo>
                <a:lnTo>
                  <a:pt x="54" y="259"/>
                </a:lnTo>
                <a:lnTo>
                  <a:pt x="130" y="216"/>
                </a:lnTo>
                <a:lnTo>
                  <a:pt x="216" y="259"/>
                </a:lnTo>
                <a:lnTo>
                  <a:pt x="194" y="162"/>
                </a:lnTo>
                <a:lnTo>
                  <a:pt x="270" y="97"/>
                </a:lnTo>
                <a:lnTo>
                  <a:pt x="173" y="97"/>
                </a:lnTo>
                <a:lnTo>
                  <a:pt x="13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0" name="Google Shape;700;p60"/>
          <p:cNvCxnSpPr/>
          <p:nvPr/>
        </p:nvCxnSpPr>
        <p:spPr>
          <a:xfrm>
            <a:off x="3578075" y="2582900"/>
            <a:ext cx="0" cy="2352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60"/>
          <p:cNvCxnSpPr/>
          <p:nvPr/>
        </p:nvCxnSpPr>
        <p:spPr>
          <a:xfrm>
            <a:off x="6230875" y="2582900"/>
            <a:ext cx="0" cy="2352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2" name="Google Shape;702;p60"/>
          <p:cNvSpPr txBox="1"/>
          <p:nvPr/>
        </p:nvSpPr>
        <p:spPr>
          <a:xfrm>
            <a:off x="1169950" y="2253500"/>
            <a:ext cx="2073900" cy="31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Acquisition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3" name="Google Shape;703;p60"/>
          <p:cNvSpPr txBox="1"/>
          <p:nvPr/>
        </p:nvSpPr>
        <p:spPr>
          <a:xfrm>
            <a:off x="3911075" y="2253500"/>
            <a:ext cx="2073900" cy="31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Development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4" name="Google Shape;704;p60"/>
          <p:cNvSpPr txBox="1"/>
          <p:nvPr/>
        </p:nvSpPr>
        <p:spPr>
          <a:xfrm>
            <a:off x="6578075" y="2253500"/>
            <a:ext cx="2073900" cy="31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Retention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5" name="Google Shape;705;p60"/>
          <p:cNvSpPr txBox="1"/>
          <p:nvPr/>
        </p:nvSpPr>
        <p:spPr>
          <a:xfrm>
            <a:off x="7814375" y="292125"/>
            <a:ext cx="1210200" cy="3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61"/>
          <p:cNvSpPr txBox="1"/>
          <p:nvPr>
            <p:ph type="title"/>
          </p:nvPr>
        </p:nvSpPr>
        <p:spPr>
          <a:xfrm>
            <a:off x="344501" y="264375"/>
            <a:ext cx="7797000" cy="4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many inputs to a good CLV model</a:t>
            </a:r>
            <a:endParaRPr/>
          </a:p>
        </p:txBody>
      </p:sp>
      <p:sp>
        <p:nvSpPr>
          <p:cNvPr id="711" name="Google Shape;711;p61"/>
          <p:cNvSpPr/>
          <p:nvPr/>
        </p:nvSpPr>
        <p:spPr>
          <a:xfrm>
            <a:off x="807075" y="2376631"/>
            <a:ext cx="2675100" cy="29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First purchase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App Install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Subscription Sign Up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Lead Submitted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Application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2" name="Google Shape;712;p61"/>
          <p:cNvSpPr/>
          <p:nvPr/>
        </p:nvSpPr>
        <p:spPr>
          <a:xfrm>
            <a:off x="3569375" y="2376631"/>
            <a:ext cx="2675100" cy="29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1st Repeat Purchase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1st Paid Action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Upgrade Subscription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Lead Closed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Approval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p61"/>
          <p:cNvSpPr/>
          <p:nvPr/>
        </p:nvSpPr>
        <p:spPr>
          <a:xfrm>
            <a:off x="6260975" y="2376625"/>
            <a:ext cx="2675100" cy="29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Long term spend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&amp;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Churn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4" name="Google Shape;714;p61"/>
          <p:cNvCxnSpPr/>
          <p:nvPr/>
        </p:nvCxnSpPr>
        <p:spPr>
          <a:xfrm flipH="1" rot="10800000">
            <a:off x="1630399" y="1516377"/>
            <a:ext cx="6497400" cy="3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15" name="Google Shape;715;p61"/>
          <p:cNvSpPr txBox="1"/>
          <p:nvPr/>
        </p:nvSpPr>
        <p:spPr>
          <a:xfrm>
            <a:off x="7171225" y="1666275"/>
            <a:ext cx="20097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High Value Customer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6" name="Google Shape;716;p61"/>
          <p:cNvSpPr/>
          <p:nvPr/>
        </p:nvSpPr>
        <p:spPr>
          <a:xfrm>
            <a:off x="2253185" y="1190075"/>
            <a:ext cx="214126" cy="189045"/>
          </a:xfrm>
          <a:custGeom>
            <a:rect b="b" l="l" r="r" t="t"/>
            <a:pathLst>
              <a:path extrusionOk="0" h="938" w="992">
                <a:moveTo>
                  <a:pt x="399" y="1"/>
                </a:moveTo>
                <a:lnTo>
                  <a:pt x="302" y="33"/>
                </a:lnTo>
                <a:lnTo>
                  <a:pt x="216" y="76"/>
                </a:lnTo>
                <a:lnTo>
                  <a:pt x="141" y="141"/>
                </a:lnTo>
                <a:lnTo>
                  <a:pt x="76" y="216"/>
                </a:lnTo>
                <a:lnTo>
                  <a:pt x="33" y="302"/>
                </a:lnTo>
                <a:lnTo>
                  <a:pt x="11" y="399"/>
                </a:lnTo>
                <a:lnTo>
                  <a:pt x="1" y="496"/>
                </a:lnTo>
                <a:lnTo>
                  <a:pt x="1" y="927"/>
                </a:lnTo>
                <a:lnTo>
                  <a:pt x="130" y="927"/>
                </a:lnTo>
                <a:lnTo>
                  <a:pt x="130" y="496"/>
                </a:lnTo>
                <a:lnTo>
                  <a:pt x="130" y="421"/>
                </a:lnTo>
                <a:lnTo>
                  <a:pt x="152" y="356"/>
                </a:lnTo>
                <a:lnTo>
                  <a:pt x="184" y="291"/>
                </a:lnTo>
                <a:lnTo>
                  <a:pt x="238" y="238"/>
                </a:lnTo>
                <a:lnTo>
                  <a:pt x="292" y="184"/>
                </a:lnTo>
                <a:lnTo>
                  <a:pt x="356" y="151"/>
                </a:lnTo>
                <a:lnTo>
                  <a:pt x="421" y="130"/>
                </a:lnTo>
                <a:lnTo>
                  <a:pt x="572" y="130"/>
                </a:lnTo>
                <a:lnTo>
                  <a:pt x="636" y="151"/>
                </a:lnTo>
                <a:lnTo>
                  <a:pt x="701" y="184"/>
                </a:lnTo>
                <a:lnTo>
                  <a:pt x="755" y="238"/>
                </a:lnTo>
                <a:lnTo>
                  <a:pt x="798" y="291"/>
                </a:lnTo>
                <a:lnTo>
                  <a:pt x="841" y="356"/>
                </a:lnTo>
                <a:lnTo>
                  <a:pt x="863" y="421"/>
                </a:lnTo>
                <a:lnTo>
                  <a:pt x="863" y="496"/>
                </a:lnTo>
                <a:lnTo>
                  <a:pt x="841" y="927"/>
                </a:lnTo>
                <a:lnTo>
                  <a:pt x="970" y="938"/>
                </a:lnTo>
                <a:lnTo>
                  <a:pt x="992" y="496"/>
                </a:lnTo>
                <a:lnTo>
                  <a:pt x="981" y="399"/>
                </a:lnTo>
                <a:lnTo>
                  <a:pt x="960" y="302"/>
                </a:lnTo>
                <a:lnTo>
                  <a:pt x="906" y="216"/>
                </a:lnTo>
                <a:lnTo>
                  <a:pt x="852" y="141"/>
                </a:lnTo>
                <a:lnTo>
                  <a:pt x="776" y="76"/>
                </a:lnTo>
                <a:lnTo>
                  <a:pt x="690" y="33"/>
                </a:lnTo>
                <a:lnTo>
                  <a:pt x="593" y="1"/>
                </a:lnTo>
                <a:close/>
              </a:path>
            </a:pathLst>
          </a:custGeom>
          <a:solidFill>
            <a:srgbClr val="BABF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61"/>
          <p:cNvSpPr/>
          <p:nvPr/>
        </p:nvSpPr>
        <p:spPr>
          <a:xfrm>
            <a:off x="2371904" y="1190075"/>
            <a:ext cx="216500" cy="189045"/>
          </a:xfrm>
          <a:custGeom>
            <a:rect b="b" l="l" r="r" t="t"/>
            <a:pathLst>
              <a:path extrusionOk="0" h="938" w="1003">
                <a:moveTo>
                  <a:pt x="399" y="1"/>
                </a:moveTo>
                <a:lnTo>
                  <a:pt x="302" y="33"/>
                </a:lnTo>
                <a:lnTo>
                  <a:pt x="216" y="76"/>
                </a:lnTo>
                <a:lnTo>
                  <a:pt x="151" y="141"/>
                </a:lnTo>
                <a:lnTo>
                  <a:pt x="86" y="216"/>
                </a:lnTo>
                <a:lnTo>
                  <a:pt x="43" y="302"/>
                </a:lnTo>
                <a:lnTo>
                  <a:pt x="11" y="399"/>
                </a:lnTo>
                <a:lnTo>
                  <a:pt x="0" y="496"/>
                </a:lnTo>
                <a:lnTo>
                  <a:pt x="0" y="927"/>
                </a:lnTo>
                <a:lnTo>
                  <a:pt x="129" y="927"/>
                </a:lnTo>
                <a:lnTo>
                  <a:pt x="129" y="496"/>
                </a:lnTo>
                <a:lnTo>
                  <a:pt x="140" y="421"/>
                </a:lnTo>
                <a:lnTo>
                  <a:pt x="162" y="356"/>
                </a:lnTo>
                <a:lnTo>
                  <a:pt x="194" y="291"/>
                </a:lnTo>
                <a:lnTo>
                  <a:pt x="237" y="238"/>
                </a:lnTo>
                <a:lnTo>
                  <a:pt x="291" y="184"/>
                </a:lnTo>
                <a:lnTo>
                  <a:pt x="356" y="151"/>
                </a:lnTo>
                <a:lnTo>
                  <a:pt x="420" y="130"/>
                </a:lnTo>
                <a:lnTo>
                  <a:pt x="571" y="130"/>
                </a:lnTo>
                <a:lnTo>
                  <a:pt x="647" y="151"/>
                </a:lnTo>
                <a:lnTo>
                  <a:pt x="711" y="184"/>
                </a:lnTo>
                <a:lnTo>
                  <a:pt x="765" y="238"/>
                </a:lnTo>
                <a:lnTo>
                  <a:pt x="808" y="291"/>
                </a:lnTo>
                <a:lnTo>
                  <a:pt x="840" y="356"/>
                </a:lnTo>
                <a:lnTo>
                  <a:pt x="862" y="421"/>
                </a:lnTo>
                <a:lnTo>
                  <a:pt x="873" y="496"/>
                </a:lnTo>
                <a:lnTo>
                  <a:pt x="851" y="927"/>
                </a:lnTo>
                <a:lnTo>
                  <a:pt x="981" y="938"/>
                </a:lnTo>
                <a:lnTo>
                  <a:pt x="1002" y="496"/>
                </a:lnTo>
                <a:lnTo>
                  <a:pt x="991" y="399"/>
                </a:lnTo>
                <a:lnTo>
                  <a:pt x="959" y="302"/>
                </a:lnTo>
                <a:lnTo>
                  <a:pt x="916" y="216"/>
                </a:lnTo>
                <a:lnTo>
                  <a:pt x="851" y="141"/>
                </a:lnTo>
                <a:lnTo>
                  <a:pt x="776" y="76"/>
                </a:lnTo>
                <a:lnTo>
                  <a:pt x="690" y="33"/>
                </a:lnTo>
                <a:lnTo>
                  <a:pt x="603" y="1"/>
                </a:lnTo>
                <a:close/>
              </a:path>
            </a:pathLst>
          </a:custGeom>
          <a:solidFill>
            <a:srgbClr val="DFE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61"/>
          <p:cNvSpPr/>
          <p:nvPr/>
        </p:nvSpPr>
        <p:spPr>
          <a:xfrm>
            <a:off x="2327654" y="1311605"/>
            <a:ext cx="365222" cy="532267"/>
          </a:xfrm>
          <a:custGeom>
            <a:rect b="b" l="l" r="r" t="t"/>
            <a:pathLst>
              <a:path extrusionOk="0" h="2641" w="1692">
                <a:moveTo>
                  <a:pt x="0" y="1"/>
                </a:moveTo>
                <a:lnTo>
                  <a:pt x="0" y="2640"/>
                </a:lnTo>
                <a:lnTo>
                  <a:pt x="1692" y="2640"/>
                </a:lnTo>
                <a:lnTo>
                  <a:pt x="169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61"/>
          <p:cNvSpPr/>
          <p:nvPr/>
        </p:nvSpPr>
        <p:spPr>
          <a:xfrm>
            <a:off x="2327654" y="1311605"/>
            <a:ext cx="365222" cy="532267"/>
          </a:xfrm>
          <a:custGeom>
            <a:rect b="b" l="l" r="r" t="t"/>
            <a:pathLst>
              <a:path extrusionOk="0" h="2641" w="1692">
                <a:moveTo>
                  <a:pt x="0" y="1"/>
                </a:moveTo>
                <a:lnTo>
                  <a:pt x="0" y="2640"/>
                </a:lnTo>
                <a:lnTo>
                  <a:pt x="1692" y="2640"/>
                </a:lnTo>
                <a:lnTo>
                  <a:pt x="1692" y="1"/>
                </a:lnTo>
                <a:close/>
              </a:path>
            </a:pathLst>
          </a:custGeom>
          <a:solidFill>
            <a:srgbClr val="EF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61"/>
          <p:cNvSpPr/>
          <p:nvPr/>
        </p:nvSpPr>
        <p:spPr>
          <a:xfrm>
            <a:off x="2164902" y="1311605"/>
            <a:ext cx="162969" cy="532267"/>
          </a:xfrm>
          <a:custGeom>
            <a:rect b="b" l="l" r="r" t="t"/>
            <a:pathLst>
              <a:path extrusionOk="0" h="2641" w="755">
                <a:moveTo>
                  <a:pt x="0" y="1"/>
                </a:moveTo>
                <a:lnTo>
                  <a:pt x="0" y="2640"/>
                </a:lnTo>
                <a:lnTo>
                  <a:pt x="754" y="2640"/>
                </a:lnTo>
                <a:lnTo>
                  <a:pt x="754" y="1"/>
                </a:lnTo>
                <a:close/>
              </a:path>
            </a:pathLst>
          </a:custGeom>
          <a:solidFill>
            <a:srgbClr val="CDD0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61"/>
          <p:cNvSpPr/>
          <p:nvPr/>
        </p:nvSpPr>
        <p:spPr>
          <a:xfrm>
            <a:off x="2581065" y="1761244"/>
            <a:ext cx="32810" cy="82631"/>
          </a:xfrm>
          <a:custGeom>
            <a:rect b="b" l="l" r="r" t="t"/>
            <a:pathLst>
              <a:path extrusionOk="0" h="410" w="152">
                <a:moveTo>
                  <a:pt x="1" y="0"/>
                </a:moveTo>
                <a:lnTo>
                  <a:pt x="1" y="409"/>
                </a:lnTo>
                <a:lnTo>
                  <a:pt x="152" y="409"/>
                </a:lnTo>
                <a:lnTo>
                  <a:pt x="152" y="0"/>
                </a:lnTo>
                <a:close/>
              </a:path>
            </a:pathLst>
          </a:custGeom>
          <a:solidFill>
            <a:srgbClr val="DF38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61"/>
          <p:cNvSpPr/>
          <p:nvPr/>
        </p:nvSpPr>
        <p:spPr>
          <a:xfrm>
            <a:off x="2381186" y="1370253"/>
            <a:ext cx="32810" cy="299892"/>
          </a:xfrm>
          <a:custGeom>
            <a:rect b="b" l="l" r="r" t="t"/>
            <a:pathLst>
              <a:path extrusionOk="0" h="1488" w="152">
                <a:moveTo>
                  <a:pt x="0" y="1"/>
                </a:moveTo>
                <a:lnTo>
                  <a:pt x="0" y="1488"/>
                </a:lnTo>
                <a:lnTo>
                  <a:pt x="151" y="1488"/>
                </a:lnTo>
                <a:lnTo>
                  <a:pt x="151" y="1"/>
                </a:lnTo>
                <a:close/>
              </a:path>
            </a:pathLst>
          </a:custGeom>
          <a:solidFill>
            <a:srgbClr val="EA7A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61"/>
          <p:cNvSpPr/>
          <p:nvPr/>
        </p:nvSpPr>
        <p:spPr>
          <a:xfrm>
            <a:off x="2164902" y="1311605"/>
            <a:ext cx="83967" cy="532267"/>
          </a:xfrm>
          <a:custGeom>
            <a:rect b="b" l="l" r="r" t="t"/>
            <a:pathLst>
              <a:path extrusionOk="0" h="2641" w="389">
                <a:moveTo>
                  <a:pt x="0" y="1"/>
                </a:moveTo>
                <a:lnTo>
                  <a:pt x="0" y="2640"/>
                </a:lnTo>
                <a:lnTo>
                  <a:pt x="388" y="2640"/>
                </a:lnTo>
                <a:lnTo>
                  <a:pt x="388" y="1"/>
                </a:lnTo>
                <a:close/>
              </a:path>
            </a:pathLst>
          </a:custGeom>
          <a:solidFill>
            <a:srgbClr val="DFE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61"/>
          <p:cNvSpPr/>
          <p:nvPr/>
        </p:nvSpPr>
        <p:spPr>
          <a:xfrm>
            <a:off x="2164902" y="1754593"/>
            <a:ext cx="162969" cy="89282"/>
          </a:xfrm>
          <a:custGeom>
            <a:rect b="b" l="l" r="r" t="t"/>
            <a:pathLst>
              <a:path extrusionOk="0" h="443" w="755">
                <a:moveTo>
                  <a:pt x="388" y="1"/>
                </a:moveTo>
                <a:lnTo>
                  <a:pt x="0" y="442"/>
                </a:lnTo>
                <a:lnTo>
                  <a:pt x="754" y="442"/>
                </a:lnTo>
                <a:lnTo>
                  <a:pt x="388" y="1"/>
                </a:lnTo>
                <a:close/>
              </a:path>
            </a:pathLst>
          </a:custGeom>
          <a:solidFill>
            <a:srgbClr val="EF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61"/>
          <p:cNvSpPr/>
          <p:nvPr/>
        </p:nvSpPr>
        <p:spPr>
          <a:xfrm>
            <a:off x="4603748" y="1199850"/>
            <a:ext cx="214126" cy="189045"/>
          </a:xfrm>
          <a:custGeom>
            <a:rect b="b" l="l" r="r" t="t"/>
            <a:pathLst>
              <a:path extrusionOk="0" h="938" w="992">
                <a:moveTo>
                  <a:pt x="399" y="1"/>
                </a:moveTo>
                <a:lnTo>
                  <a:pt x="302" y="33"/>
                </a:lnTo>
                <a:lnTo>
                  <a:pt x="216" y="76"/>
                </a:lnTo>
                <a:lnTo>
                  <a:pt x="141" y="141"/>
                </a:lnTo>
                <a:lnTo>
                  <a:pt x="76" y="216"/>
                </a:lnTo>
                <a:lnTo>
                  <a:pt x="33" y="302"/>
                </a:lnTo>
                <a:lnTo>
                  <a:pt x="11" y="399"/>
                </a:lnTo>
                <a:lnTo>
                  <a:pt x="1" y="496"/>
                </a:lnTo>
                <a:lnTo>
                  <a:pt x="1" y="927"/>
                </a:lnTo>
                <a:lnTo>
                  <a:pt x="130" y="927"/>
                </a:lnTo>
                <a:lnTo>
                  <a:pt x="130" y="496"/>
                </a:lnTo>
                <a:lnTo>
                  <a:pt x="130" y="421"/>
                </a:lnTo>
                <a:lnTo>
                  <a:pt x="152" y="356"/>
                </a:lnTo>
                <a:lnTo>
                  <a:pt x="184" y="291"/>
                </a:lnTo>
                <a:lnTo>
                  <a:pt x="238" y="238"/>
                </a:lnTo>
                <a:lnTo>
                  <a:pt x="292" y="184"/>
                </a:lnTo>
                <a:lnTo>
                  <a:pt x="356" y="151"/>
                </a:lnTo>
                <a:lnTo>
                  <a:pt x="421" y="130"/>
                </a:lnTo>
                <a:lnTo>
                  <a:pt x="572" y="130"/>
                </a:lnTo>
                <a:lnTo>
                  <a:pt x="636" y="151"/>
                </a:lnTo>
                <a:lnTo>
                  <a:pt x="701" y="184"/>
                </a:lnTo>
                <a:lnTo>
                  <a:pt x="755" y="238"/>
                </a:lnTo>
                <a:lnTo>
                  <a:pt x="798" y="291"/>
                </a:lnTo>
                <a:lnTo>
                  <a:pt x="841" y="356"/>
                </a:lnTo>
                <a:lnTo>
                  <a:pt x="863" y="421"/>
                </a:lnTo>
                <a:lnTo>
                  <a:pt x="863" y="496"/>
                </a:lnTo>
                <a:lnTo>
                  <a:pt x="841" y="927"/>
                </a:lnTo>
                <a:lnTo>
                  <a:pt x="970" y="938"/>
                </a:lnTo>
                <a:lnTo>
                  <a:pt x="992" y="496"/>
                </a:lnTo>
                <a:lnTo>
                  <a:pt x="981" y="399"/>
                </a:lnTo>
                <a:lnTo>
                  <a:pt x="960" y="302"/>
                </a:lnTo>
                <a:lnTo>
                  <a:pt x="906" y="216"/>
                </a:lnTo>
                <a:lnTo>
                  <a:pt x="852" y="141"/>
                </a:lnTo>
                <a:lnTo>
                  <a:pt x="776" y="76"/>
                </a:lnTo>
                <a:lnTo>
                  <a:pt x="690" y="33"/>
                </a:lnTo>
                <a:lnTo>
                  <a:pt x="593" y="1"/>
                </a:lnTo>
                <a:close/>
              </a:path>
            </a:pathLst>
          </a:custGeom>
          <a:solidFill>
            <a:srgbClr val="BABF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61"/>
          <p:cNvSpPr/>
          <p:nvPr/>
        </p:nvSpPr>
        <p:spPr>
          <a:xfrm>
            <a:off x="4722467" y="1199850"/>
            <a:ext cx="216500" cy="189045"/>
          </a:xfrm>
          <a:custGeom>
            <a:rect b="b" l="l" r="r" t="t"/>
            <a:pathLst>
              <a:path extrusionOk="0" h="938" w="1003">
                <a:moveTo>
                  <a:pt x="399" y="1"/>
                </a:moveTo>
                <a:lnTo>
                  <a:pt x="302" y="33"/>
                </a:lnTo>
                <a:lnTo>
                  <a:pt x="216" y="76"/>
                </a:lnTo>
                <a:lnTo>
                  <a:pt x="151" y="141"/>
                </a:lnTo>
                <a:lnTo>
                  <a:pt x="86" y="216"/>
                </a:lnTo>
                <a:lnTo>
                  <a:pt x="43" y="302"/>
                </a:lnTo>
                <a:lnTo>
                  <a:pt x="11" y="399"/>
                </a:lnTo>
                <a:lnTo>
                  <a:pt x="0" y="496"/>
                </a:lnTo>
                <a:lnTo>
                  <a:pt x="0" y="927"/>
                </a:lnTo>
                <a:lnTo>
                  <a:pt x="129" y="927"/>
                </a:lnTo>
                <a:lnTo>
                  <a:pt x="129" y="496"/>
                </a:lnTo>
                <a:lnTo>
                  <a:pt x="140" y="421"/>
                </a:lnTo>
                <a:lnTo>
                  <a:pt x="162" y="356"/>
                </a:lnTo>
                <a:lnTo>
                  <a:pt x="194" y="291"/>
                </a:lnTo>
                <a:lnTo>
                  <a:pt x="237" y="238"/>
                </a:lnTo>
                <a:lnTo>
                  <a:pt x="291" y="184"/>
                </a:lnTo>
                <a:lnTo>
                  <a:pt x="356" y="151"/>
                </a:lnTo>
                <a:lnTo>
                  <a:pt x="420" y="130"/>
                </a:lnTo>
                <a:lnTo>
                  <a:pt x="571" y="130"/>
                </a:lnTo>
                <a:lnTo>
                  <a:pt x="647" y="151"/>
                </a:lnTo>
                <a:lnTo>
                  <a:pt x="711" y="184"/>
                </a:lnTo>
                <a:lnTo>
                  <a:pt x="765" y="238"/>
                </a:lnTo>
                <a:lnTo>
                  <a:pt x="808" y="291"/>
                </a:lnTo>
                <a:lnTo>
                  <a:pt x="840" y="356"/>
                </a:lnTo>
                <a:lnTo>
                  <a:pt x="862" y="421"/>
                </a:lnTo>
                <a:lnTo>
                  <a:pt x="873" y="496"/>
                </a:lnTo>
                <a:lnTo>
                  <a:pt x="851" y="927"/>
                </a:lnTo>
                <a:lnTo>
                  <a:pt x="981" y="938"/>
                </a:lnTo>
                <a:lnTo>
                  <a:pt x="1002" y="496"/>
                </a:lnTo>
                <a:lnTo>
                  <a:pt x="991" y="399"/>
                </a:lnTo>
                <a:lnTo>
                  <a:pt x="959" y="302"/>
                </a:lnTo>
                <a:lnTo>
                  <a:pt x="916" y="216"/>
                </a:lnTo>
                <a:lnTo>
                  <a:pt x="851" y="141"/>
                </a:lnTo>
                <a:lnTo>
                  <a:pt x="776" y="76"/>
                </a:lnTo>
                <a:lnTo>
                  <a:pt x="690" y="33"/>
                </a:lnTo>
                <a:lnTo>
                  <a:pt x="603" y="1"/>
                </a:lnTo>
                <a:close/>
              </a:path>
            </a:pathLst>
          </a:custGeom>
          <a:solidFill>
            <a:srgbClr val="DFE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61"/>
          <p:cNvSpPr/>
          <p:nvPr/>
        </p:nvSpPr>
        <p:spPr>
          <a:xfrm>
            <a:off x="4678217" y="1321380"/>
            <a:ext cx="365222" cy="532267"/>
          </a:xfrm>
          <a:custGeom>
            <a:rect b="b" l="l" r="r" t="t"/>
            <a:pathLst>
              <a:path extrusionOk="0" h="2641" w="1692">
                <a:moveTo>
                  <a:pt x="0" y="1"/>
                </a:moveTo>
                <a:lnTo>
                  <a:pt x="0" y="2640"/>
                </a:lnTo>
                <a:lnTo>
                  <a:pt x="1692" y="2640"/>
                </a:lnTo>
                <a:lnTo>
                  <a:pt x="169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61"/>
          <p:cNvSpPr/>
          <p:nvPr/>
        </p:nvSpPr>
        <p:spPr>
          <a:xfrm>
            <a:off x="4678217" y="1321380"/>
            <a:ext cx="365222" cy="532267"/>
          </a:xfrm>
          <a:custGeom>
            <a:rect b="b" l="l" r="r" t="t"/>
            <a:pathLst>
              <a:path extrusionOk="0" h="2641" w="1692">
                <a:moveTo>
                  <a:pt x="0" y="1"/>
                </a:moveTo>
                <a:lnTo>
                  <a:pt x="0" y="2640"/>
                </a:lnTo>
                <a:lnTo>
                  <a:pt x="1692" y="2640"/>
                </a:lnTo>
                <a:lnTo>
                  <a:pt x="1692" y="1"/>
                </a:lnTo>
                <a:close/>
              </a:path>
            </a:pathLst>
          </a:custGeom>
          <a:solidFill>
            <a:srgbClr val="EF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61"/>
          <p:cNvSpPr/>
          <p:nvPr/>
        </p:nvSpPr>
        <p:spPr>
          <a:xfrm>
            <a:off x="4515464" y="1321380"/>
            <a:ext cx="162969" cy="532267"/>
          </a:xfrm>
          <a:custGeom>
            <a:rect b="b" l="l" r="r" t="t"/>
            <a:pathLst>
              <a:path extrusionOk="0" h="2641" w="755">
                <a:moveTo>
                  <a:pt x="0" y="1"/>
                </a:moveTo>
                <a:lnTo>
                  <a:pt x="0" y="2640"/>
                </a:lnTo>
                <a:lnTo>
                  <a:pt x="754" y="2640"/>
                </a:lnTo>
                <a:lnTo>
                  <a:pt x="754" y="1"/>
                </a:lnTo>
                <a:close/>
              </a:path>
            </a:pathLst>
          </a:custGeom>
          <a:solidFill>
            <a:srgbClr val="CDD0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61"/>
          <p:cNvSpPr/>
          <p:nvPr/>
        </p:nvSpPr>
        <p:spPr>
          <a:xfrm>
            <a:off x="4931627" y="1771019"/>
            <a:ext cx="32810" cy="82631"/>
          </a:xfrm>
          <a:custGeom>
            <a:rect b="b" l="l" r="r" t="t"/>
            <a:pathLst>
              <a:path extrusionOk="0" h="410" w="152">
                <a:moveTo>
                  <a:pt x="1" y="0"/>
                </a:moveTo>
                <a:lnTo>
                  <a:pt x="1" y="409"/>
                </a:lnTo>
                <a:lnTo>
                  <a:pt x="152" y="409"/>
                </a:lnTo>
                <a:lnTo>
                  <a:pt x="152" y="0"/>
                </a:lnTo>
                <a:close/>
              </a:path>
            </a:pathLst>
          </a:custGeom>
          <a:solidFill>
            <a:srgbClr val="DF38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61"/>
          <p:cNvSpPr/>
          <p:nvPr/>
        </p:nvSpPr>
        <p:spPr>
          <a:xfrm>
            <a:off x="4731748" y="1380028"/>
            <a:ext cx="32810" cy="299892"/>
          </a:xfrm>
          <a:custGeom>
            <a:rect b="b" l="l" r="r" t="t"/>
            <a:pathLst>
              <a:path extrusionOk="0" h="1488" w="152">
                <a:moveTo>
                  <a:pt x="0" y="1"/>
                </a:moveTo>
                <a:lnTo>
                  <a:pt x="0" y="1488"/>
                </a:lnTo>
                <a:lnTo>
                  <a:pt x="151" y="1488"/>
                </a:lnTo>
                <a:lnTo>
                  <a:pt x="151" y="1"/>
                </a:lnTo>
                <a:close/>
              </a:path>
            </a:pathLst>
          </a:custGeom>
          <a:solidFill>
            <a:srgbClr val="EA7A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61"/>
          <p:cNvSpPr/>
          <p:nvPr/>
        </p:nvSpPr>
        <p:spPr>
          <a:xfrm>
            <a:off x="4515464" y="1321380"/>
            <a:ext cx="83967" cy="532267"/>
          </a:xfrm>
          <a:custGeom>
            <a:rect b="b" l="l" r="r" t="t"/>
            <a:pathLst>
              <a:path extrusionOk="0" h="2641" w="389">
                <a:moveTo>
                  <a:pt x="0" y="1"/>
                </a:moveTo>
                <a:lnTo>
                  <a:pt x="0" y="2640"/>
                </a:lnTo>
                <a:lnTo>
                  <a:pt x="388" y="2640"/>
                </a:lnTo>
                <a:lnTo>
                  <a:pt x="388" y="1"/>
                </a:lnTo>
                <a:close/>
              </a:path>
            </a:pathLst>
          </a:custGeom>
          <a:solidFill>
            <a:srgbClr val="DFE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61"/>
          <p:cNvSpPr/>
          <p:nvPr/>
        </p:nvSpPr>
        <p:spPr>
          <a:xfrm>
            <a:off x="4515464" y="1764368"/>
            <a:ext cx="162969" cy="89282"/>
          </a:xfrm>
          <a:custGeom>
            <a:rect b="b" l="l" r="r" t="t"/>
            <a:pathLst>
              <a:path extrusionOk="0" h="443" w="755">
                <a:moveTo>
                  <a:pt x="388" y="1"/>
                </a:moveTo>
                <a:lnTo>
                  <a:pt x="0" y="442"/>
                </a:lnTo>
                <a:lnTo>
                  <a:pt x="754" y="442"/>
                </a:lnTo>
                <a:lnTo>
                  <a:pt x="388" y="1"/>
                </a:lnTo>
                <a:close/>
              </a:path>
            </a:pathLst>
          </a:custGeom>
          <a:solidFill>
            <a:srgbClr val="EF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61"/>
          <p:cNvSpPr/>
          <p:nvPr/>
        </p:nvSpPr>
        <p:spPr>
          <a:xfrm>
            <a:off x="6267285" y="1196625"/>
            <a:ext cx="214126" cy="189045"/>
          </a:xfrm>
          <a:custGeom>
            <a:rect b="b" l="l" r="r" t="t"/>
            <a:pathLst>
              <a:path extrusionOk="0" h="938" w="992">
                <a:moveTo>
                  <a:pt x="399" y="1"/>
                </a:moveTo>
                <a:lnTo>
                  <a:pt x="302" y="33"/>
                </a:lnTo>
                <a:lnTo>
                  <a:pt x="216" y="76"/>
                </a:lnTo>
                <a:lnTo>
                  <a:pt x="141" y="141"/>
                </a:lnTo>
                <a:lnTo>
                  <a:pt x="76" y="216"/>
                </a:lnTo>
                <a:lnTo>
                  <a:pt x="33" y="302"/>
                </a:lnTo>
                <a:lnTo>
                  <a:pt x="11" y="399"/>
                </a:lnTo>
                <a:lnTo>
                  <a:pt x="1" y="496"/>
                </a:lnTo>
                <a:lnTo>
                  <a:pt x="1" y="927"/>
                </a:lnTo>
                <a:lnTo>
                  <a:pt x="130" y="927"/>
                </a:lnTo>
                <a:lnTo>
                  <a:pt x="130" y="496"/>
                </a:lnTo>
                <a:lnTo>
                  <a:pt x="130" y="421"/>
                </a:lnTo>
                <a:lnTo>
                  <a:pt x="152" y="356"/>
                </a:lnTo>
                <a:lnTo>
                  <a:pt x="184" y="291"/>
                </a:lnTo>
                <a:lnTo>
                  <a:pt x="238" y="238"/>
                </a:lnTo>
                <a:lnTo>
                  <a:pt x="292" y="184"/>
                </a:lnTo>
                <a:lnTo>
                  <a:pt x="356" y="151"/>
                </a:lnTo>
                <a:lnTo>
                  <a:pt x="421" y="130"/>
                </a:lnTo>
                <a:lnTo>
                  <a:pt x="572" y="130"/>
                </a:lnTo>
                <a:lnTo>
                  <a:pt x="636" y="151"/>
                </a:lnTo>
                <a:lnTo>
                  <a:pt x="701" y="184"/>
                </a:lnTo>
                <a:lnTo>
                  <a:pt x="755" y="238"/>
                </a:lnTo>
                <a:lnTo>
                  <a:pt x="798" y="291"/>
                </a:lnTo>
                <a:lnTo>
                  <a:pt x="841" y="356"/>
                </a:lnTo>
                <a:lnTo>
                  <a:pt x="863" y="421"/>
                </a:lnTo>
                <a:lnTo>
                  <a:pt x="863" y="496"/>
                </a:lnTo>
                <a:lnTo>
                  <a:pt x="841" y="927"/>
                </a:lnTo>
                <a:lnTo>
                  <a:pt x="970" y="938"/>
                </a:lnTo>
                <a:lnTo>
                  <a:pt x="992" y="496"/>
                </a:lnTo>
                <a:lnTo>
                  <a:pt x="981" y="399"/>
                </a:lnTo>
                <a:lnTo>
                  <a:pt x="960" y="302"/>
                </a:lnTo>
                <a:lnTo>
                  <a:pt x="906" y="216"/>
                </a:lnTo>
                <a:lnTo>
                  <a:pt x="852" y="141"/>
                </a:lnTo>
                <a:lnTo>
                  <a:pt x="776" y="76"/>
                </a:lnTo>
                <a:lnTo>
                  <a:pt x="690" y="33"/>
                </a:lnTo>
                <a:lnTo>
                  <a:pt x="593" y="1"/>
                </a:lnTo>
                <a:close/>
              </a:path>
            </a:pathLst>
          </a:custGeom>
          <a:solidFill>
            <a:srgbClr val="BABF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61"/>
          <p:cNvSpPr/>
          <p:nvPr/>
        </p:nvSpPr>
        <p:spPr>
          <a:xfrm>
            <a:off x="6386004" y="1196625"/>
            <a:ext cx="216500" cy="189045"/>
          </a:xfrm>
          <a:custGeom>
            <a:rect b="b" l="l" r="r" t="t"/>
            <a:pathLst>
              <a:path extrusionOk="0" h="938" w="1003">
                <a:moveTo>
                  <a:pt x="399" y="1"/>
                </a:moveTo>
                <a:lnTo>
                  <a:pt x="302" y="33"/>
                </a:lnTo>
                <a:lnTo>
                  <a:pt x="216" y="76"/>
                </a:lnTo>
                <a:lnTo>
                  <a:pt x="151" y="141"/>
                </a:lnTo>
                <a:lnTo>
                  <a:pt x="86" y="216"/>
                </a:lnTo>
                <a:lnTo>
                  <a:pt x="43" y="302"/>
                </a:lnTo>
                <a:lnTo>
                  <a:pt x="11" y="399"/>
                </a:lnTo>
                <a:lnTo>
                  <a:pt x="0" y="496"/>
                </a:lnTo>
                <a:lnTo>
                  <a:pt x="0" y="927"/>
                </a:lnTo>
                <a:lnTo>
                  <a:pt x="129" y="927"/>
                </a:lnTo>
                <a:lnTo>
                  <a:pt x="129" y="496"/>
                </a:lnTo>
                <a:lnTo>
                  <a:pt x="140" y="421"/>
                </a:lnTo>
                <a:lnTo>
                  <a:pt x="162" y="356"/>
                </a:lnTo>
                <a:lnTo>
                  <a:pt x="194" y="291"/>
                </a:lnTo>
                <a:lnTo>
                  <a:pt x="237" y="238"/>
                </a:lnTo>
                <a:lnTo>
                  <a:pt x="291" y="184"/>
                </a:lnTo>
                <a:lnTo>
                  <a:pt x="356" y="151"/>
                </a:lnTo>
                <a:lnTo>
                  <a:pt x="420" y="130"/>
                </a:lnTo>
                <a:lnTo>
                  <a:pt x="571" y="130"/>
                </a:lnTo>
                <a:lnTo>
                  <a:pt x="647" y="151"/>
                </a:lnTo>
                <a:lnTo>
                  <a:pt x="711" y="184"/>
                </a:lnTo>
                <a:lnTo>
                  <a:pt x="765" y="238"/>
                </a:lnTo>
                <a:lnTo>
                  <a:pt x="808" y="291"/>
                </a:lnTo>
                <a:lnTo>
                  <a:pt x="840" y="356"/>
                </a:lnTo>
                <a:lnTo>
                  <a:pt x="862" y="421"/>
                </a:lnTo>
                <a:lnTo>
                  <a:pt x="873" y="496"/>
                </a:lnTo>
                <a:lnTo>
                  <a:pt x="851" y="927"/>
                </a:lnTo>
                <a:lnTo>
                  <a:pt x="981" y="938"/>
                </a:lnTo>
                <a:lnTo>
                  <a:pt x="1002" y="496"/>
                </a:lnTo>
                <a:lnTo>
                  <a:pt x="991" y="399"/>
                </a:lnTo>
                <a:lnTo>
                  <a:pt x="959" y="302"/>
                </a:lnTo>
                <a:lnTo>
                  <a:pt x="916" y="216"/>
                </a:lnTo>
                <a:lnTo>
                  <a:pt x="851" y="141"/>
                </a:lnTo>
                <a:lnTo>
                  <a:pt x="776" y="76"/>
                </a:lnTo>
                <a:lnTo>
                  <a:pt x="690" y="33"/>
                </a:lnTo>
                <a:lnTo>
                  <a:pt x="603" y="1"/>
                </a:lnTo>
                <a:close/>
              </a:path>
            </a:pathLst>
          </a:custGeom>
          <a:solidFill>
            <a:srgbClr val="DFE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61"/>
          <p:cNvSpPr/>
          <p:nvPr/>
        </p:nvSpPr>
        <p:spPr>
          <a:xfrm>
            <a:off x="6341754" y="1318155"/>
            <a:ext cx="365222" cy="532267"/>
          </a:xfrm>
          <a:custGeom>
            <a:rect b="b" l="l" r="r" t="t"/>
            <a:pathLst>
              <a:path extrusionOk="0" h="2641" w="1692">
                <a:moveTo>
                  <a:pt x="0" y="1"/>
                </a:moveTo>
                <a:lnTo>
                  <a:pt x="0" y="2640"/>
                </a:lnTo>
                <a:lnTo>
                  <a:pt x="1692" y="2640"/>
                </a:lnTo>
                <a:lnTo>
                  <a:pt x="169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61"/>
          <p:cNvSpPr/>
          <p:nvPr/>
        </p:nvSpPr>
        <p:spPr>
          <a:xfrm>
            <a:off x="6341754" y="1318155"/>
            <a:ext cx="365222" cy="532267"/>
          </a:xfrm>
          <a:custGeom>
            <a:rect b="b" l="l" r="r" t="t"/>
            <a:pathLst>
              <a:path extrusionOk="0" h="2641" w="1692">
                <a:moveTo>
                  <a:pt x="0" y="1"/>
                </a:moveTo>
                <a:lnTo>
                  <a:pt x="0" y="2640"/>
                </a:lnTo>
                <a:lnTo>
                  <a:pt x="1692" y="2640"/>
                </a:lnTo>
                <a:lnTo>
                  <a:pt x="1692" y="1"/>
                </a:lnTo>
                <a:close/>
              </a:path>
            </a:pathLst>
          </a:custGeom>
          <a:solidFill>
            <a:srgbClr val="EF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61"/>
          <p:cNvSpPr/>
          <p:nvPr/>
        </p:nvSpPr>
        <p:spPr>
          <a:xfrm>
            <a:off x="6179002" y="1318155"/>
            <a:ext cx="162969" cy="532267"/>
          </a:xfrm>
          <a:custGeom>
            <a:rect b="b" l="l" r="r" t="t"/>
            <a:pathLst>
              <a:path extrusionOk="0" h="2641" w="755">
                <a:moveTo>
                  <a:pt x="0" y="1"/>
                </a:moveTo>
                <a:lnTo>
                  <a:pt x="0" y="2640"/>
                </a:lnTo>
                <a:lnTo>
                  <a:pt x="754" y="2640"/>
                </a:lnTo>
                <a:lnTo>
                  <a:pt x="754" y="1"/>
                </a:lnTo>
                <a:close/>
              </a:path>
            </a:pathLst>
          </a:custGeom>
          <a:solidFill>
            <a:srgbClr val="CDD0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61"/>
          <p:cNvSpPr/>
          <p:nvPr/>
        </p:nvSpPr>
        <p:spPr>
          <a:xfrm>
            <a:off x="6595165" y="1767794"/>
            <a:ext cx="32810" cy="82631"/>
          </a:xfrm>
          <a:custGeom>
            <a:rect b="b" l="l" r="r" t="t"/>
            <a:pathLst>
              <a:path extrusionOk="0" h="410" w="152">
                <a:moveTo>
                  <a:pt x="1" y="0"/>
                </a:moveTo>
                <a:lnTo>
                  <a:pt x="1" y="409"/>
                </a:lnTo>
                <a:lnTo>
                  <a:pt x="152" y="409"/>
                </a:lnTo>
                <a:lnTo>
                  <a:pt x="152" y="0"/>
                </a:lnTo>
                <a:close/>
              </a:path>
            </a:pathLst>
          </a:custGeom>
          <a:solidFill>
            <a:srgbClr val="DF38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61"/>
          <p:cNvSpPr/>
          <p:nvPr/>
        </p:nvSpPr>
        <p:spPr>
          <a:xfrm>
            <a:off x="6395286" y="1376803"/>
            <a:ext cx="32810" cy="299892"/>
          </a:xfrm>
          <a:custGeom>
            <a:rect b="b" l="l" r="r" t="t"/>
            <a:pathLst>
              <a:path extrusionOk="0" h="1488" w="152">
                <a:moveTo>
                  <a:pt x="0" y="1"/>
                </a:moveTo>
                <a:lnTo>
                  <a:pt x="0" y="1488"/>
                </a:lnTo>
                <a:lnTo>
                  <a:pt x="151" y="1488"/>
                </a:lnTo>
                <a:lnTo>
                  <a:pt x="151" y="1"/>
                </a:lnTo>
                <a:close/>
              </a:path>
            </a:pathLst>
          </a:custGeom>
          <a:solidFill>
            <a:srgbClr val="EA7A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61"/>
          <p:cNvSpPr/>
          <p:nvPr/>
        </p:nvSpPr>
        <p:spPr>
          <a:xfrm>
            <a:off x="6179002" y="1318155"/>
            <a:ext cx="83967" cy="532267"/>
          </a:xfrm>
          <a:custGeom>
            <a:rect b="b" l="l" r="r" t="t"/>
            <a:pathLst>
              <a:path extrusionOk="0" h="2641" w="389">
                <a:moveTo>
                  <a:pt x="0" y="1"/>
                </a:moveTo>
                <a:lnTo>
                  <a:pt x="0" y="2640"/>
                </a:lnTo>
                <a:lnTo>
                  <a:pt x="388" y="2640"/>
                </a:lnTo>
                <a:lnTo>
                  <a:pt x="388" y="1"/>
                </a:lnTo>
                <a:close/>
              </a:path>
            </a:pathLst>
          </a:custGeom>
          <a:solidFill>
            <a:srgbClr val="DFE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61"/>
          <p:cNvSpPr/>
          <p:nvPr/>
        </p:nvSpPr>
        <p:spPr>
          <a:xfrm>
            <a:off x="6179002" y="1761143"/>
            <a:ext cx="162969" cy="89282"/>
          </a:xfrm>
          <a:custGeom>
            <a:rect b="b" l="l" r="r" t="t"/>
            <a:pathLst>
              <a:path extrusionOk="0" h="443" w="755">
                <a:moveTo>
                  <a:pt x="388" y="1"/>
                </a:moveTo>
                <a:lnTo>
                  <a:pt x="0" y="442"/>
                </a:lnTo>
                <a:lnTo>
                  <a:pt x="754" y="442"/>
                </a:lnTo>
                <a:lnTo>
                  <a:pt x="388" y="1"/>
                </a:lnTo>
                <a:close/>
              </a:path>
            </a:pathLst>
          </a:custGeom>
          <a:solidFill>
            <a:srgbClr val="EF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3" name="Google Shape;74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726" y="858054"/>
            <a:ext cx="930350" cy="1343833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61"/>
          <p:cNvSpPr/>
          <p:nvPr/>
        </p:nvSpPr>
        <p:spPr>
          <a:xfrm>
            <a:off x="8070252" y="1307544"/>
            <a:ext cx="264664" cy="423677"/>
          </a:xfrm>
          <a:custGeom>
            <a:rect b="b" l="l" r="r" t="t"/>
            <a:pathLst>
              <a:path extrusionOk="0" h="863" w="539">
                <a:moveTo>
                  <a:pt x="270" y="0"/>
                </a:moveTo>
                <a:lnTo>
                  <a:pt x="216" y="11"/>
                </a:lnTo>
                <a:lnTo>
                  <a:pt x="151" y="33"/>
                </a:lnTo>
                <a:lnTo>
                  <a:pt x="108" y="65"/>
                </a:lnTo>
                <a:lnTo>
                  <a:pt x="65" y="108"/>
                </a:lnTo>
                <a:lnTo>
                  <a:pt x="32" y="151"/>
                </a:lnTo>
                <a:lnTo>
                  <a:pt x="11" y="205"/>
                </a:lnTo>
                <a:lnTo>
                  <a:pt x="0" y="270"/>
                </a:lnTo>
                <a:lnTo>
                  <a:pt x="11" y="323"/>
                </a:lnTo>
                <a:lnTo>
                  <a:pt x="32" y="388"/>
                </a:lnTo>
                <a:lnTo>
                  <a:pt x="86" y="474"/>
                </a:lnTo>
                <a:lnTo>
                  <a:pt x="151" y="582"/>
                </a:lnTo>
                <a:lnTo>
                  <a:pt x="216" y="701"/>
                </a:lnTo>
                <a:lnTo>
                  <a:pt x="248" y="765"/>
                </a:lnTo>
                <a:lnTo>
                  <a:pt x="259" y="841"/>
                </a:lnTo>
                <a:lnTo>
                  <a:pt x="270" y="862"/>
                </a:lnTo>
                <a:lnTo>
                  <a:pt x="313" y="744"/>
                </a:lnTo>
                <a:lnTo>
                  <a:pt x="366" y="636"/>
                </a:lnTo>
                <a:lnTo>
                  <a:pt x="431" y="517"/>
                </a:lnTo>
                <a:lnTo>
                  <a:pt x="507" y="388"/>
                </a:lnTo>
                <a:lnTo>
                  <a:pt x="528" y="345"/>
                </a:lnTo>
                <a:lnTo>
                  <a:pt x="539" y="291"/>
                </a:lnTo>
                <a:lnTo>
                  <a:pt x="539" y="248"/>
                </a:lnTo>
                <a:lnTo>
                  <a:pt x="528" y="194"/>
                </a:lnTo>
                <a:lnTo>
                  <a:pt x="507" y="151"/>
                </a:lnTo>
                <a:lnTo>
                  <a:pt x="485" y="108"/>
                </a:lnTo>
                <a:lnTo>
                  <a:pt x="453" y="76"/>
                </a:lnTo>
                <a:lnTo>
                  <a:pt x="410" y="43"/>
                </a:lnTo>
                <a:lnTo>
                  <a:pt x="366" y="22"/>
                </a:lnTo>
                <a:lnTo>
                  <a:pt x="313" y="11"/>
                </a:lnTo>
                <a:lnTo>
                  <a:pt x="270" y="0"/>
                </a:ln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61"/>
          <p:cNvSpPr/>
          <p:nvPr/>
        </p:nvSpPr>
        <p:spPr>
          <a:xfrm>
            <a:off x="8144945" y="1388900"/>
            <a:ext cx="132577" cy="127643"/>
          </a:xfrm>
          <a:custGeom>
            <a:rect b="b" l="l" r="r" t="t"/>
            <a:pathLst>
              <a:path extrusionOk="0" h="260" w="270">
                <a:moveTo>
                  <a:pt x="130" y="1"/>
                </a:moveTo>
                <a:lnTo>
                  <a:pt x="97" y="97"/>
                </a:lnTo>
                <a:lnTo>
                  <a:pt x="0" y="108"/>
                </a:lnTo>
                <a:lnTo>
                  <a:pt x="76" y="162"/>
                </a:lnTo>
                <a:lnTo>
                  <a:pt x="54" y="259"/>
                </a:lnTo>
                <a:lnTo>
                  <a:pt x="130" y="216"/>
                </a:lnTo>
                <a:lnTo>
                  <a:pt x="216" y="259"/>
                </a:lnTo>
                <a:lnTo>
                  <a:pt x="194" y="162"/>
                </a:lnTo>
                <a:lnTo>
                  <a:pt x="270" y="97"/>
                </a:lnTo>
                <a:lnTo>
                  <a:pt x="173" y="97"/>
                </a:lnTo>
                <a:lnTo>
                  <a:pt x="13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6" name="Google Shape;746;p61"/>
          <p:cNvCxnSpPr/>
          <p:nvPr/>
        </p:nvCxnSpPr>
        <p:spPr>
          <a:xfrm>
            <a:off x="3578075" y="2582900"/>
            <a:ext cx="0" cy="2352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7" name="Google Shape;747;p61"/>
          <p:cNvCxnSpPr/>
          <p:nvPr/>
        </p:nvCxnSpPr>
        <p:spPr>
          <a:xfrm>
            <a:off x="6230875" y="2582900"/>
            <a:ext cx="0" cy="2352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8" name="Google Shape;748;p61"/>
          <p:cNvSpPr txBox="1"/>
          <p:nvPr/>
        </p:nvSpPr>
        <p:spPr>
          <a:xfrm>
            <a:off x="1169950" y="2253500"/>
            <a:ext cx="2073900" cy="31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Acquisition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49" name="Google Shape;749;p61"/>
          <p:cNvSpPr txBox="1"/>
          <p:nvPr/>
        </p:nvSpPr>
        <p:spPr>
          <a:xfrm>
            <a:off x="3911075" y="2253500"/>
            <a:ext cx="2073900" cy="31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Development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50" name="Google Shape;750;p61"/>
          <p:cNvSpPr txBox="1"/>
          <p:nvPr/>
        </p:nvSpPr>
        <p:spPr>
          <a:xfrm>
            <a:off x="6578075" y="2253500"/>
            <a:ext cx="2073900" cy="31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Retention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51" name="Google Shape;751;p61"/>
          <p:cNvSpPr/>
          <p:nvPr/>
        </p:nvSpPr>
        <p:spPr>
          <a:xfrm>
            <a:off x="1188150" y="2859200"/>
            <a:ext cx="2009700" cy="18816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 solutions predict these inputs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61"/>
          <p:cNvSpPr/>
          <p:nvPr/>
        </p:nvSpPr>
        <p:spPr>
          <a:xfrm>
            <a:off x="3762175" y="2812500"/>
            <a:ext cx="2290200" cy="2031300"/>
          </a:xfrm>
          <a:prstGeom prst="rect">
            <a:avLst/>
          </a:prstGeom>
          <a:solidFill>
            <a:srgbClr val="FFFFFF">
              <a:alpha val="85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61"/>
          <p:cNvSpPr/>
          <p:nvPr/>
        </p:nvSpPr>
        <p:spPr>
          <a:xfrm>
            <a:off x="6469925" y="2723325"/>
            <a:ext cx="2290200" cy="2031300"/>
          </a:xfrm>
          <a:prstGeom prst="rect">
            <a:avLst/>
          </a:prstGeom>
          <a:solidFill>
            <a:srgbClr val="FFFFFF">
              <a:alpha val="85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61"/>
          <p:cNvSpPr txBox="1"/>
          <p:nvPr/>
        </p:nvSpPr>
        <p:spPr>
          <a:xfrm>
            <a:off x="7814375" y="292125"/>
            <a:ext cx="1210200" cy="3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62"/>
          <p:cNvSpPr txBox="1"/>
          <p:nvPr>
            <p:ph type="title"/>
          </p:nvPr>
        </p:nvSpPr>
        <p:spPr>
          <a:xfrm>
            <a:off x="344501" y="264375"/>
            <a:ext cx="7797000" cy="4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many inputs to a good CLV model</a:t>
            </a:r>
            <a:endParaRPr/>
          </a:p>
        </p:txBody>
      </p:sp>
      <p:sp>
        <p:nvSpPr>
          <p:cNvPr id="760" name="Google Shape;760;p62"/>
          <p:cNvSpPr/>
          <p:nvPr/>
        </p:nvSpPr>
        <p:spPr>
          <a:xfrm>
            <a:off x="807075" y="2376631"/>
            <a:ext cx="2675100" cy="29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First purchase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App Install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Subscription Sign Up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Lead Submitted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Application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1" name="Google Shape;761;p62"/>
          <p:cNvSpPr/>
          <p:nvPr/>
        </p:nvSpPr>
        <p:spPr>
          <a:xfrm>
            <a:off x="3569375" y="2376631"/>
            <a:ext cx="2675100" cy="29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1st Repeat Purchase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1st Paid Action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Upgrade Subscription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Lead Closed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Approval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2" name="Google Shape;762;p62"/>
          <p:cNvSpPr/>
          <p:nvPr/>
        </p:nvSpPr>
        <p:spPr>
          <a:xfrm>
            <a:off x="6260975" y="2376625"/>
            <a:ext cx="2675100" cy="29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Long term spend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&amp;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Churn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3" name="Google Shape;763;p62"/>
          <p:cNvCxnSpPr/>
          <p:nvPr/>
        </p:nvCxnSpPr>
        <p:spPr>
          <a:xfrm flipH="1" rot="10800000">
            <a:off x="1630399" y="1516377"/>
            <a:ext cx="6497400" cy="3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64" name="Google Shape;764;p62"/>
          <p:cNvSpPr txBox="1"/>
          <p:nvPr/>
        </p:nvSpPr>
        <p:spPr>
          <a:xfrm>
            <a:off x="7171225" y="1666275"/>
            <a:ext cx="20097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High Value Customer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65" name="Google Shape;765;p62"/>
          <p:cNvSpPr/>
          <p:nvPr/>
        </p:nvSpPr>
        <p:spPr>
          <a:xfrm>
            <a:off x="2253185" y="1190075"/>
            <a:ext cx="214126" cy="189045"/>
          </a:xfrm>
          <a:custGeom>
            <a:rect b="b" l="l" r="r" t="t"/>
            <a:pathLst>
              <a:path extrusionOk="0" h="938" w="992">
                <a:moveTo>
                  <a:pt x="399" y="1"/>
                </a:moveTo>
                <a:lnTo>
                  <a:pt x="302" y="33"/>
                </a:lnTo>
                <a:lnTo>
                  <a:pt x="216" y="76"/>
                </a:lnTo>
                <a:lnTo>
                  <a:pt x="141" y="141"/>
                </a:lnTo>
                <a:lnTo>
                  <a:pt x="76" y="216"/>
                </a:lnTo>
                <a:lnTo>
                  <a:pt x="33" y="302"/>
                </a:lnTo>
                <a:lnTo>
                  <a:pt x="11" y="399"/>
                </a:lnTo>
                <a:lnTo>
                  <a:pt x="1" y="496"/>
                </a:lnTo>
                <a:lnTo>
                  <a:pt x="1" y="927"/>
                </a:lnTo>
                <a:lnTo>
                  <a:pt x="130" y="927"/>
                </a:lnTo>
                <a:lnTo>
                  <a:pt x="130" y="496"/>
                </a:lnTo>
                <a:lnTo>
                  <a:pt x="130" y="421"/>
                </a:lnTo>
                <a:lnTo>
                  <a:pt x="152" y="356"/>
                </a:lnTo>
                <a:lnTo>
                  <a:pt x="184" y="291"/>
                </a:lnTo>
                <a:lnTo>
                  <a:pt x="238" y="238"/>
                </a:lnTo>
                <a:lnTo>
                  <a:pt x="292" y="184"/>
                </a:lnTo>
                <a:lnTo>
                  <a:pt x="356" y="151"/>
                </a:lnTo>
                <a:lnTo>
                  <a:pt x="421" y="130"/>
                </a:lnTo>
                <a:lnTo>
                  <a:pt x="572" y="130"/>
                </a:lnTo>
                <a:lnTo>
                  <a:pt x="636" y="151"/>
                </a:lnTo>
                <a:lnTo>
                  <a:pt x="701" y="184"/>
                </a:lnTo>
                <a:lnTo>
                  <a:pt x="755" y="238"/>
                </a:lnTo>
                <a:lnTo>
                  <a:pt x="798" y="291"/>
                </a:lnTo>
                <a:lnTo>
                  <a:pt x="841" y="356"/>
                </a:lnTo>
                <a:lnTo>
                  <a:pt x="863" y="421"/>
                </a:lnTo>
                <a:lnTo>
                  <a:pt x="863" y="496"/>
                </a:lnTo>
                <a:lnTo>
                  <a:pt x="841" y="927"/>
                </a:lnTo>
                <a:lnTo>
                  <a:pt x="970" y="938"/>
                </a:lnTo>
                <a:lnTo>
                  <a:pt x="992" y="496"/>
                </a:lnTo>
                <a:lnTo>
                  <a:pt x="981" y="399"/>
                </a:lnTo>
                <a:lnTo>
                  <a:pt x="960" y="302"/>
                </a:lnTo>
                <a:lnTo>
                  <a:pt x="906" y="216"/>
                </a:lnTo>
                <a:lnTo>
                  <a:pt x="852" y="141"/>
                </a:lnTo>
                <a:lnTo>
                  <a:pt x="776" y="76"/>
                </a:lnTo>
                <a:lnTo>
                  <a:pt x="690" y="33"/>
                </a:lnTo>
                <a:lnTo>
                  <a:pt x="593" y="1"/>
                </a:lnTo>
                <a:close/>
              </a:path>
            </a:pathLst>
          </a:custGeom>
          <a:solidFill>
            <a:srgbClr val="BABF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62"/>
          <p:cNvSpPr/>
          <p:nvPr/>
        </p:nvSpPr>
        <p:spPr>
          <a:xfrm>
            <a:off x="2371904" y="1190075"/>
            <a:ext cx="216500" cy="189045"/>
          </a:xfrm>
          <a:custGeom>
            <a:rect b="b" l="l" r="r" t="t"/>
            <a:pathLst>
              <a:path extrusionOk="0" h="938" w="1003">
                <a:moveTo>
                  <a:pt x="399" y="1"/>
                </a:moveTo>
                <a:lnTo>
                  <a:pt x="302" y="33"/>
                </a:lnTo>
                <a:lnTo>
                  <a:pt x="216" y="76"/>
                </a:lnTo>
                <a:lnTo>
                  <a:pt x="151" y="141"/>
                </a:lnTo>
                <a:lnTo>
                  <a:pt x="86" y="216"/>
                </a:lnTo>
                <a:lnTo>
                  <a:pt x="43" y="302"/>
                </a:lnTo>
                <a:lnTo>
                  <a:pt x="11" y="399"/>
                </a:lnTo>
                <a:lnTo>
                  <a:pt x="0" y="496"/>
                </a:lnTo>
                <a:lnTo>
                  <a:pt x="0" y="927"/>
                </a:lnTo>
                <a:lnTo>
                  <a:pt x="129" y="927"/>
                </a:lnTo>
                <a:lnTo>
                  <a:pt x="129" y="496"/>
                </a:lnTo>
                <a:lnTo>
                  <a:pt x="140" y="421"/>
                </a:lnTo>
                <a:lnTo>
                  <a:pt x="162" y="356"/>
                </a:lnTo>
                <a:lnTo>
                  <a:pt x="194" y="291"/>
                </a:lnTo>
                <a:lnTo>
                  <a:pt x="237" y="238"/>
                </a:lnTo>
                <a:lnTo>
                  <a:pt x="291" y="184"/>
                </a:lnTo>
                <a:lnTo>
                  <a:pt x="356" y="151"/>
                </a:lnTo>
                <a:lnTo>
                  <a:pt x="420" y="130"/>
                </a:lnTo>
                <a:lnTo>
                  <a:pt x="571" y="130"/>
                </a:lnTo>
                <a:lnTo>
                  <a:pt x="647" y="151"/>
                </a:lnTo>
                <a:lnTo>
                  <a:pt x="711" y="184"/>
                </a:lnTo>
                <a:lnTo>
                  <a:pt x="765" y="238"/>
                </a:lnTo>
                <a:lnTo>
                  <a:pt x="808" y="291"/>
                </a:lnTo>
                <a:lnTo>
                  <a:pt x="840" y="356"/>
                </a:lnTo>
                <a:lnTo>
                  <a:pt x="862" y="421"/>
                </a:lnTo>
                <a:lnTo>
                  <a:pt x="873" y="496"/>
                </a:lnTo>
                <a:lnTo>
                  <a:pt x="851" y="927"/>
                </a:lnTo>
                <a:lnTo>
                  <a:pt x="981" y="938"/>
                </a:lnTo>
                <a:lnTo>
                  <a:pt x="1002" y="496"/>
                </a:lnTo>
                <a:lnTo>
                  <a:pt x="991" y="399"/>
                </a:lnTo>
                <a:lnTo>
                  <a:pt x="959" y="302"/>
                </a:lnTo>
                <a:lnTo>
                  <a:pt x="916" y="216"/>
                </a:lnTo>
                <a:lnTo>
                  <a:pt x="851" y="141"/>
                </a:lnTo>
                <a:lnTo>
                  <a:pt x="776" y="76"/>
                </a:lnTo>
                <a:lnTo>
                  <a:pt x="690" y="33"/>
                </a:lnTo>
                <a:lnTo>
                  <a:pt x="603" y="1"/>
                </a:lnTo>
                <a:close/>
              </a:path>
            </a:pathLst>
          </a:custGeom>
          <a:solidFill>
            <a:srgbClr val="DFE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62"/>
          <p:cNvSpPr/>
          <p:nvPr/>
        </p:nvSpPr>
        <p:spPr>
          <a:xfrm>
            <a:off x="2327654" y="1311605"/>
            <a:ext cx="365222" cy="532267"/>
          </a:xfrm>
          <a:custGeom>
            <a:rect b="b" l="l" r="r" t="t"/>
            <a:pathLst>
              <a:path extrusionOk="0" h="2641" w="1692">
                <a:moveTo>
                  <a:pt x="0" y="1"/>
                </a:moveTo>
                <a:lnTo>
                  <a:pt x="0" y="2640"/>
                </a:lnTo>
                <a:lnTo>
                  <a:pt x="1692" y="2640"/>
                </a:lnTo>
                <a:lnTo>
                  <a:pt x="169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62"/>
          <p:cNvSpPr/>
          <p:nvPr/>
        </p:nvSpPr>
        <p:spPr>
          <a:xfrm>
            <a:off x="2327654" y="1311605"/>
            <a:ext cx="365222" cy="532267"/>
          </a:xfrm>
          <a:custGeom>
            <a:rect b="b" l="l" r="r" t="t"/>
            <a:pathLst>
              <a:path extrusionOk="0" h="2641" w="1692">
                <a:moveTo>
                  <a:pt x="0" y="1"/>
                </a:moveTo>
                <a:lnTo>
                  <a:pt x="0" y="2640"/>
                </a:lnTo>
                <a:lnTo>
                  <a:pt x="1692" y="2640"/>
                </a:lnTo>
                <a:lnTo>
                  <a:pt x="1692" y="1"/>
                </a:lnTo>
                <a:close/>
              </a:path>
            </a:pathLst>
          </a:custGeom>
          <a:solidFill>
            <a:srgbClr val="EF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62"/>
          <p:cNvSpPr/>
          <p:nvPr/>
        </p:nvSpPr>
        <p:spPr>
          <a:xfrm>
            <a:off x="2164902" y="1311605"/>
            <a:ext cx="162969" cy="532267"/>
          </a:xfrm>
          <a:custGeom>
            <a:rect b="b" l="l" r="r" t="t"/>
            <a:pathLst>
              <a:path extrusionOk="0" h="2641" w="755">
                <a:moveTo>
                  <a:pt x="0" y="1"/>
                </a:moveTo>
                <a:lnTo>
                  <a:pt x="0" y="2640"/>
                </a:lnTo>
                <a:lnTo>
                  <a:pt x="754" y="2640"/>
                </a:lnTo>
                <a:lnTo>
                  <a:pt x="754" y="1"/>
                </a:lnTo>
                <a:close/>
              </a:path>
            </a:pathLst>
          </a:custGeom>
          <a:solidFill>
            <a:srgbClr val="CDD0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62"/>
          <p:cNvSpPr/>
          <p:nvPr/>
        </p:nvSpPr>
        <p:spPr>
          <a:xfrm>
            <a:off x="2581065" y="1761244"/>
            <a:ext cx="32810" cy="82631"/>
          </a:xfrm>
          <a:custGeom>
            <a:rect b="b" l="l" r="r" t="t"/>
            <a:pathLst>
              <a:path extrusionOk="0" h="410" w="152">
                <a:moveTo>
                  <a:pt x="1" y="0"/>
                </a:moveTo>
                <a:lnTo>
                  <a:pt x="1" y="409"/>
                </a:lnTo>
                <a:lnTo>
                  <a:pt x="152" y="409"/>
                </a:lnTo>
                <a:lnTo>
                  <a:pt x="152" y="0"/>
                </a:lnTo>
                <a:close/>
              </a:path>
            </a:pathLst>
          </a:custGeom>
          <a:solidFill>
            <a:srgbClr val="DF38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62"/>
          <p:cNvSpPr/>
          <p:nvPr/>
        </p:nvSpPr>
        <p:spPr>
          <a:xfrm>
            <a:off x="2381186" y="1370253"/>
            <a:ext cx="32810" cy="299892"/>
          </a:xfrm>
          <a:custGeom>
            <a:rect b="b" l="l" r="r" t="t"/>
            <a:pathLst>
              <a:path extrusionOk="0" h="1488" w="152">
                <a:moveTo>
                  <a:pt x="0" y="1"/>
                </a:moveTo>
                <a:lnTo>
                  <a:pt x="0" y="1488"/>
                </a:lnTo>
                <a:lnTo>
                  <a:pt x="151" y="1488"/>
                </a:lnTo>
                <a:lnTo>
                  <a:pt x="151" y="1"/>
                </a:lnTo>
                <a:close/>
              </a:path>
            </a:pathLst>
          </a:custGeom>
          <a:solidFill>
            <a:srgbClr val="EA7A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2"/>
          <p:cNvSpPr/>
          <p:nvPr/>
        </p:nvSpPr>
        <p:spPr>
          <a:xfrm>
            <a:off x="2164902" y="1311605"/>
            <a:ext cx="83967" cy="532267"/>
          </a:xfrm>
          <a:custGeom>
            <a:rect b="b" l="l" r="r" t="t"/>
            <a:pathLst>
              <a:path extrusionOk="0" h="2641" w="389">
                <a:moveTo>
                  <a:pt x="0" y="1"/>
                </a:moveTo>
                <a:lnTo>
                  <a:pt x="0" y="2640"/>
                </a:lnTo>
                <a:lnTo>
                  <a:pt x="388" y="2640"/>
                </a:lnTo>
                <a:lnTo>
                  <a:pt x="388" y="1"/>
                </a:lnTo>
                <a:close/>
              </a:path>
            </a:pathLst>
          </a:custGeom>
          <a:solidFill>
            <a:srgbClr val="DFE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62"/>
          <p:cNvSpPr/>
          <p:nvPr/>
        </p:nvSpPr>
        <p:spPr>
          <a:xfrm>
            <a:off x="2164902" y="1754593"/>
            <a:ext cx="162969" cy="89282"/>
          </a:xfrm>
          <a:custGeom>
            <a:rect b="b" l="l" r="r" t="t"/>
            <a:pathLst>
              <a:path extrusionOk="0" h="443" w="755">
                <a:moveTo>
                  <a:pt x="388" y="1"/>
                </a:moveTo>
                <a:lnTo>
                  <a:pt x="0" y="442"/>
                </a:lnTo>
                <a:lnTo>
                  <a:pt x="754" y="442"/>
                </a:lnTo>
                <a:lnTo>
                  <a:pt x="388" y="1"/>
                </a:lnTo>
                <a:close/>
              </a:path>
            </a:pathLst>
          </a:custGeom>
          <a:solidFill>
            <a:srgbClr val="EF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62"/>
          <p:cNvSpPr/>
          <p:nvPr/>
        </p:nvSpPr>
        <p:spPr>
          <a:xfrm>
            <a:off x="4603748" y="1199850"/>
            <a:ext cx="214126" cy="189045"/>
          </a:xfrm>
          <a:custGeom>
            <a:rect b="b" l="l" r="r" t="t"/>
            <a:pathLst>
              <a:path extrusionOk="0" h="938" w="992">
                <a:moveTo>
                  <a:pt x="399" y="1"/>
                </a:moveTo>
                <a:lnTo>
                  <a:pt x="302" y="33"/>
                </a:lnTo>
                <a:lnTo>
                  <a:pt x="216" y="76"/>
                </a:lnTo>
                <a:lnTo>
                  <a:pt x="141" y="141"/>
                </a:lnTo>
                <a:lnTo>
                  <a:pt x="76" y="216"/>
                </a:lnTo>
                <a:lnTo>
                  <a:pt x="33" y="302"/>
                </a:lnTo>
                <a:lnTo>
                  <a:pt x="11" y="399"/>
                </a:lnTo>
                <a:lnTo>
                  <a:pt x="1" y="496"/>
                </a:lnTo>
                <a:lnTo>
                  <a:pt x="1" y="927"/>
                </a:lnTo>
                <a:lnTo>
                  <a:pt x="130" y="927"/>
                </a:lnTo>
                <a:lnTo>
                  <a:pt x="130" y="496"/>
                </a:lnTo>
                <a:lnTo>
                  <a:pt x="130" y="421"/>
                </a:lnTo>
                <a:lnTo>
                  <a:pt x="152" y="356"/>
                </a:lnTo>
                <a:lnTo>
                  <a:pt x="184" y="291"/>
                </a:lnTo>
                <a:lnTo>
                  <a:pt x="238" y="238"/>
                </a:lnTo>
                <a:lnTo>
                  <a:pt x="292" y="184"/>
                </a:lnTo>
                <a:lnTo>
                  <a:pt x="356" y="151"/>
                </a:lnTo>
                <a:lnTo>
                  <a:pt x="421" y="130"/>
                </a:lnTo>
                <a:lnTo>
                  <a:pt x="572" y="130"/>
                </a:lnTo>
                <a:lnTo>
                  <a:pt x="636" y="151"/>
                </a:lnTo>
                <a:lnTo>
                  <a:pt x="701" y="184"/>
                </a:lnTo>
                <a:lnTo>
                  <a:pt x="755" y="238"/>
                </a:lnTo>
                <a:lnTo>
                  <a:pt x="798" y="291"/>
                </a:lnTo>
                <a:lnTo>
                  <a:pt x="841" y="356"/>
                </a:lnTo>
                <a:lnTo>
                  <a:pt x="863" y="421"/>
                </a:lnTo>
                <a:lnTo>
                  <a:pt x="863" y="496"/>
                </a:lnTo>
                <a:lnTo>
                  <a:pt x="841" y="927"/>
                </a:lnTo>
                <a:lnTo>
                  <a:pt x="970" y="938"/>
                </a:lnTo>
                <a:lnTo>
                  <a:pt x="992" y="496"/>
                </a:lnTo>
                <a:lnTo>
                  <a:pt x="981" y="399"/>
                </a:lnTo>
                <a:lnTo>
                  <a:pt x="960" y="302"/>
                </a:lnTo>
                <a:lnTo>
                  <a:pt x="906" y="216"/>
                </a:lnTo>
                <a:lnTo>
                  <a:pt x="852" y="141"/>
                </a:lnTo>
                <a:lnTo>
                  <a:pt x="776" y="76"/>
                </a:lnTo>
                <a:lnTo>
                  <a:pt x="690" y="33"/>
                </a:lnTo>
                <a:lnTo>
                  <a:pt x="593" y="1"/>
                </a:lnTo>
                <a:close/>
              </a:path>
            </a:pathLst>
          </a:custGeom>
          <a:solidFill>
            <a:srgbClr val="BABF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62"/>
          <p:cNvSpPr/>
          <p:nvPr/>
        </p:nvSpPr>
        <p:spPr>
          <a:xfrm>
            <a:off x="4722467" y="1199850"/>
            <a:ext cx="216500" cy="189045"/>
          </a:xfrm>
          <a:custGeom>
            <a:rect b="b" l="l" r="r" t="t"/>
            <a:pathLst>
              <a:path extrusionOk="0" h="938" w="1003">
                <a:moveTo>
                  <a:pt x="399" y="1"/>
                </a:moveTo>
                <a:lnTo>
                  <a:pt x="302" y="33"/>
                </a:lnTo>
                <a:lnTo>
                  <a:pt x="216" y="76"/>
                </a:lnTo>
                <a:lnTo>
                  <a:pt x="151" y="141"/>
                </a:lnTo>
                <a:lnTo>
                  <a:pt x="86" y="216"/>
                </a:lnTo>
                <a:lnTo>
                  <a:pt x="43" y="302"/>
                </a:lnTo>
                <a:lnTo>
                  <a:pt x="11" y="399"/>
                </a:lnTo>
                <a:lnTo>
                  <a:pt x="0" y="496"/>
                </a:lnTo>
                <a:lnTo>
                  <a:pt x="0" y="927"/>
                </a:lnTo>
                <a:lnTo>
                  <a:pt x="129" y="927"/>
                </a:lnTo>
                <a:lnTo>
                  <a:pt x="129" y="496"/>
                </a:lnTo>
                <a:lnTo>
                  <a:pt x="140" y="421"/>
                </a:lnTo>
                <a:lnTo>
                  <a:pt x="162" y="356"/>
                </a:lnTo>
                <a:lnTo>
                  <a:pt x="194" y="291"/>
                </a:lnTo>
                <a:lnTo>
                  <a:pt x="237" y="238"/>
                </a:lnTo>
                <a:lnTo>
                  <a:pt x="291" y="184"/>
                </a:lnTo>
                <a:lnTo>
                  <a:pt x="356" y="151"/>
                </a:lnTo>
                <a:lnTo>
                  <a:pt x="420" y="130"/>
                </a:lnTo>
                <a:lnTo>
                  <a:pt x="571" y="130"/>
                </a:lnTo>
                <a:lnTo>
                  <a:pt x="647" y="151"/>
                </a:lnTo>
                <a:lnTo>
                  <a:pt x="711" y="184"/>
                </a:lnTo>
                <a:lnTo>
                  <a:pt x="765" y="238"/>
                </a:lnTo>
                <a:lnTo>
                  <a:pt x="808" y="291"/>
                </a:lnTo>
                <a:lnTo>
                  <a:pt x="840" y="356"/>
                </a:lnTo>
                <a:lnTo>
                  <a:pt x="862" y="421"/>
                </a:lnTo>
                <a:lnTo>
                  <a:pt x="873" y="496"/>
                </a:lnTo>
                <a:lnTo>
                  <a:pt x="851" y="927"/>
                </a:lnTo>
                <a:lnTo>
                  <a:pt x="981" y="938"/>
                </a:lnTo>
                <a:lnTo>
                  <a:pt x="1002" y="496"/>
                </a:lnTo>
                <a:lnTo>
                  <a:pt x="991" y="399"/>
                </a:lnTo>
                <a:lnTo>
                  <a:pt x="959" y="302"/>
                </a:lnTo>
                <a:lnTo>
                  <a:pt x="916" y="216"/>
                </a:lnTo>
                <a:lnTo>
                  <a:pt x="851" y="141"/>
                </a:lnTo>
                <a:lnTo>
                  <a:pt x="776" y="76"/>
                </a:lnTo>
                <a:lnTo>
                  <a:pt x="690" y="33"/>
                </a:lnTo>
                <a:lnTo>
                  <a:pt x="603" y="1"/>
                </a:lnTo>
                <a:close/>
              </a:path>
            </a:pathLst>
          </a:custGeom>
          <a:solidFill>
            <a:srgbClr val="DFE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62"/>
          <p:cNvSpPr/>
          <p:nvPr/>
        </p:nvSpPr>
        <p:spPr>
          <a:xfrm>
            <a:off x="4678217" y="1321380"/>
            <a:ext cx="365222" cy="532267"/>
          </a:xfrm>
          <a:custGeom>
            <a:rect b="b" l="l" r="r" t="t"/>
            <a:pathLst>
              <a:path extrusionOk="0" h="2641" w="1692">
                <a:moveTo>
                  <a:pt x="0" y="1"/>
                </a:moveTo>
                <a:lnTo>
                  <a:pt x="0" y="2640"/>
                </a:lnTo>
                <a:lnTo>
                  <a:pt x="1692" y="2640"/>
                </a:lnTo>
                <a:lnTo>
                  <a:pt x="169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62"/>
          <p:cNvSpPr/>
          <p:nvPr/>
        </p:nvSpPr>
        <p:spPr>
          <a:xfrm>
            <a:off x="4678217" y="1321380"/>
            <a:ext cx="365222" cy="532267"/>
          </a:xfrm>
          <a:custGeom>
            <a:rect b="b" l="l" r="r" t="t"/>
            <a:pathLst>
              <a:path extrusionOk="0" h="2641" w="1692">
                <a:moveTo>
                  <a:pt x="0" y="1"/>
                </a:moveTo>
                <a:lnTo>
                  <a:pt x="0" y="2640"/>
                </a:lnTo>
                <a:lnTo>
                  <a:pt x="1692" y="2640"/>
                </a:lnTo>
                <a:lnTo>
                  <a:pt x="1692" y="1"/>
                </a:lnTo>
                <a:close/>
              </a:path>
            </a:pathLst>
          </a:custGeom>
          <a:solidFill>
            <a:srgbClr val="EF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62"/>
          <p:cNvSpPr/>
          <p:nvPr/>
        </p:nvSpPr>
        <p:spPr>
          <a:xfrm>
            <a:off x="4515464" y="1321380"/>
            <a:ext cx="162969" cy="532267"/>
          </a:xfrm>
          <a:custGeom>
            <a:rect b="b" l="l" r="r" t="t"/>
            <a:pathLst>
              <a:path extrusionOk="0" h="2641" w="755">
                <a:moveTo>
                  <a:pt x="0" y="1"/>
                </a:moveTo>
                <a:lnTo>
                  <a:pt x="0" y="2640"/>
                </a:lnTo>
                <a:lnTo>
                  <a:pt x="754" y="2640"/>
                </a:lnTo>
                <a:lnTo>
                  <a:pt x="754" y="1"/>
                </a:lnTo>
                <a:close/>
              </a:path>
            </a:pathLst>
          </a:custGeom>
          <a:solidFill>
            <a:srgbClr val="CDD0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62"/>
          <p:cNvSpPr/>
          <p:nvPr/>
        </p:nvSpPr>
        <p:spPr>
          <a:xfrm>
            <a:off x="4931627" y="1771019"/>
            <a:ext cx="32810" cy="82631"/>
          </a:xfrm>
          <a:custGeom>
            <a:rect b="b" l="l" r="r" t="t"/>
            <a:pathLst>
              <a:path extrusionOk="0" h="410" w="152">
                <a:moveTo>
                  <a:pt x="1" y="0"/>
                </a:moveTo>
                <a:lnTo>
                  <a:pt x="1" y="409"/>
                </a:lnTo>
                <a:lnTo>
                  <a:pt x="152" y="409"/>
                </a:lnTo>
                <a:lnTo>
                  <a:pt x="152" y="0"/>
                </a:lnTo>
                <a:close/>
              </a:path>
            </a:pathLst>
          </a:custGeom>
          <a:solidFill>
            <a:srgbClr val="DF38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62"/>
          <p:cNvSpPr/>
          <p:nvPr/>
        </p:nvSpPr>
        <p:spPr>
          <a:xfrm>
            <a:off x="4731748" y="1380028"/>
            <a:ext cx="32810" cy="299892"/>
          </a:xfrm>
          <a:custGeom>
            <a:rect b="b" l="l" r="r" t="t"/>
            <a:pathLst>
              <a:path extrusionOk="0" h="1488" w="152">
                <a:moveTo>
                  <a:pt x="0" y="1"/>
                </a:moveTo>
                <a:lnTo>
                  <a:pt x="0" y="1488"/>
                </a:lnTo>
                <a:lnTo>
                  <a:pt x="151" y="1488"/>
                </a:lnTo>
                <a:lnTo>
                  <a:pt x="151" y="1"/>
                </a:lnTo>
                <a:close/>
              </a:path>
            </a:pathLst>
          </a:custGeom>
          <a:solidFill>
            <a:srgbClr val="EA7A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62"/>
          <p:cNvSpPr/>
          <p:nvPr/>
        </p:nvSpPr>
        <p:spPr>
          <a:xfrm>
            <a:off x="4515464" y="1321380"/>
            <a:ext cx="83967" cy="532267"/>
          </a:xfrm>
          <a:custGeom>
            <a:rect b="b" l="l" r="r" t="t"/>
            <a:pathLst>
              <a:path extrusionOk="0" h="2641" w="389">
                <a:moveTo>
                  <a:pt x="0" y="1"/>
                </a:moveTo>
                <a:lnTo>
                  <a:pt x="0" y="2640"/>
                </a:lnTo>
                <a:lnTo>
                  <a:pt x="388" y="2640"/>
                </a:lnTo>
                <a:lnTo>
                  <a:pt x="388" y="1"/>
                </a:lnTo>
                <a:close/>
              </a:path>
            </a:pathLst>
          </a:custGeom>
          <a:solidFill>
            <a:srgbClr val="DFE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62"/>
          <p:cNvSpPr/>
          <p:nvPr/>
        </p:nvSpPr>
        <p:spPr>
          <a:xfrm>
            <a:off x="4515464" y="1764368"/>
            <a:ext cx="162969" cy="89282"/>
          </a:xfrm>
          <a:custGeom>
            <a:rect b="b" l="l" r="r" t="t"/>
            <a:pathLst>
              <a:path extrusionOk="0" h="443" w="755">
                <a:moveTo>
                  <a:pt x="388" y="1"/>
                </a:moveTo>
                <a:lnTo>
                  <a:pt x="0" y="442"/>
                </a:lnTo>
                <a:lnTo>
                  <a:pt x="754" y="442"/>
                </a:lnTo>
                <a:lnTo>
                  <a:pt x="388" y="1"/>
                </a:lnTo>
                <a:close/>
              </a:path>
            </a:pathLst>
          </a:custGeom>
          <a:solidFill>
            <a:srgbClr val="EF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62"/>
          <p:cNvSpPr/>
          <p:nvPr/>
        </p:nvSpPr>
        <p:spPr>
          <a:xfrm>
            <a:off x="6267285" y="1196625"/>
            <a:ext cx="214126" cy="189045"/>
          </a:xfrm>
          <a:custGeom>
            <a:rect b="b" l="l" r="r" t="t"/>
            <a:pathLst>
              <a:path extrusionOk="0" h="938" w="992">
                <a:moveTo>
                  <a:pt x="399" y="1"/>
                </a:moveTo>
                <a:lnTo>
                  <a:pt x="302" y="33"/>
                </a:lnTo>
                <a:lnTo>
                  <a:pt x="216" y="76"/>
                </a:lnTo>
                <a:lnTo>
                  <a:pt x="141" y="141"/>
                </a:lnTo>
                <a:lnTo>
                  <a:pt x="76" y="216"/>
                </a:lnTo>
                <a:lnTo>
                  <a:pt x="33" y="302"/>
                </a:lnTo>
                <a:lnTo>
                  <a:pt x="11" y="399"/>
                </a:lnTo>
                <a:lnTo>
                  <a:pt x="1" y="496"/>
                </a:lnTo>
                <a:lnTo>
                  <a:pt x="1" y="927"/>
                </a:lnTo>
                <a:lnTo>
                  <a:pt x="130" y="927"/>
                </a:lnTo>
                <a:lnTo>
                  <a:pt x="130" y="496"/>
                </a:lnTo>
                <a:lnTo>
                  <a:pt x="130" y="421"/>
                </a:lnTo>
                <a:lnTo>
                  <a:pt x="152" y="356"/>
                </a:lnTo>
                <a:lnTo>
                  <a:pt x="184" y="291"/>
                </a:lnTo>
                <a:lnTo>
                  <a:pt x="238" y="238"/>
                </a:lnTo>
                <a:lnTo>
                  <a:pt x="292" y="184"/>
                </a:lnTo>
                <a:lnTo>
                  <a:pt x="356" y="151"/>
                </a:lnTo>
                <a:lnTo>
                  <a:pt x="421" y="130"/>
                </a:lnTo>
                <a:lnTo>
                  <a:pt x="572" y="130"/>
                </a:lnTo>
                <a:lnTo>
                  <a:pt x="636" y="151"/>
                </a:lnTo>
                <a:lnTo>
                  <a:pt x="701" y="184"/>
                </a:lnTo>
                <a:lnTo>
                  <a:pt x="755" y="238"/>
                </a:lnTo>
                <a:lnTo>
                  <a:pt x="798" y="291"/>
                </a:lnTo>
                <a:lnTo>
                  <a:pt x="841" y="356"/>
                </a:lnTo>
                <a:lnTo>
                  <a:pt x="863" y="421"/>
                </a:lnTo>
                <a:lnTo>
                  <a:pt x="863" y="496"/>
                </a:lnTo>
                <a:lnTo>
                  <a:pt x="841" y="927"/>
                </a:lnTo>
                <a:lnTo>
                  <a:pt x="970" y="938"/>
                </a:lnTo>
                <a:lnTo>
                  <a:pt x="992" y="496"/>
                </a:lnTo>
                <a:lnTo>
                  <a:pt x="981" y="399"/>
                </a:lnTo>
                <a:lnTo>
                  <a:pt x="960" y="302"/>
                </a:lnTo>
                <a:lnTo>
                  <a:pt x="906" y="216"/>
                </a:lnTo>
                <a:lnTo>
                  <a:pt x="852" y="141"/>
                </a:lnTo>
                <a:lnTo>
                  <a:pt x="776" y="76"/>
                </a:lnTo>
                <a:lnTo>
                  <a:pt x="690" y="33"/>
                </a:lnTo>
                <a:lnTo>
                  <a:pt x="593" y="1"/>
                </a:lnTo>
                <a:close/>
              </a:path>
            </a:pathLst>
          </a:custGeom>
          <a:solidFill>
            <a:srgbClr val="BABF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62"/>
          <p:cNvSpPr/>
          <p:nvPr/>
        </p:nvSpPr>
        <p:spPr>
          <a:xfrm>
            <a:off x="6386004" y="1196625"/>
            <a:ext cx="216500" cy="189045"/>
          </a:xfrm>
          <a:custGeom>
            <a:rect b="b" l="l" r="r" t="t"/>
            <a:pathLst>
              <a:path extrusionOk="0" h="938" w="1003">
                <a:moveTo>
                  <a:pt x="399" y="1"/>
                </a:moveTo>
                <a:lnTo>
                  <a:pt x="302" y="33"/>
                </a:lnTo>
                <a:lnTo>
                  <a:pt x="216" y="76"/>
                </a:lnTo>
                <a:lnTo>
                  <a:pt x="151" y="141"/>
                </a:lnTo>
                <a:lnTo>
                  <a:pt x="86" y="216"/>
                </a:lnTo>
                <a:lnTo>
                  <a:pt x="43" y="302"/>
                </a:lnTo>
                <a:lnTo>
                  <a:pt x="11" y="399"/>
                </a:lnTo>
                <a:lnTo>
                  <a:pt x="0" y="496"/>
                </a:lnTo>
                <a:lnTo>
                  <a:pt x="0" y="927"/>
                </a:lnTo>
                <a:lnTo>
                  <a:pt x="129" y="927"/>
                </a:lnTo>
                <a:lnTo>
                  <a:pt x="129" y="496"/>
                </a:lnTo>
                <a:lnTo>
                  <a:pt x="140" y="421"/>
                </a:lnTo>
                <a:lnTo>
                  <a:pt x="162" y="356"/>
                </a:lnTo>
                <a:lnTo>
                  <a:pt x="194" y="291"/>
                </a:lnTo>
                <a:lnTo>
                  <a:pt x="237" y="238"/>
                </a:lnTo>
                <a:lnTo>
                  <a:pt x="291" y="184"/>
                </a:lnTo>
                <a:lnTo>
                  <a:pt x="356" y="151"/>
                </a:lnTo>
                <a:lnTo>
                  <a:pt x="420" y="130"/>
                </a:lnTo>
                <a:lnTo>
                  <a:pt x="571" y="130"/>
                </a:lnTo>
                <a:lnTo>
                  <a:pt x="647" y="151"/>
                </a:lnTo>
                <a:lnTo>
                  <a:pt x="711" y="184"/>
                </a:lnTo>
                <a:lnTo>
                  <a:pt x="765" y="238"/>
                </a:lnTo>
                <a:lnTo>
                  <a:pt x="808" y="291"/>
                </a:lnTo>
                <a:lnTo>
                  <a:pt x="840" y="356"/>
                </a:lnTo>
                <a:lnTo>
                  <a:pt x="862" y="421"/>
                </a:lnTo>
                <a:lnTo>
                  <a:pt x="873" y="496"/>
                </a:lnTo>
                <a:lnTo>
                  <a:pt x="851" y="927"/>
                </a:lnTo>
                <a:lnTo>
                  <a:pt x="981" y="938"/>
                </a:lnTo>
                <a:lnTo>
                  <a:pt x="1002" y="496"/>
                </a:lnTo>
                <a:lnTo>
                  <a:pt x="991" y="399"/>
                </a:lnTo>
                <a:lnTo>
                  <a:pt x="959" y="302"/>
                </a:lnTo>
                <a:lnTo>
                  <a:pt x="916" y="216"/>
                </a:lnTo>
                <a:lnTo>
                  <a:pt x="851" y="141"/>
                </a:lnTo>
                <a:lnTo>
                  <a:pt x="776" y="76"/>
                </a:lnTo>
                <a:lnTo>
                  <a:pt x="690" y="33"/>
                </a:lnTo>
                <a:lnTo>
                  <a:pt x="603" y="1"/>
                </a:lnTo>
                <a:close/>
              </a:path>
            </a:pathLst>
          </a:custGeom>
          <a:solidFill>
            <a:srgbClr val="DFE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62"/>
          <p:cNvSpPr/>
          <p:nvPr/>
        </p:nvSpPr>
        <p:spPr>
          <a:xfrm>
            <a:off x="6341754" y="1318155"/>
            <a:ext cx="365222" cy="532267"/>
          </a:xfrm>
          <a:custGeom>
            <a:rect b="b" l="l" r="r" t="t"/>
            <a:pathLst>
              <a:path extrusionOk="0" h="2641" w="1692">
                <a:moveTo>
                  <a:pt x="0" y="1"/>
                </a:moveTo>
                <a:lnTo>
                  <a:pt x="0" y="2640"/>
                </a:lnTo>
                <a:lnTo>
                  <a:pt x="1692" y="2640"/>
                </a:lnTo>
                <a:lnTo>
                  <a:pt x="169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62"/>
          <p:cNvSpPr/>
          <p:nvPr/>
        </p:nvSpPr>
        <p:spPr>
          <a:xfrm>
            <a:off x="6341754" y="1318155"/>
            <a:ext cx="365222" cy="532267"/>
          </a:xfrm>
          <a:custGeom>
            <a:rect b="b" l="l" r="r" t="t"/>
            <a:pathLst>
              <a:path extrusionOk="0" h="2641" w="1692">
                <a:moveTo>
                  <a:pt x="0" y="1"/>
                </a:moveTo>
                <a:lnTo>
                  <a:pt x="0" y="2640"/>
                </a:lnTo>
                <a:lnTo>
                  <a:pt x="1692" y="2640"/>
                </a:lnTo>
                <a:lnTo>
                  <a:pt x="1692" y="1"/>
                </a:lnTo>
                <a:close/>
              </a:path>
            </a:pathLst>
          </a:custGeom>
          <a:solidFill>
            <a:srgbClr val="EF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62"/>
          <p:cNvSpPr/>
          <p:nvPr/>
        </p:nvSpPr>
        <p:spPr>
          <a:xfrm>
            <a:off x="6179002" y="1318155"/>
            <a:ext cx="162969" cy="532267"/>
          </a:xfrm>
          <a:custGeom>
            <a:rect b="b" l="l" r="r" t="t"/>
            <a:pathLst>
              <a:path extrusionOk="0" h="2641" w="755">
                <a:moveTo>
                  <a:pt x="0" y="1"/>
                </a:moveTo>
                <a:lnTo>
                  <a:pt x="0" y="2640"/>
                </a:lnTo>
                <a:lnTo>
                  <a:pt x="754" y="2640"/>
                </a:lnTo>
                <a:lnTo>
                  <a:pt x="754" y="1"/>
                </a:lnTo>
                <a:close/>
              </a:path>
            </a:pathLst>
          </a:custGeom>
          <a:solidFill>
            <a:srgbClr val="CDD0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62"/>
          <p:cNvSpPr/>
          <p:nvPr/>
        </p:nvSpPr>
        <p:spPr>
          <a:xfrm>
            <a:off x="6595165" y="1767794"/>
            <a:ext cx="32810" cy="82631"/>
          </a:xfrm>
          <a:custGeom>
            <a:rect b="b" l="l" r="r" t="t"/>
            <a:pathLst>
              <a:path extrusionOk="0" h="410" w="152">
                <a:moveTo>
                  <a:pt x="1" y="0"/>
                </a:moveTo>
                <a:lnTo>
                  <a:pt x="1" y="409"/>
                </a:lnTo>
                <a:lnTo>
                  <a:pt x="152" y="409"/>
                </a:lnTo>
                <a:lnTo>
                  <a:pt x="152" y="0"/>
                </a:lnTo>
                <a:close/>
              </a:path>
            </a:pathLst>
          </a:custGeom>
          <a:solidFill>
            <a:srgbClr val="DF38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62"/>
          <p:cNvSpPr/>
          <p:nvPr/>
        </p:nvSpPr>
        <p:spPr>
          <a:xfrm>
            <a:off x="6395286" y="1376803"/>
            <a:ext cx="32810" cy="299892"/>
          </a:xfrm>
          <a:custGeom>
            <a:rect b="b" l="l" r="r" t="t"/>
            <a:pathLst>
              <a:path extrusionOk="0" h="1488" w="152">
                <a:moveTo>
                  <a:pt x="0" y="1"/>
                </a:moveTo>
                <a:lnTo>
                  <a:pt x="0" y="1488"/>
                </a:lnTo>
                <a:lnTo>
                  <a:pt x="151" y="1488"/>
                </a:lnTo>
                <a:lnTo>
                  <a:pt x="151" y="1"/>
                </a:lnTo>
                <a:close/>
              </a:path>
            </a:pathLst>
          </a:custGeom>
          <a:solidFill>
            <a:srgbClr val="EA7A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62"/>
          <p:cNvSpPr/>
          <p:nvPr/>
        </p:nvSpPr>
        <p:spPr>
          <a:xfrm>
            <a:off x="6179002" y="1318155"/>
            <a:ext cx="83967" cy="532267"/>
          </a:xfrm>
          <a:custGeom>
            <a:rect b="b" l="l" r="r" t="t"/>
            <a:pathLst>
              <a:path extrusionOk="0" h="2641" w="389">
                <a:moveTo>
                  <a:pt x="0" y="1"/>
                </a:moveTo>
                <a:lnTo>
                  <a:pt x="0" y="2640"/>
                </a:lnTo>
                <a:lnTo>
                  <a:pt x="388" y="2640"/>
                </a:lnTo>
                <a:lnTo>
                  <a:pt x="388" y="1"/>
                </a:lnTo>
                <a:close/>
              </a:path>
            </a:pathLst>
          </a:custGeom>
          <a:solidFill>
            <a:srgbClr val="DFE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62"/>
          <p:cNvSpPr/>
          <p:nvPr/>
        </p:nvSpPr>
        <p:spPr>
          <a:xfrm>
            <a:off x="6179002" y="1761143"/>
            <a:ext cx="162969" cy="89282"/>
          </a:xfrm>
          <a:custGeom>
            <a:rect b="b" l="l" r="r" t="t"/>
            <a:pathLst>
              <a:path extrusionOk="0" h="443" w="755">
                <a:moveTo>
                  <a:pt x="388" y="1"/>
                </a:moveTo>
                <a:lnTo>
                  <a:pt x="0" y="442"/>
                </a:lnTo>
                <a:lnTo>
                  <a:pt x="754" y="442"/>
                </a:lnTo>
                <a:lnTo>
                  <a:pt x="388" y="1"/>
                </a:lnTo>
                <a:close/>
              </a:path>
            </a:pathLst>
          </a:custGeom>
          <a:solidFill>
            <a:srgbClr val="EF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2" name="Google Shape;79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726" y="858054"/>
            <a:ext cx="930350" cy="1343833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62"/>
          <p:cNvSpPr/>
          <p:nvPr/>
        </p:nvSpPr>
        <p:spPr>
          <a:xfrm>
            <a:off x="8070252" y="1307544"/>
            <a:ext cx="264664" cy="423677"/>
          </a:xfrm>
          <a:custGeom>
            <a:rect b="b" l="l" r="r" t="t"/>
            <a:pathLst>
              <a:path extrusionOk="0" h="863" w="539">
                <a:moveTo>
                  <a:pt x="270" y="0"/>
                </a:moveTo>
                <a:lnTo>
                  <a:pt x="216" y="11"/>
                </a:lnTo>
                <a:lnTo>
                  <a:pt x="151" y="33"/>
                </a:lnTo>
                <a:lnTo>
                  <a:pt x="108" y="65"/>
                </a:lnTo>
                <a:lnTo>
                  <a:pt x="65" y="108"/>
                </a:lnTo>
                <a:lnTo>
                  <a:pt x="32" y="151"/>
                </a:lnTo>
                <a:lnTo>
                  <a:pt x="11" y="205"/>
                </a:lnTo>
                <a:lnTo>
                  <a:pt x="0" y="270"/>
                </a:lnTo>
                <a:lnTo>
                  <a:pt x="11" y="323"/>
                </a:lnTo>
                <a:lnTo>
                  <a:pt x="32" y="388"/>
                </a:lnTo>
                <a:lnTo>
                  <a:pt x="86" y="474"/>
                </a:lnTo>
                <a:lnTo>
                  <a:pt x="151" y="582"/>
                </a:lnTo>
                <a:lnTo>
                  <a:pt x="216" y="701"/>
                </a:lnTo>
                <a:lnTo>
                  <a:pt x="248" y="765"/>
                </a:lnTo>
                <a:lnTo>
                  <a:pt x="259" y="841"/>
                </a:lnTo>
                <a:lnTo>
                  <a:pt x="270" y="862"/>
                </a:lnTo>
                <a:lnTo>
                  <a:pt x="313" y="744"/>
                </a:lnTo>
                <a:lnTo>
                  <a:pt x="366" y="636"/>
                </a:lnTo>
                <a:lnTo>
                  <a:pt x="431" y="517"/>
                </a:lnTo>
                <a:lnTo>
                  <a:pt x="507" y="388"/>
                </a:lnTo>
                <a:lnTo>
                  <a:pt x="528" y="345"/>
                </a:lnTo>
                <a:lnTo>
                  <a:pt x="539" y="291"/>
                </a:lnTo>
                <a:lnTo>
                  <a:pt x="539" y="248"/>
                </a:lnTo>
                <a:lnTo>
                  <a:pt x="528" y="194"/>
                </a:lnTo>
                <a:lnTo>
                  <a:pt x="507" y="151"/>
                </a:lnTo>
                <a:lnTo>
                  <a:pt x="485" y="108"/>
                </a:lnTo>
                <a:lnTo>
                  <a:pt x="453" y="76"/>
                </a:lnTo>
                <a:lnTo>
                  <a:pt x="410" y="43"/>
                </a:lnTo>
                <a:lnTo>
                  <a:pt x="366" y="22"/>
                </a:lnTo>
                <a:lnTo>
                  <a:pt x="313" y="11"/>
                </a:lnTo>
                <a:lnTo>
                  <a:pt x="270" y="0"/>
                </a:ln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62"/>
          <p:cNvSpPr/>
          <p:nvPr/>
        </p:nvSpPr>
        <p:spPr>
          <a:xfrm>
            <a:off x="8144945" y="1388900"/>
            <a:ext cx="132577" cy="127643"/>
          </a:xfrm>
          <a:custGeom>
            <a:rect b="b" l="l" r="r" t="t"/>
            <a:pathLst>
              <a:path extrusionOk="0" h="260" w="270">
                <a:moveTo>
                  <a:pt x="130" y="1"/>
                </a:moveTo>
                <a:lnTo>
                  <a:pt x="97" y="97"/>
                </a:lnTo>
                <a:lnTo>
                  <a:pt x="0" y="108"/>
                </a:lnTo>
                <a:lnTo>
                  <a:pt x="76" y="162"/>
                </a:lnTo>
                <a:lnTo>
                  <a:pt x="54" y="259"/>
                </a:lnTo>
                <a:lnTo>
                  <a:pt x="130" y="216"/>
                </a:lnTo>
                <a:lnTo>
                  <a:pt x="216" y="259"/>
                </a:lnTo>
                <a:lnTo>
                  <a:pt x="194" y="162"/>
                </a:lnTo>
                <a:lnTo>
                  <a:pt x="270" y="97"/>
                </a:lnTo>
                <a:lnTo>
                  <a:pt x="173" y="97"/>
                </a:lnTo>
                <a:lnTo>
                  <a:pt x="13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5" name="Google Shape;795;p62"/>
          <p:cNvCxnSpPr/>
          <p:nvPr/>
        </p:nvCxnSpPr>
        <p:spPr>
          <a:xfrm>
            <a:off x="3578075" y="2582900"/>
            <a:ext cx="0" cy="2352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6" name="Google Shape;796;p62"/>
          <p:cNvCxnSpPr/>
          <p:nvPr/>
        </p:nvCxnSpPr>
        <p:spPr>
          <a:xfrm>
            <a:off x="6230875" y="2582900"/>
            <a:ext cx="0" cy="2352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7" name="Google Shape;797;p62"/>
          <p:cNvSpPr txBox="1"/>
          <p:nvPr/>
        </p:nvSpPr>
        <p:spPr>
          <a:xfrm>
            <a:off x="1169950" y="2253500"/>
            <a:ext cx="2073900" cy="31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Acquisition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98" name="Google Shape;798;p62"/>
          <p:cNvSpPr txBox="1"/>
          <p:nvPr/>
        </p:nvSpPr>
        <p:spPr>
          <a:xfrm>
            <a:off x="3911075" y="2253500"/>
            <a:ext cx="2073900" cy="31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Development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99" name="Google Shape;799;p62"/>
          <p:cNvSpPr txBox="1"/>
          <p:nvPr/>
        </p:nvSpPr>
        <p:spPr>
          <a:xfrm>
            <a:off x="6578075" y="2253500"/>
            <a:ext cx="2073900" cy="31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Retention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00" name="Google Shape;800;p62"/>
          <p:cNvSpPr/>
          <p:nvPr/>
        </p:nvSpPr>
        <p:spPr>
          <a:xfrm>
            <a:off x="3914675" y="2866550"/>
            <a:ext cx="2009700" cy="188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digital behavior &amp; pre-fab ML analysis helps predict this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1" name="Google Shape;801;p62"/>
          <p:cNvSpPr/>
          <p:nvPr/>
        </p:nvSpPr>
        <p:spPr>
          <a:xfrm>
            <a:off x="6610175" y="2866550"/>
            <a:ext cx="2009700" cy="188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ransactional behavior helps predict this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2" name="Google Shape;802;p62"/>
          <p:cNvSpPr/>
          <p:nvPr/>
        </p:nvSpPr>
        <p:spPr>
          <a:xfrm>
            <a:off x="999525" y="2791700"/>
            <a:ext cx="2290200" cy="2031300"/>
          </a:xfrm>
          <a:prstGeom prst="rect">
            <a:avLst/>
          </a:prstGeom>
          <a:solidFill>
            <a:srgbClr val="FFFFFF">
              <a:alpha val="85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62"/>
          <p:cNvSpPr txBox="1"/>
          <p:nvPr/>
        </p:nvSpPr>
        <p:spPr>
          <a:xfrm>
            <a:off x="7814375" y="292125"/>
            <a:ext cx="1210200" cy="3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63"/>
          <p:cNvSpPr txBox="1"/>
          <p:nvPr>
            <p:ph type="title"/>
          </p:nvPr>
        </p:nvSpPr>
        <p:spPr>
          <a:xfrm>
            <a:off x="344501" y="264375"/>
            <a:ext cx="7797000" cy="4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many inputs to a good CLV model</a:t>
            </a:r>
            <a:endParaRPr/>
          </a:p>
        </p:txBody>
      </p:sp>
      <p:sp>
        <p:nvSpPr>
          <p:cNvPr id="809" name="Google Shape;809;p63"/>
          <p:cNvSpPr/>
          <p:nvPr/>
        </p:nvSpPr>
        <p:spPr>
          <a:xfrm>
            <a:off x="807075" y="2376631"/>
            <a:ext cx="2675100" cy="29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First purchase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App Install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Subscription Sign Up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Lead Submitted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Application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0" name="Google Shape;810;p63"/>
          <p:cNvCxnSpPr/>
          <p:nvPr/>
        </p:nvCxnSpPr>
        <p:spPr>
          <a:xfrm flipH="1" rot="10800000">
            <a:off x="1630399" y="1516377"/>
            <a:ext cx="6497400" cy="3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11" name="Google Shape;811;p63"/>
          <p:cNvSpPr txBox="1"/>
          <p:nvPr/>
        </p:nvSpPr>
        <p:spPr>
          <a:xfrm>
            <a:off x="7171225" y="1666275"/>
            <a:ext cx="20097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High Value Customer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12" name="Google Shape;812;p63"/>
          <p:cNvSpPr/>
          <p:nvPr/>
        </p:nvSpPr>
        <p:spPr>
          <a:xfrm>
            <a:off x="2253185" y="1190075"/>
            <a:ext cx="214126" cy="189045"/>
          </a:xfrm>
          <a:custGeom>
            <a:rect b="b" l="l" r="r" t="t"/>
            <a:pathLst>
              <a:path extrusionOk="0" h="938" w="992">
                <a:moveTo>
                  <a:pt x="399" y="1"/>
                </a:moveTo>
                <a:lnTo>
                  <a:pt x="302" y="33"/>
                </a:lnTo>
                <a:lnTo>
                  <a:pt x="216" y="76"/>
                </a:lnTo>
                <a:lnTo>
                  <a:pt x="141" y="141"/>
                </a:lnTo>
                <a:lnTo>
                  <a:pt x="76" y="216"/>
                </a:lnTo>
                <a:lnTo>
                  <a:pt x="33" y="302"/>
                </a:lnTo>
                <a:lnTo>
                  <a:pt x="11" y="399"/>
                </a:lnTo>
                <a:lnTo>
                  <a:pt x="1" y="496"/>
                </a:lnTo>
                <a:lnTo>
                  <a:pt x="1" y="927"/>
                </a:lnTo>
                <a:lnTo>
                  <a:pt x="130" y="927"/>
                </a:lnTo>
                <a:lnTo>
                  <a:pt x="130" y="496"/>
                </a:lnTo>
                <a:lnTo>
                  <a:pt x="130" y="421"/>
                </a:lnTo>
                <a:lnTo>
                  <a:pt x="152" y="356"/>
                </a:lnTo>
                <a:lnTo>
                  <a:pt x="184" y="291"/>
                </a:lnTo>
                <a:lnTo>
                  <a:pt x="238" y="238"/>
                </a:lnTo>
                <a:lnTo>
                  <a:pt x="292" y="184"/>
                </a:lnTo>
                <a:lnTo>
                  <a:pt x="356" y="151"/>
                </a:lnTo>
                <a:lnTo>
                  <a:pt x="421" y="130"/>
                </a:lnTo>
                <a:lnTo>
                  <a:pt x="572" y="130"/>
                </a:lnTo>
                <a:lnTo>
                  <a:pt x="636" y="151"/>
                </a:lnTo>
                <a:lnTo>
                  <a:pt x="701" y="184"/>
                </a:lnTo>
                <a:lnTo>
                  <a:pt x="755" y="238"/>
                </a:lnTo>
                <a:lnTo>
                  <a:pt x="798" y="291"/>
                </a:lnTo>
                <a:lnTo>
                  <a:pt x="841" y="356"/>
                </a:lnTo>
                <a:lnTo>
                  <a:pt x="863" y="421"/>
                </a:lnTo>
                <a:lnTo>
                  <a:pt x="863" y="496"/>
                </a:lnTo>
                <a:lnTo>
                  <a:pt x="841" y="927"/>
                </a:lnTo>
                <a:lnTo>
                  <a:pt x="970" y="938"/>
                </a:lnTo>
                <a:lnTo>
                  <a:pt x="992" y="496"/>
                </a:lnTo>
                <a:lnTo>
                  <a:pt x="981" y="399"/>
                </a:lnTo>
                <a:lnTo>
                  <a:pt x="960" y="302"/>
                </a:lnTo>
                <a:lnTo>
                  <a:pt x="906" y="216"/>
                </a:lnTo>
                <a:lnTo>
                  <a:pt x="852" y="141"/>
                </a:lnTo>
                <a:lnTo>
                  <a:pt x="776" y="76"/>
                </a:lnTo>
                <a:lnTo>
                  <a:pt x="690" y="33"/>
                </a:lnTo>
                <a:lnTo>
                  <a:pt x="593" y="1"/>
                </a:lnTo>
                <a:close/>
              </a:path>
            </a:pathLst>
          </a:custGeom>
          <a:solidFill>
            <a:srgbClr val="BABF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63"/>
          <p:cNvSpPr/>
          <p:nvPr/>
        </p:nvSpPr>
        <p:spPr>
          <a:xfrm>
            <a:off x="2371904" y="1190075"/>
            <a:ext cx="216500" cy="189045"/>
          </a:xfrm>
          <a:custGeom>
            <a:rect b="b" l="l" r="r" t="t"/>
            <a:pathLst>
              <a:path extrusionOk="0" h="938" w="1003">
                <a:moveTo>
                  <a:pt x="399" y="1"/>
                </a:moveTo>
                <a:lnTo>
                  <a:pt x="302" y="33"/>
                </a:lnTo>
                <a:lnTo>
                  <a:pt x="216" y="76"/>
                </a:lnTo>
                <a:lnTo>
                  <a:pt x="151" y="141"/>
                </a:lnTo>
                <a:lnTo>
                  <a:pt x="86" y="216"/>
                </a:lnTo>
                <a:lnTo>
                  <a:pt x="43" y="302"/>
                </a:lnTo>
                <a:lnTo>
                  <a:pt x="11" y="399"/>
                </a:lnTo>
                <a:lnTo>
                  <a:pt x="0" y="496"/>
                </a:lnTo>
                <a:lnTo>
                  <a:pt x="0" y="927"/>
                </a:lnTo>
                <a:lnTo>
                  <a:pt x="129" y="927"/>
                </a:lnTo>
                <a:lnTo>
                  <a:pt x="129" y="496"/>
                </a:lnTo>
                <a:lnTo>
                  <a:pt x="140" y="421"/>
                </a:lnTo>
                <a:lnTo>
                  <a:pt x="162" y="356"/>
                </a:lnTo>
                <a:lnTo>
                  <a:pt x="194" y="291"/>
                </a:lnTo>
                <a:lnTo>
                  <a:pt x="237" y="238"/>
                </a:lnTo>
                <a:lnTo>
                  <a:pt x="291" y="184"/>
                </a:lnTo>
                <a:lnTo>
                  <a:pt x="356" y="151"/>
                </a:lnTo>
                <a:lnTo>
                  <a:pt x="420" y="130"/>
                </a:lnTo>
                <a:lnTo>
                  <a:pt x="571" y="130"/>
                </a:lnTo>
                <a:lnTo>
                  <a:pt x="647" y="151"/>
                </a:lnTo>
                <a:lnTo>
                  <a:pt x="711" y="184"/>
                </a:lnTo>
                <a:lnTo>
                  <a:pt x="765" y="238"/>
                </a:lnTo>
                <a:lnTo>
                  <a:pt x="808" y="291"/>
                </a:lnTo>
                <a:lnTo>
                  <a:pt x="840" y="356"/>
                </a:lnTo>
                <a:lnTo>
                  <a:pt x="862" y="421"/>
                </a:lnTo>
                <a:lnTo>
                  <a:pt x="873" y="496"/>
                </a:lnTo>
                <a:lnTo>
                  <a:pt x="851" y="927"/>
                </a:lnTo>
                <a:lnTo>
                  <a:pt x="981" y="938"/>
                </a:lnTo>
                <a:lnTo>
                  <a:pt x="1002" y="496"/>
                </a:lnTo>
                <a:lnTo>
                  <a:pt x="991" y="399"/>
                </a:lnTo>
                <a:lnTo>
                  <a:pt x="959" y="302"/>
                </a:lnTo>
                <a:lnTo>
                  <a:pt x="916" y="216"/>
                </a:lnTo>
                <a:lnTo>
                  <a:pt x="851" y="141"/>
                </a:lnTo>
                <a:lnTo>
                  <a:pt x="776" y="76"/>
                </a:lnTo>
                <a:lnTo>
                  <a:pt x="690" y="33"/>
                </a:lnTo>
                <a:lnTo>
                  <a:pt x="603" y="1"/>
                </a:lnTo>
                <a:close/>
              </a:path>
            </a:pathLst>
          </a:custGeom>
          <a:solidFill>
            <a:srgbClr val="DFE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63"/>
          <p:cNvSpPr/>
          <p:nvPr/>
        </p:nvSpPr>
        <p:spPr>
          <a:xfrm>
            <a:off x="2327654" y="1311605"/>
            <a:ext cx="365222" cy="532267"/>
          </a:xfrm>
          <a:custGeom>
            <a:rect b="b" l="l" r="r" t="t"/>
            <a:pathLst>
              <a:path extrusionOk="0" h="2641" w="1692">
                <a:moveTo>
                  <a:pt x="0" y="1"/>
                </a:moveTo>
                <a:lnTo>
                  <a:pt x="0" y="2640"/>
                </a:lnTo>
                <a:lnTo>
                  <a:pt x="1692" y="2640"/>
                </a:lnTo>
                <a:lnTo>
                  <a:pt x="169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63"/>
          <p:cNvSpPr/>
          <p:nvPr/>
        </p:nvSpPr>
        <p:spPr>
          <a:xfrm>
            <a:off x="2327654" y="1311605"/>
            <a:ext cx="365222" cy="532267"/>
          </a:xfrm>
          <a:custGeom>
            <a:rect b="b" l="l" r="r" t="t"/>
            <a:pathLst>
              <a:path extrusionOk="0" h="2641" w="1692">
                <a:moveTo>
                  <a:pt x="0" y="1"/>
                </a:moveTo>
                <a:lnTo>
                  <a:pt x="0" y="2640"/>
                </a:lnTo>
                <a:lnTo>
                  <a:pt x="1692" y="2640"/>
                </a:lnTo>
                <a:lnTo>
                  <a:pt x="1692" y="1"/>
                </a:lnTo>
                <a:close/>
              </a:path>
            </a:pathLst>
          </a:custGeom>
          <a:solidFill>
            <a:srgbClr val="EF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63"/>
          <p:cNvSpPr/>
          <p:nvPr/>
        </p:nvSpPr>
        <p:spPr>
          <a:xfrm>
            <a:off x="2164902" y="1311605"/>
            <a:ext cx="162969" cy="532267"/>
          </a:xfrm>
          <a:custGeom>
            <a:rect b="b" l="l" r="r" t="t"/>
            <a:pathLst>
              <a:path extrusionOk="0" h="2641" w="755">
                <a:moveTo>
                  <a:pt x="0" y="1"/>
                </a:moveTo>
                <a:lnTo>
                  <a:pt x="0" y="2640"/>
                </a:lnTo>
                <a:lnTo>
                  <a:pt x="754" y="2640"/>
                </a:lnTo>
                <a:lnTo>
                  <a:pt x="754" y="1"/>
                </a:lnTo>
                <a:close/>
              </a:path>
            </a:pathLst>
          </a:custGeom>
          <a:solidFill>
            <a:srgbClr val="CDD0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63"/>
          <p:cNvSpPr/>
          <p:nvPr/>
        </p:nvSpPr>
        <p:spPr>
          <a:xfrm>
            <a:off x="2581065" y="1761244"/>
            <a:ext cx="32810" cy="82631"/>
          </a:xfrm>
          <a:custGeom>
            <a:rect b="b" l="l" r="r" t="t"/>
            <a:pathLst>
              <a:path extrusionOk="0" h="410" w="152">
                <a:moveTo>
                  <a:pt x="1" y="0"/>
                </a:moveTo>
                <a:lnTo>
                  <a:pt x="1" y="409"/>
                </a:lnTo>
                <a:lnTo>
                  <a:pt x="152" y="409"/>
                </a:lnTo>
                <a:lnTo>
                  <a:pt x="152" y="0"/>
                </a:lnTo>
                <a:close/>
              </a:path>
            </a:pathLst>
          </a:custGeom>
          <a:solidFill>
            <a:srgbClr val="DF38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63"/>
          <p:cNvSpPr/>
          <p:nvPr/>
        </p:nvSpPr>
        <p:spPr>
          <a:xfrm>
            <a:off x="2381186" y="1370253"/>
            <a:ext cx="32810" cy="299892"/>
          </a:xfrm>
          <a:custGeom>
            <a:rect b="b" l="l" r="r" t="t"/>
            <a:pathLst>
              <a:path extrusionOk="0" h="1488" w="152">
                <a:moveTo>
                  <a:pt x="0" y="1"/>
                </a:moveTo>
                <a:lnTo>
                  <a:pt x="0" y="1488"/>
                </a:lnTo>
                <a:lnTo>
                  <a:pt x="151" y="1488"/>
                </a:lnTo>
                <a:lnTo>
                  <a:pt x="151" y="1"/>
                </a:lnTo>
                <a:close/>
              </a:path>
            </a:pathLst>
          </a:custGeom>
          <a:solidFill>
            <a:srgbClr val="EA7A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63"/>
          <p:cNvSpPr/>
          <p:nvPr/>
        </p:nvSpPr>
        <p:spPr>
          <a:xfrm>
            <a:off x="2164902" y="1311605"/>
            <a:ext cx="83967" cy="532267"/>
          </a:xfrm>
          <a:custGeom>
            <a:rect b="b" l="l" r="r" t="t"/>
            <a:pathLst>
              <a:path extrusionOk="0" h="2641" w="389">
                <a:moveTo>
                  <a:pt x="0" y="1"/>
                </a:moveTo>
                <a:lnTo>
                  <a:pt x="0" y="2640"/>
                </a:lnTo>
                <a:lnTo>
                  <a:pt x="388" y="2640"/>
                </a:lnTo>
                <a:lnTo>
                  <a:pt x="388" y="1"/>
                </a:lnTo>
                <a:close/>
              </a:path>
            </a:pathLst>
          </a:custGeom>
          <a:solidFill>
            <a:srgbClr val="DFE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63"/>
          <p:cNvSpPr/>
          <p:nvPr/>
        </p:nvSpPr>
        <p:spPr>
          <a:xfrm>
            <a:off x="2164902" y="1754593"/>
            <a:ext cx="162969" cy="89282"/>
          </a:xfrm>
          <a:custGeom>
            <a:rect b="b" l="l" r="r" t="t"/>
            <a:pathLst>
              <a:path extrusionOk="0" h="443" w="755">
                <a:moveTo>
                  <a:pt x="388" y="1"/>
                </a:moveTo>
                <a:lnTo>
                  <a:pt x="0" y="442"/>
                </a:lnTo>
                <a:lnTo>
                  <a:pt x="754" y="442"/>
                </a:lnTo>
                <a:lnTo>
                  <a:pt x="388" y="1"/>
                </a:lnTo>
                <a:close/>
              </a:path>
            </a:pathLst>
          </a:custGeom>
          <a:solidFill>
            <a:srgbClr val="EF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63"/>
          <p:cNvSpPr/>
          <p:nvPr/>
        </p:nvSpPr>
        <p:spPr>
          <a:xfrm>
            <a:off x="4603748" y="1199850"/>
            <a:ext cx="214126" cy="189045"/>
          </a:xfrm>
          <a:custGeom>
            <a:rect b="b" l="l" r="r" t="t"/>
            <a:pathLst>
              <a:path extrusionOk="0" h="938" w="992">
                <a:moveTo>
                  <a:pt x="399" y="1"/>
                </a:moveTo>
                <a:lnTo>
                  <a:pt x="302" y="33"/>
                </a:lnTo>
                <a:lnTo>
                  <a:pt x="216" y="76"/>
                </a:lnTo>
                <a:lnTo>
                  <a:pt x="141" y="141"/>
                </a:lnTo>
                <a:lnTo>
                  <a:pt x="76" y="216"/>
                </a:lnTo>
                <a:lnTo>
                  <a:pt x="33" y="302"/>
                </a:lnTo>
                <a:lnTo>
                  <a:pt x="11" y="399"/>
                </a:lnTo>
                <a:lnTo>
                  <a:pt x="1" y="496"/>
                </a:lnTo>
                <a:lnTo>
                  <a:pt x="1" y="927"/>
                </a:lnTo>
                <a:lnTo>
                  <a:pt x="130" y="927"/>
                </a:lnTo>
                <a:lnTo>
                  <a:pt x="130" y="496"/>
                </a:lnTo>
                <a:lnTo>
                  <a:pt x="130" y="421"/>
                </a:lnTo>
                <a:lnTo>
                  <a:pt x="152" y="356"/>
                </a:lnTo>
                <a:lnTo>
                  <a:pt x="184" y="291"/>
                </a:lnTo>
                <a:lnTo>
                  <a:pt x="238" y="238"/>
                </a:lnTo>
                <a:lnTo>
                  <a:pt x="292" y="184"/>
                </a:lnTo>
                <a:lnTo>
                  <a:pt x="356" y="151"/>
                </a:lnTo>
                <a:lnTo>
                  <a:pt x="421" y="130"/>
                </a:lnTo>
                <a:lnTo>
                  <a:pt x="572" y="130"/>
                </a:lnTo>
                <a:lnTo>
                  <a:pt x="636" y="151"/>
                </a:lnTo>
                <a:lnTo>
                  <a:pt x="701" y="184"/>
                </a:lnTo>
                <a:lnTo>
                  <a:pt x="755" y="238"/>
                </a:lnTo>
                <a:lnTo>
                  <a:pt x="798" y="291"/>
                </a:lnTo>
                <a:lnTo>
                  <a:pt x="841" y="356"/>
                </a:lnTo>
                <a:lnTo>
                  <a:pt x="863" y="421"/>
                </a:lnTo>
                <a:lnTo>
                  <a:pt x="863" y="496"/>
                </a:lnTo>
                <a:lnTo>
                  <a:pt x="841" y="927"/>
                </a:lnTo>
                <a:lnTo>
                  <a:pt x="970" y="938"/>
                </a:lnTo>
                <a:lnTo>
                  <a:pt x="992" y="496"/>
                </a:lnTo>
                <a:lnTo>
                  <a:pt x="981" y="399"/>
                </a:lnTo>
                <a:lnTo>
                  <a:pt x="960" y="302"/>
                </a:lnTo>
                <a:lnTo>
                  <a:pt x="906" y="216"/>
                </a:lnTo>
                <a:lnTo>
                  <a:pt x="852" y="141"/>
                </a:lnTo>
                <a:lnTo>
                  <a:pt x="776" y="76"/>
                </a:lnTo>
                <a:lnTo>
                  <a:pt x="690" y="33"/>
                </a:lnTo>
                <a:lnTo>
                  <a:pt x="593" y="1"/>
                </a:lnTo>
                <a:close/>
              </a:path>
            </a:pathLst>
          </a:custGeom>
          <a:solidFill>
            <a:srgbClr val="BABF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63"/>
          <p:cNvSpPr/>
          <p:nvPr/>
        </p:nvSpPr>
        <p:spPr>
          <a:xfrm>
            <a:off x="4722467" y="1199850"/>
            <a:ext cx="216500" cy="189045"/>
          </a:xfrm>
          <a:custGeom>
            <a:rect b="b" l="l" r="r" t="t"/>
            <a:pathLst>
              <a:path extrusionOk="0" h="938" w="1003">
                <a:moveTo>
                  <a:pt x="399" y="1"/>
                </a:moveTo>
                <a:lnTo>
                  <a:pt x="302" y="33"/>
                </a:lnTo>
                <a:lnTo>
                  <a:pt x="216" y="76"/>
                </a:lnTo>
                <a:lnTo>
                  <a:pt x="151" y="141"/>
                </a:lnTo>
                <a:lnTo>
                  <a:pt x="86" y="216"/>
                </a:lnTo>
                <a:lnTo>
                  <a:pt x="43" y="302"/>
                </a:lnTo>
                <a:lnTo>
                  <a:pt x="11" y="399"/>
                </a:lnTo>
                <a:lnTo>
                  <a:pt x="0" y="496"/>
                </a:lnTo>
                <a:lnTo>
                  <a:pt x="0" y="927"/>
                </a:lnTo>
                <a:lnTo>
                  <a:pt x="129" y="927"/>
                </a:lnTo>
                <a:lnTo>
                  <a:pt x="129" y="496"/>
                </a:lnTo>
                <a:lnTo>
                  <a:pt x="140" y="421"/>
                </a:lnTo>
                <a:lnTo>
                  <a:pt x="162" y="356"/>
                </a:lnTo>
                <a:lnTo>
                  <a:pt x="194" y="291"/>
                </a:lnTo>
                <a:lnTo>
                  <a:pt x="237" y="238"/>
                </a:lnTo>
                <a:lnTo>
                  <a:pt x="291" y="184"/>
                </a:lnTo>
                <a:lnTo>
                  <a:pt x="356" y="151"/>
                </a:lnTo>
                <a:lnTo>
                  <a:pt x="420" y="130"/>
                </a:lnTo>
                <a:lnTo>
                  <a:pt x="571" y="130"/>
                </a:lnTo>
                <a:lnTo>
                  <a:pt x="647" y="151"/>
                </a:lnTo>
                <a:lnTo>
                  <a:pt x="711" y="184"/>
                </a:lnTo>
                <a:lnTo>
                  <a:pt x="765" y="238"/>
                </a:lnTo>
                <a:lnTo>
                  <a:pt x="808" y="291"/>
                </a:lnTo>
                <a:lnTo>
                  <a:pt x="840" y="356"/>
                </a:lnTo>
                <a:lnTo>
                  <a:pt x="862" y="421"/>
                </a:lnTo>
                <a:lnTo>
                  <a:pt x="873" y="496"/>
                </a:lnTo>
                <a:lnTo>
                  <a:pt x="851" y="927"/>
                </a:lnTo>
                <a:lnTo>
                  <a:pt x="981" y="938"/>
                </a:lnTo>
                <a:lnTo>
                  <a:pt x="1002" y="496"/>
                </a:lnTo>
                <a:lnTo>
                  <a:pt x="991" y="399"/>
                </a:lnTo>
                <a:lnTo>
                  <a:pt x="959" y="302"/>
                </a:lnTo>
                <a:lnTo>
                  <a:pt x="916" y="216"/>
                </a:lnTo>
                <a:lnTo>
                  <a:pt x="851" y="141"/>
                </a:lnTo>
                <a:lnTo>
                  <a:pt x="776" y="76"/>
                </a:lnTo>
                <a:lnTo>
                  <a:pt x="690" y="33"/>
                </a:lnTo>
                <a:lnTo>
                  <a:pt x="603" y="1"/>
                </a:lnTo>
                <a:close/>
              </a:path>
            </a:pathLst>
          </a:custGeom>
          <a:solidFill>
            <a:srgbClr val="DFE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63"/>
          <p:cNvSpPr/>
          <p:nvPr/>
        </p:nvSpPr>
        <p:spPr>
          <a:xfrm>
            <a:off x="4678217" y="1321380"/>
            <a:ext cx="365222" cy="532267"/>
          </a:xfrm>
          <a:custGeom>
            <a:rect b="b" l="l" r="r" t="t"/>
            <a:pathLst>
              <a:path extrusionOk="0" h="2641" w="1692">
                <a:moveTo>
                  <a:pt x="0" y="1"/>
                </a:moveTo>
                <a:lnTo>
                  <a:pt x="0" y="2640"/>
                </a:lnTo>
                <a:lnTo>
                  <a:pt x="1692" y="2640"/>
                </a:lnTo>
                <a:lnTo>
                  <a:pt x="169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63"/>
          <p:cNvSpPr/>
          <p:nvPr/>
        </p:nvSpPr>
        <p:spPr>
          <a:xfrm>
            <a:off x="4678217" y="1321380"/>
            <a:ext cx="365222" cy="532267"/>
          </a:xfrm>
          <a:custGeom>
            <a:rect b="b" l="l" r="r" t="t"/>
            <a:pathLst>
              <a:path extrusionOk="0" h="2641" w="1692">
                <a:moveTo>
                  <a:pt x="0" y="1"/>
                </a:moveTo>
                <a:lnTo>
                  <a:pt x="0" y="2640"/>
                </a:lnTo>
                <a:lnTo>
                  <a:pt x="1692" y="2640"/>
                </a:lnTo>
                <a:lnTo>
                  <a:pt x="1692" y="1"/>
                </a:lnTo>
                <a:close/>
              </a:path>
            </a:pathLst>
          </a:custGeom>
          <a:solidFill>
            <a:srgbClr val="EF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63"/>
          <p:cNvSpPr/>
          <p:nvPr/>
        </p:nvSpPr>
        <p:spPr>
          <a:xfrm>
            <a:off x="4515464" y="1321380"/>
            <a:ext cx="162969" cy="532267"/>
          </a:xfrm>
          <a:custGeom>
            <a:rect b="b" l="l" r="r" t="t"/>
            <a:pathLst>
              <a:path extrusionOk="0" h="2641" w="755">
                <a:moveTo>
                  <a:pt x="0" y="1"/>
                </a:moveTo>
                <a:lnTo>
                  <a:pt x="0" y="2640"/>
                </a:lnTo>
                <a:lnTo>
                  <a:pt x="754" y="2640"/>
                </a:lnTo>
                <a:lnTo>
                  <a:pt x="754" y="1"/>
                </a:lnTo>
                <a:close/>
              </a:path>
            </a:pathLst>
          </a:custGeom>
          <a:solidFill>
            <a:srgbClr val="CDD0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63"/>
          <p:cNvSpPr/>
          <p:nvPr/>
        </p:nvSpPr>
        <p:spPr>
          <a:xfrm>
            <a:off x="4931627" y="1771019"/>
            <a:ext cx="32810" cy="82631"/>
          </a:xfrm>
          <a:custGeom>
            <a:rect b="b" l="l" r="r" t="t"/>
            <a:pathLst>
              <a:path extrusionOk="0" h="410" w="152">
                <a:moveTo>
                  <a:pt x="1" y="0"/>
                </a:moveTo>
                <a:lnTo>
                  <a:pt x="1" y="409"/>
                </a:lnTo>
                <a:lnTo>
                  <a:pt x="152" y="409"/>
                </a:lnTo>
                <a:lnTo>
                  <a:pt x="152" y="0"/>
                </a:lnTo>
                <a:close/>
              </a:path>
            </a:pathLst>
          </a:custGeom>
          <a:solidFill>
            <a:srgbClr val="DF38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63"/>
          <p:cNvSpPr/>
          <p:nvPr/>
        </p:nvSpPr>
        <p:spPr>
          <a:xfrm>
            <a:off x="4731748" y="1380028"/>
            <a:ext cx="32810" cy="299892"/>
          </a:xfrm>
          <a:custGeom>
            <a:rect b="b" l="l" r="r" t="t"/>
            <a:pathLst>
              <a:path extrusionOk="0" h="1488" w="152">
                <a:moveTo>
                  <a:pt x="0" y="1"/>
                </a:moveTo>
                <a:lnTo>
                  <a:pt x="0" y="1488"/>
                </a:lnTo>
                <a:lnTo>
                  <a:pt x="151" y="1488"/>
                </a:lnTo>
                <a:lnTo>
                  <a:pt x="151" y="1"/>
                </a:lnTo>
                <a:close/>
              </a:path>
            </a:pathLst>
          </a:custGeom>
          <a:solidFill>
            <a:srgbClr val="EA7A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63"/>
          <p:cNvSpPr/>
          <p:nvPr/>
        </p:nvSpPr>
        <p:spPr>
          <a:xfrm>
            <a:off x="4515464" y="1321380"/>
            <a:ext cx="83967" cy="532267"/>
          </a:xfrm>
          <a:custGeom>
            <a:rect b="b" l="l" r="r" t="t"/>
            <a:pathLst>
              <a:path extrusionOk="0" h="2641" w="389">
                <a:moveTo>
                  <a:pt x="0" y="1"/>
                </a:moveTo>
                <a:lnTo>
                  <a:pt x="0" y="2640"/>
                </a:lnTo>
                <a:lnTo>
                  <a:pt x="388" y="2640"/>
                </a:lnTo>
                <a:lnTo>
                  <a:pt x="388" y="1"/>
                </a:lnTo>
                <a:close/>
              </a:path>
            </a:pathLst>
          </a:custGeom>
          <a:solidFill>
            <a:srgbClr val="DFE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63"/>
          <p:cNvSpPr/>
          <p:nvPr/>
        </p:nvSpPr>
        <p:spPr>
          <a:xfrm>
            <a:off x="4515464" y="1764368"/>
            <a:ext cx="162969" cy="89282"/>
          </a:xfrm>
          <a:custGeom>
            <a:rect b="b" l="l" r="r" t="t"/>
            <a:pathLst>
              <a:path extrusionOk="0" h="443" w="755">
                <a:moveTo>
                  <a:pt x="388" y="1"/>
                </a:moveTo>
                <a:lnTo>
                  <a:pt x="0" y="442"/>
                </a:lnTo>
                <a:lnTo>
                  <a:pt x="754" y="442"/>
                </a:lnTo>
                <a:lnTo>
                  <a:pt x="388" y="1"/>
                </a:lnTo>
                <a:close/>
              </a:path>
            </a:pathLst>
          </a:custGeom>
          <a:solidFill>
            <a:srgbClr val="EF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63"/>
          <p:cNvSpPr/>
          <p:nvPr/>
        </p:nvSpPr>
        <p:spPr>
          <a:xfrm>
            <a:off x="6267285" y="1196625"/>
            <a:ext cx="214126" cy="189045"/>
          </a:xfrm>
          <a:custGeom>
            <a:rect b="b" l="l" r="r" t="t"/>
            <a:pathLst>
              <a:path extrusionOk="0" h="938" w="992">
                <a:moveTo>
                  <a:pt x="399" y="1"/>
                </a:moveTo>
                <a:lnTo>
                  <a:pt x="302" y="33"/>
                </a:lnTo>
                <a:lnTo>
                  <a:pt x="216" y="76"/>
                </a:lnTo>
                <a:lnTo>
                  <a:pt x="141" y="141"/>
                </a:lnTo>
                <a:lnTo>
                  <a:pt x="76" y="216"/>
                </a:lnTo>
                <a:lnTo>
                  <a:pt x="33" y="302"/>
                </a:lnTo>
                <a:lnTo>
                  <a:pt x="11" y="399"/>
                </a:lnTo>
                <a:lnTo>
                  <a:pt x="1" y="496"/>
                </a:lnTo>
                <a:lnTo>
                  <a:pt x="1" y="927"/>
                </a:lnTo>
                <a:lnTo>
                  <a:pt x="130" y="927"/>
                </a:lnTo>
                <a:lnTo>
                  <a:pt x="130" y="496"/>
                </a:lnTo>
                <a:lnTo>
                  <a:pt x="130" y="421"/>
                </a:lnTo>
                <a:lnTo>
                  <a:pt x="152" y="356"/>
                </a:lnTo>
                <a:lnTo>
                  <a:pt x="184" y="291"/>
                </a:lnTo>
                <a:lnTo>
                  <a:pt x="238" y="238"/>
                </a:lnTo>
                <a:lnTo>
                  <a:pt x="292" y="184"/>
                </a:lnTo>
                <a:lnTo>
                  <a:pt x="356" y="151"/>
                </a:lnTo>
                <a:lnTo>
                  <a:pt x="421" y="130"/>
                </a:lnTo>
                <a:lnTo>
                  <a:pt x="572" y="130"/>
                </a:lnTo>
                <a:lnTo>
                  <a:pt x="636" y="151"/>
                </a:lnTo>
                <a:lnTo>
                  <a:pt x="701" y="184"/>
                </a:lnTo>
                <a:lnTo>
                  <a:pt x="755" y="238"/>
                </a:lnTo>
                <a:lnTo>
                  <a:pt x="798" y="291"/>
                </a:lnTo>
                <a:lnTo>
                  <a:pt x="841" y="356"/>
                </a:lnTo>
                <a:lnTo>
                  <a:pt x="863" y="421"/>
                </a:lnTo>
                <a:lnTo>
                  <a:pt x="863" y="496"/>
                </a:lnTo>
                <a:lnTo>
                  <a:pt x="841" y="927"/>
                </a:lnTo>
                <a:lnTo>
                  <a:pt x="970" y="938"/>
                </a:lnTo>
                <a:lnTo>
                  <a:pt x="992" y="496"/>
                </a:lnTo>
                <a:lnTo>
                  <a:pt x="981" y="399"/>
                </a:lnTo>
                <a:lnTo>
                  <a:pt x="960" y="302"/>
                </a:lnTo>
                <a:lnTo>
                  <a:pt x="906" y="216"/>
                </a:lnTo>
                <a:lnTo>
                  <a:pt x="852" y="141"/>
                </a:lnTo>
                <a:lnTo>
                  <a:pt x="776" y="76"/>
                </a:lnTo>
                <a:lnTo>
                  <a:pt x="690" y="33"/>
                </a:lnTo>
                <a:lnTo>
                  <a:pt x="593" y="1"/>
                </a:lnTo>
                <a:close/>
              </a:path>
            </a:pathLst>
          </a:custGeom>
          <a:solidFill>
            <a:srgbClr val="BABF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63"/>
          <p:cNvSpPr/>
          <p:nvPr/>
        </p:nvSpPr>
        <p:spPr>
          <a:xfrm>
            <a:off x="6386004" y="1196625"/>
            <a:ext cx="216500" cy="189045"/>
          </a:xfrm>
          <a:custGeom>
            <a:rect b="b" l="l" r="r" t="t"/>
            <a:pathLst>
              <a:path extrusionOk="0" h="938" w="1003">
                <a:moveTo>
                  <a:pt x="399" y="1"/>
                </a:moveTo>
                <a:lnTo>
                  <a:pt x="302" y="33"/>
                </a:lnTo>
                <a:lnTo>
                  <a:pt x="216" y="76"/>
                </a:lnTo>
                <a:lnTo>
                  <a:pt x="151" y="141"/>
                </a:lnTo>
                <a:lnTo>
                  <a:pt x="86" y="216"/>
                </a:lnTo>
                <a:lnTo>
                  <a:pt x="43" y="302"/>
                </a:lnTo>
                <a:lnTo>
                  <a:pt x="11" y="399"/>
                </a:lnTo>
                <a:lnTo>
                  <a:pt x="0" y="496"/>
                </a:lnTo>
                <a:lnTo>
                  <a:pt x="0" y="927"/>
                </a:lnTo>
                <a:lnTo>
                  <a:pt x="129" y="927"/>
                </a:lnTo>
                <a:lnTo>
                  <a:pt x="129" y="496"/>
                </a:lnTo>
                <a:lnTo>
                  <a:pt x="140" y="421"/>
                </a:lnTo>
                <a:lnTo>
                  <a:pt x="162" y="356"/>
                </a:lnTo>
                <a:lnTo>
                  <a:pt x="194" y="291"/>
                </a:lnTo>
                <a:lnTo>
                  <a:pt x="237" y="238"/>
                </a:lnTo>
                <a:lnTo>
                  <a:pt x="291" y="184"/>
                </a:lnTo>
                <a:lnTo>
                  <a:pt x="356" y="151"/>
                </a:lnTo>
                <a:lnTo>
                  <a:pt x="420" y="130"/>
                </a:lnTo>
                <a:lnTo>
                  <a:pt x="571" y="130"/>
                </a:lnTo>
                <a:lnTo>
                  <a:pt x="647" y="151"/>
                </a:lnTo>
                <a:lnTo>
                  <a:pt x="711" y="184"/>
                </a:lnTo>
                <a:lnTo>
                  <a:pt x="765" y="238"/>
                </a:lnTo>
                <a:lnTo>
                  <a:pt x="808" y="291"/>
                </a:lnTo>
                <a:lnTo>
                  <a:pt x="840" y="356"/>
                </a:lnTo>
                <a:lnTo>
                  <a:pt x="862" y="421"/>
                </a:lnTo>
                <a:lnTo>
                  <a:pt x="873" y="496"/>
                </a:lnTo>
                <a:lnTo>
                  <a:pt x="851" y="927"/>
                </a:lnTo>
                <a:lnTo>
                  <a:pt x="981" y="938"/>
                </a:lnTo>
                <a:lnTo>
                  <a:pt x="1002" y="496"/>
                </a:lnTo>
                <a:lnTo>
                  <a:pt x="991" y="399"/>
                </a:lnTo>
                <a:lnTo>
                  <a:pt x="959" y="302"/>
                </a:lnTo>
                <a:lnTo>
                  <a:pt x="916" y="216"/>
                </a:lnTo>
                <a:lnTo>
                  <a:pt x="851" y="141"/>
                </a:lnTo>
                <a:lnTo>
                  <a:pt x="776" y="76"/>
                </a:lnTo>
                <a:lnTo>
                  <a:pt x="690" y="33"/>
                </a:lnTo>
                <a:lnTo>
                  <a:pt x="603" y="1"/>
                </a:lnTo>
                <a:close/>
              </a:path>
            </a:pathLst>
          </a:custGeom>
          <a:solidFill>
            <a:srgbClr val="DFE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63"/>
          <p:cNvSpPr/>
          <p:nvPr/>
        </p:nvSpPr>
        <p:spPr>
          <a:xfrm>
            <a:off x="6341754" y="1318155"/>
            <a:ext cx="365222" cy="532267"/>
          </a:xfrm>
          <a:custGeom>
            <a:rect b="b" l="l" r="r" t="t"/>
            <a:pathLst>
              <a:path extrusionOk="0" h="2641" w="1692">
                <a:moveTo>
                  <a:pt x="0" y="1"/>
                </a:moveTo>
                <a:lnTo>
                  <a:pt x="0" y="2640"/>
                </a:lnTo>
                <a:lnTo>
                  <a:pt x="1692" y="2640"/>
                </a:lnTo>
                <a:lnTo>
                  <a:pt x="169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63"/>
          <p:cNvSpPr/>
          <p:nvPr/>
        </p:nvSpPr>
        <p:spPr>
          <a:xfrm>
            <a:off x="6341754" y="1318155"/>
            <a:ext cx="365222" cy="532267"/>
          </a:xfrm>
          <a:custGeom>
            <a:rect b="b" l="l" r="r" t="t"/>
            <a:pathLst>
              <a:path extrusionOk="0" h="2641" w="1692">
                <a:moveTo>
                  <a:pt x="0" y="1"/>
                </a:moveTo>
                <a:lnTo>
                  <a:pt x="0" y="2640"/>
                </a:lnTo>
                <a:lnTo>
                  <a:pt x="1692" y="2640"/>
                </a:lnTo>
                <a:lnTo>
                  <a:pt x="1692" y="1"/>
                </a:lnTo>
                <a:close/>
              </a:path>
            </a:pathLst>
          </a:custGeom>
          <a:solidFill>
            <a:srgbClr val="EF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63"/>
          <p:cNvSpPr/>
          <p:nvPr/>
        </p:nvSpPr>
        <p:spPr>
          <a:xfrm>
            <a:off x="6179002" y="1318155"/>
            <a:ext cx="162969" cy="532267"/>
          </a:xfrm>
          <a:custGeom>
            <a:rect b="b" l="l" r="r" t="t"/>
            <a:pathLst>
              <a:path extrusionOk="0" h="2641" w="755">
                <a:moveTo>
                  <a:pt x="0" y="1"/>
                </a:moveTo>
                <a:lnTo>
                  <a:pt x="0" y="2640"/>
                </a:lnTo>
                <a:lnTo>
                  <a:pt x="754" y="2640"/>
                </a:lnTo>
                <a:lnTo>
                  <a:pt x="754" y="1"/>
                </a:lnTo>
                <a:close/>
              </a:path>
            </a:pathLst>
          </a:custGeom>
          <a:solidFill>
            <a:srgbClr val="CDD0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63"/>
          <p:cNvSpPr/>
          <p:nvPr/>
        </p:nvSpPr>
        <p:spPr>
          <a:xfrm>
            <a:off x="6595165" y="1767794"/>
            <a:ext cx="32810" cy="82631"/>
          </a:xfrm>
          <a:custGeom>
            <a:rect b="b" l="l" r="r" t="t"/>
            <a:pathLst>
              <a:path extrusionOk="0" h="410" w="152">
                <a:moveTo>
                  <a:pt x="1" y="0"/>
                </a:moveTo>
                <a:lnTo>
                  <a:pt x="1" y="409"/>
                </a:lnTo>
                <a:lnTo>
                  <a:pt x="152" y="409"/>
                </a:lnTo>
                <a:lnTo>
                  <a:pt x="152" y="0"/>
                </a:lnTo>
                <a:close/>
              </a:path>
            </a:pathLst>
          </a:custGeom>
          <a:solidFill>
            <a:srgbClr val="DF38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63"/>
          <p:cNvSpPr/>
          <p:nvPr/>
        </p:nvSpPr>
        <p:spPr>
          <a:xfrm>
            <a:off x="6395286" y="1376803"/>
            <a:ext cx="32810" cy="299892"/>
          </a:xfrm>
          <a:custGeom>
            <a:rect b="b" l="l" r="r" t="t"/>
            <a:pathLst>
              <a:path extrusionOk="0" h="1488" w="152">
                <a:moveTo>
                  <a:pt x="0" y="1"/>
                </a:moveTo>
                <a:lnTo>
                  <a:pt x="0" y="1488"/>
                </a:lnTo>
                <a:lnTo>
                  <a:pt x="151" y="1488"/>
                </a:lnTo>
                <a:lnTo>
                  <a:pt x="151" y="1"/>
                </a:lnTo>
                <a:close/>
              </a:path>
            </a:pathLst>
          </a:custGeom>
          <a:solidFill>
            <a:srgbClr val="EA7A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63"/>
          <p:cNvSpPr/>
          <p:nvPr/>
        </p:nvSpPr>
        <p:spPr>
          <a:xfrm>
            <a:off x="6179002" y="1318155"/>
            <a:ext cx="83967" cy="532267"/>
          </a:xfrm>
          <a:custGeom>
            <a:rect b="b" l="l" r="r" t="t"/>
            <a:pathLst>
              <a:path extrusionOk="0" h="2641" w="389">
                <a:moveTo>
                  <a:pt x="0" y="1"/>
                </a:moveTo>
                <a:lnTo>
                  <a:pt x="0" y="2640"/>
                </a:lnTo>
                <a:lnTo>
                  <a:pt x="388" y="2640"/>
                </a:lnTo>
                <a:lnTo>
                  <a:pt x="388" y="1"/>
                </a:lnTo>
                <a:close/>
              </a:path>
            </a:pathLst>
          </a:custGeom>
          <a:solidFill>
            <a:srgbClr val="DFE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63"/>
          <p:cNvSpPr/>
          <p:nvPr/>
        </p:nvSpPr>
        <p:spPr>
          <a:xfrm>
            <a:off x="6179002" y="1761143"/>
            <a:ext cx="162969" cy="89282"/>
          </a:xfrm>
          <a:custGeom>
            <a:rect b="b" l="l" r="r" t="t"/>
            <a:pathLst>
              <a:path extrusionOk="0" h="443" w="755">
                <a:moveTo>
                  <a:pt x="388" y="1"/>
                </a:moveTo>
                <a:lnTo>
                  <a:pt x="0" y="442"/>
                </a:lnTo>
                <a:lnTo>
                  <a:pt x="754" y="442"/>
                </a:lnTo>
                <a:lnTo>
                  <a:pt x="388" y="1"/>
                </a:lnTo>
                <a:close/>
              </a:path>
            </a:pathLst>
          </a:custGeom>
          <a:solidFill>
            <a:srgbClr val="EF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9" name="Google Shape;83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726" y="858054"/>
            <a:ext cx="930350" cy="1343833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63"/>
          <p:cNvSpPr/>
          <p:nvPr/>
        </p:nvSpPr>
        <p:spPr>
          <a:xfrm>
            <a:off x="8070252" y="1307544"/>
            <a:ext cx="264664" cy="423677"/>
          </a:xfrm>
          <a:custGeom>
            <a:rect b="b" l="l" r="r" t="t"/>
            <a:pathLst>
              <a:path extrusionOk="0" h="863" w="539">
                <a:moveTo>
                  <a:pt x="270" y="0"/>
                </a:moveTo>
                <a:lnTo>
                  <a:pt x="216" y="11"/>
                </a:lnTo>
                <a:lnTo>
                  <a:pt x="151" y="33"/>
                </a:lnTo>
                <a:lnTo>
                  <a:pt x="108" y="65"/>
                </a:lnTo>
                <a:lnTo>
                  <a:pt x="65" y="108"/>
                </a:lnTo>
                <a:lnTo>
                  <a:pt x="32" y="151"/>
                </a:lnTo>
                <a:lnTo>
                  <a:pt x="11" y="205"/>
                </a:lnTo>
                <a:lnTo>
                  <a:pt x="0" y="270"/>
                </a:lnTo>
                <a:lnTo>
                  <a:pt x="11" y="323"/>
                </a:lnTo>
                <a:lnTo>
                  <a:pt x="32" y="388"/>
                </a:lnTo>
                <a:lnTo>
                  <a:pt x="86" y="474"/>
                </a:lnTo>
                <a:lnTo>
                  <a:pt x="151" y="582"/>
                </a:lnTo>
                <a:lnTo>
                  <a:pt x="216" y="701"/>
                </a:lnTo>
                <a:lnTo>
                  <a:pt x="248" y="765"/>
                </a:lnTo>
                <a:lnTo>
                  <a:pt x="259" y="841"/>
                </a:lnTo>
                <a:lnTo>
                  <a:pt x="270" y="862"/>
                </a:lnTo>
                <a:lnTo>
                  <a:pt x="313" y="744"/>
                </a:lnTo>
                <a:lnTo>
                  <a:pt x="366" y="636"/>
                </a:lnTo>
                <a:lnTo>
                  <a:pt x="431" y="517"/>
                </a:lnTo>
                <a:lnTo>
                  <a:pt x="507" y="388"/>
                </a:lnTo>
                <a:lnTo>
                  <a:pt x="528" y="345"/>
                </a:lnTo>
                <a:lnTo>
                  <a:pt x="539" y="291"/>
                </a:lnTo>
                <a:lnTo>
                  <a:pt x="539" y="248"/>
                </a:lnTo>
                <a:lnTo>
                  <a:pt x="528" y="194"/>
                </a:lnTo>
                <a:lnTo>
                  <a:pt x="507" y="151"/>
                </a:lnTo>
                <a:lnTo>
                  <a:pt x="485" y="108"/>
                </a:lnTo>
                <a:lnTo>
                  <a:pt x="453" y="76"/>
                </a:lnTo>
                <a:lnTo>
                  <a:pt x="410" y="43"/>
                </a:lnTo>
                <a:lnTo>
                  <a:pt x="366" y="22"/>
                </a:lnTo>
                <a:lnTo>
                  <a:pt x="313" y="11"/>
                </a:lnTo>
                <a:lnTo>
                  <a:pt x="270" y="0"/>
                </a:ln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63"/>
          <p:cNvSpPr/>
          <p:nvPr/>
        </p:nvSpPr>
        <p:spPr>
          <a:xfrm>
            <a:off x="8144945" y="1388900"/>
            <a:ext cx="132577" cy="127643"/>
          </a:xfrm>
          <a:custGeom>
            <a:rect b="b" l="l" r="r" t="t"/>
            <a:pathLst>
              <a:path extrusionOk="0" h="260" w="270">
                <a:moveTo>
                  <a:pt x="130" y="1"/>
                </a:moveTo>
                <a:lnTo>
                  <a:pt x="97" y="97"/>
                </a:lnTo>
                <a:lnTo>
                  <a:pt x="0" y="108"/>
                </a:lnTo>
                <a:lnTo>
                  <a:pt x="76" y="162"/>
                </a:lnTo>
                <a:lnTo>
                  <a:pt x="54" y="259"/>
                </a:lnTo>
                <a:lnTo>
                  <a:pt x="130" y="216"/>
                </a:lnTo>
                <a:lnTo>
                  <a:pt x="216" y="259"/>
                </a:lnTo>
                <a:lnTo>
                  <a:pt x="194" y="162"/>
                </a:lnTo>
                <a:lnTo>
                  <a:pt x="270" y="97"/>
                </a:lnTo>
                <a:lnTo>
                  <a:pt x="173" y="97"/>
                </a:lnTo>
                <a:lnTo>
                  <a:pt x="13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2" name="Google Shape;842;p63"/>
          <p:cNvCxnSpPr/>
          <p:nvPr/>
        </p:nvCxnSpPr>
        <p:spPr>
          <a:xfrm>
            <a:off x="3578075" y="2582900"/>
            <a:ext cx="0" cy="2352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63"/>
          <p:cNvCxnSpPr/>
          <p:nvPr/>
        </p:nvCxnSpPr>
        <p:spPr>
          <a:xfrm>
            <a:off x="6230875" y="2582900"/>
            <a:ext cx="0" cy="2352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4" name="Google Shape;844;p63"/>
          <p:cNvSpPr txBox="1"/>
          <p:nvPr/>
        </p:nvSpPr>
        <p:spPr>
          <a:xfrm>
            <a:off x="1169950" y="2253500"/>
            <a:ext cx="2073900" cy="31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Acquisition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45" name="Google Shape;845;p63"/>
          <p:cNvSpPr txBox="1"/>
          <p:nvPr/>
        </p:nvSpPr>
        <p:spPr>
          <a:xfrm>
            <a:off x="3911075" y="2253500"/>
            <a:ext cx="2073900" cy="31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Development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46" name="Google Shape;846;p63"/>
          <p:cNvSpPr txBox="1"/>
          <p:nvPr/>
        </p:nvSpPr>
        <p:spPr>
          <a:xfrm>
            <a:off x="6578075" y="2253500"/>
            <a:ext cx="2073900" cy="31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Retention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47" name="Google Shape;847;p63"/>
          <p:cNvSpPr/>
          <p:nvPr/>
        </p:nvSpPr>
        <p:spPr>
          <a:xfrm>
            <a:off x="999525" y="2791700"/>
            <a:ext cx="2290200" cy="2031300"/>
          </a:xfrm>
          <a:prstGeom prst="rect">
            <a:avLst/>
          </a:prstGeom>
          <a:solidFill>
            <a:srgbClr val="FFFFFF">
              <a:alpha val="85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63"/>
          <p:cNvSpPr/>
          <p:nvPr/>
        </p:nvSpPr>
        <p:spPr>
          <a:xfrm>
            <a:off x="3717875" y="3072925"/>
            <a:ext cx="2385000" cy="149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Machine Learning Solutions</a:t>
            </a:r>
            <a:r>
              <a:rPr lang="en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Clustering</a:t>
            </a:r>
            <a:endParaRPr sz="120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Regression</a:t>
            </a:r>
            <a:endParaRPr sz="120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Random Forest</a:t>
            </a:r>
            <a:endParaRPr sz="120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Deep Neural Net</a:t>
            </a:r>
            <a:endParaRPr sz="120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9" name="Google Shape;849;p63"/>
          <p:cNvSpPr/>
          <p:nvPr/>
        </p:nvSpPr>
        <p:spPr>
          <a:xfrm>
            <a:off x="6351900" y="3072925"/>
            <a:ext cx="2504400" cy="149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Probabilistic Models:</a:t>
            </a:r>
            <a:endParaRPr b="1" sz="120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Pareto/NBD</a:t>
            </a:r>
            <a:endParaRPr sz="120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BG/NBD</a:t>
            </a:r>
            <a:endParaRPr sz="120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BG/BB</a:t>
            </a:r>
            <a:endParaRPr sz="120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Survival Curves</a:t>
            </a:r>
            <a:endParaRPr sz="120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0" name="Google Shape;850;p63"/>
          <p:cNvSpPr txBox="1"/>
          <p:nvPr/>
        </p:nvSpPr>
        <p:spPr>
          <a:xfrm>
            <a:off x="7814375" y="292125"/>
            <a:ext cx="1210200" cy="3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64"/>
          <p:cNvSpPr txBox="1"/>
          <p:nvPr>
            <p:ph type="title"/>
          </p:nvPr>
        </p:nvSpPr>
        <p:spPr>
          <a:xfrm>
            <a:off x="344501" y="264375"/>
            <a:ext cx="7797000" cy="4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you go from here?</a:t>
            </a:r>
            <a:endParaRPr/>
          </a:p>
        </p:txBody>
      </p:sp>
      <p:sp>
        <p:nvSpPr>
          <p:cNvPr id="856" name="Google Shape;856;p64"/>
          <p:cNvSpPr/>
          <p:nvPr/>
        </p:nvSpPr>
        <p:spPr>
          <a:xfrm>
            <a:off x="437600" y="1258100"/>
            <a:ext cx="2292900" cy="624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Today</a:t>
            </a:r>
            <a:endParaRPr b="1"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7" name="Google Shape;857;p64"/>
          <p:cNvSpPr/>
          <p:nvPr/>
        </p:nvSpPr>
        <p:spPr>
          <a:xfrm>
            <a:off x="3425550" y="1258100"/>
            <a:ext cx="2292900" cy="6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Tomorrow</a:t>
            </a:r>
            <a:endParaRPr b="1"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p64"/>
          <p:cNvSpPr/>
          <p:nvPr/>
        </p:nvSpPr>
        <p:spPr>
          <a:xfrm>
            <a:off x="6413500" y="1258100"/>
            <a:ext cx="2292900" cy="624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Next Year</a:t>
            </a:r>
            <a:endParaRPr b="1"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9" name="Google Shape;859;p64"/>
          <p:cNvSpPr/>
          <p:nvPr/>
        </p:nvSpPr>
        <p:spPr>
          <a:xfrm>
            <a:off x="437600" y="1975725"/>
            <a:ext cx="22929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Identify your objectives, aligned to business strategy</a:t>
            </a:r>
            <a:endParaRPr i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Investigate how customer data is stored, labeled, and formatted</a:t>
            </a:r>
            <a:endParaRPr i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0" name="Google Shape;860;p64"/>
          <p:cNvSpPr/>
          <p:nvPr/>
        </p:nvSpPr>
        <p:spPr>
          <a:xfrm>
            <a:off x="3425550" y="1975725"/>
            <a:ext cx="22929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Begin exploring predictions to customer behavior using pre-fab models (building from scratch only if needed)</a:t>
            </a:r>
            <a:endParaRPr i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1" name="Google Shape;861;p64"/>
          <p:cNvSpPr/>
          <p:nvPr/>
        </p:nvSpPr>
        <p:spPr>
          <a:xfrm>
            <a:off x="6413500" y="1975725"/>
            <a:ext cx="22929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Utilize tools and partnerships to push toward automation and new insights</a:t>
            </a:r>
            <a:endParaRPr i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Evaluate customer response to strategy</a:t>
            </a:r>
            <a:endParaRPr i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2" name="Google Shape;862;p64"/>
          <p:cNvSpPr txBox="1"/>
          <p:nvPr/>
        </p:nvSpPr>
        <p:spPr>
          <a:xfrm>
            <a:off x="7814375" y="292125"/>
            <a:ext cx="1210200" cy="3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65"/>
          <p:cNvSpPr txBox="1"/>
          <p:nvPr/>
        </p:nvSpPr>
        <p:spPr>
          <a:xfrm>
            <a:off x="179300" y="470625"/>
            <a:ext cx="8370900" cy="28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A86E8"/>
                </a:solidFill>
                <a:latin typeface="Google Sans"/>
                <a:ea typeface="Google Sans"/>
                <a:cs typeface="Google Sans"/>
                <a:sym typeface="Google Sans"/>
              </a:rPr>
              <a:t>Top ways to </a:t>
            </a:r>
            <a:r>
              <a:rPr b="1" lang="en" sz="3600">
                <a:solidFill>
                  <a:srgbClr val="4A86E8"/>
                </a:solidFill>
                <a:latin typeface="Google Sans"/>
                <a:ea typeface="Google Sans"/>
                <a:cs typeface="Google Sans"/>
                <a:sym typeface="Google Sans"/>
              </a:rPr>
              <a:t>action</a:t>
            </a:r>
            <a:r>
              <a:rPr b="1" lang="en" sz="3600">
                <a:solidFill>
                  <a:srgbClr val="4A86E8"/>
                </a:solidFill>
                <a:latin typeface="Google Sans"/>
                <a:ea typeface="Google Sans"/>
                <a:cs typeface="Google Sans"/>
                <a:sym typeface="Google Sans"/>
              </a:rPr>
              <a:t> off of LTV</a:t>
            </a:r>
            <a:endParaRPr b="1" sz="3600">
              <a:solidFill>
                <a:srgbClr val="4A86E8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A86E8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AutoNum type="arabicPeriod"/>
            </a:pPr>
            <a:r>
              <a:rPr lang="en" sz="2400">
                <a:latin typeface="Google Sans"/>
                <a:ea typeface="Google Sans"/>
                <a:cs typeface="Google Sans"/>
                <a:sym typeface="Google Sans"/>
              </a:rPr>
              <a:t>Bidding (UAC for Value)</a:t>
            </a:r>
            <a:endParaRPr sz="24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Google Sans"/>
              <a:ea typeface="Google Sans"/>
              <a:cs typeface="Google Sans"/>
              <a:sym typeface="Google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AutoNum type="arabicPeriod"/>
            </a:pPr>
            <a:r>
              <a:rPr lang="en" sz="2400">
                <a:latin typeface="Google Sans"/>
                <a:ea typeface="Google Sans"/>
                <a:cs typeface="Google Sans"/>
                <a:sym typeface="Google Sans"/>
              </a:rPr>
              <a:t>Re-engagement</a:t>
            </a:r>
            <a:endParaRPr sz="24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Google Sans"/>
              <a:ea typeface="Google Sans"/>
              <a:cs typeface="Google Sans"/>
              <a:sym typeface="Google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AutoNum type="arabicPeriod"/>
            </a:pPr>
            <a:r>
              <a:rPr lang="en" sz="2400">
                <a:latin typeface="Google Sans"/>
                <a:ea typeface="Google Sans"/>
                <a:cs typeface="Google Sans"/>
                <a:sym typeface="Google Sans"/>
              </a:rPr>
              <a:t>Feature </a:t>
            </a:r>
            <a:r>
              <a:rPr lang="en" sz="2400">
                <a:latin typeface="Google Sans"/>
                <a:ea typeface="Google Sans"/>
                <a:cs typeface="Google Sans"/>
                <a:sym typeface="Google Sans"/>
              </a:rPr>
              <a:t>Selection</a:t>
            </a:r>
            <a:endParaRPr sz="24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Google Sans"/>
              <a:ea typeface="Google Sans"/>
              <a:cs typeface="Google Sans"/>
              <a:sym typeface="Google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AutoNum type="arabicPeriod"/>
            </a:pPr>
            <a:r>
              <a:rPr lang="en" sz="2400">
                <a:latin typeface="Google Sans"/>
                <a:ea typeface="Google Sans"/>
                <a:cs typeface="Google Sans"/>
                <a:sym typeface="Google Sans"/>
              </a:rPr>
              <a:t>Acquire customers similar to your best customers, raising the average LTV of your whole entire customer base!</a:t>
            </a:r>
            <a:endParaRPr sz="24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68" name="Google Shape;868;p65"/>
          <p:cNvSpPr txBox="1"/>
          <p:nvPr/>
        </p:nvSpPr>
        <p:spPr>
          <a:xfrm>
            <a:off x="7856125" y="74325"/>
            <a:ext cx="1210200" cy="3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66"/>
          <p:cNvSpPr txBox="1"/>
          <p:nvPr>
            <p:ph type="title"/>
          </p:nvPr>
        </p:nvSpPr>
        <p:spPr>
          <a:xfrm>
            <a:off x="344501" y="264375"/>
            <a:ext cx="7797000" cy="4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  <p:sp>
        <p:nvSpPr>
          <p:cNvPr id="874" name="Google Shape;874;p66"/>
          <p:cNvSpPr txBox="1"/>
          <p:nvPr/>
        </p:nvSpPr>
        <p:spPr>
          <a:xfrm>
            <a:off x="7814375" y="292125"/>
            <a:ext cx="1210200" cy="3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oogle GBO Template">
  <a:themeElements>
    <a:clrScheme name="Google Colours">
      <a:dk1>
        <a:srgbClr val="3C4043"/>
      </a:dk1>
      <a:lt1>
        <a:srgbClr val="5F6368"/>
      </a:lt1>
      <a:dk2>
        <a:srgbClr val="BDC1C6"/>
      </a:dk2>
      <a:lt2>
        <a:srgbClr val="F8F9FA"/>
      </a:lt2>
      <a:accent1>
        <a:srgbClr val="4285F4"/>
      </a:accent1>
      <a:accent2>
        <a:srgbClr val="EA4335"/>
      </a:accent2>
      <a:accent3>
        <a:srgbClr val="FBBC05"/>
      </a:accent3>
      <a:accent4>
        <a:srgbClr val="34A853"/>
      </a:accent4>
      <a:accent5>
        <a:srgbClr val="185ABC"/>
      </a:accent5>
      <a:accent6>
        <a:srgbClr val="B31412"/>
      </a:accent6>
      <a:hlink>
        <a:srgbClr val="1A73E8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